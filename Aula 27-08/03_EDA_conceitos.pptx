
<file path=[Content_Types].xml><?xml version="1.0" encoding="utf-8"?>
<Types xmlns="http://schemas.openxmlformats.org/package/2006/content-types">
  <Default Extension="rels" ContentType="application/vnd.openxmlformats-package.relationships+xml"/>
  <Default Extension="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2.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customXml/item1.xml" ContentType="application/xml"/>
  <Override PartName="/customXml/itemProps1.xml" ContentType="application/vnd.openxmlformats-officedocument.customXmlProperties+xml"/>
  <Override PartName="/customXml/item2.xml" ContentType="application/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f406e83d8d9445a0" Type="http://schemas.openxmlformats.org/officeDocument/2006/relationships/officeDocument" Target="/ppt/presentation.xml"/><Relationship Id="Rd2de4d71407843e9" Type="http://schemas.openxmlformats.org/package/2006/relationships/metadata/core-properties" Target="/docProps/core.xml"/><Relationship Id="R9b02efe34b9e4547" Type="http://schemas.openxmlformats.org/officeDocument/2006/relationships/extended-properties" Target="/docProps/app.xml"/><Relationship Id="rId1"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9393a0bb0d124ce9"/>
  </p:sldMasterIdLst>
  <p:notesMasterIdLst>
    <p:notesMasterId xmlns:r="http://schemas.openxmlformats.org/officeDocument/2006/relationships" r:id="Rce50016ea62e420a"/>
  </p:notesMasterIdLst>
  <p:sldIdLst>
    <p:sldId xmlns:r="http://schemas.openxmlformats.org/officeDocument/2006/relationships" id="256" r:id="Rac9a1b45595e4e54"/>
    <p:sldId xmlns:r="http://schemas.openxmlformats.org/officeDocument/2006/relationships" id="257" r:id="R3c472441122140cd"/>
    <p:sldId xmlns:r="http://schemas.openxmlformats.org/officeDocument/2006/relationships" id="258" r:id="R31e46182506b4c82"/>
    <p:sldId xmlns:r="http://schemas.openxmlformats.org/officeDocument/2006/relationships" id="259" r:id="R084ecdbf3dd543d1"/>
    <p:sldId xmlns:r="http://schemas.openxmlformats.org/officeDocument/2006/relationships" id="260" r:id="R481e373dfaca4fbf"/>
    <p:sldId xmlns:r="http://schemas.openxmlformats.org/officeDocument/2006/relationships" id="261" r:id="R6a2aabb381414bdf"/>
    <p:sldId xmlns:r="http://schemas.openxmlformats.org/officeDocument/2006/relationships" id="262" r:id="R8dbd59c34d0949f0"/>
    <p:sldId xmlns:r="http://schemas.openxmlformats.org/officeDocument/2006/relationships" id="263" r:id="R12f990a91f7f4ae6"/>
    <p:sldId xmlns:r="http://schemas.openxmlformats.org/officeDocument/2006/relationships" id="264" r:id="R940b26f0a1904507"/>
    <p:sldId xmlns:r="http://schemas.openxmlformats.org/officeDocument/2006/relationships" id="265" r:id="R24220ad34cf948c3"/>
    <p:sldId xmlns:r="http://schemas.openxmlformats.org/officeDocument/2006/relationships" id="266" r:id="R9429543057774f12"/>
    <p:sldId xmlns:r="http://schemas.openxmlformats.org/officeDocument/2006/relationships" id="267" r:id="R9c4bc702c34e4a7b"/>
    <p:sldId xmlns:r="http://schemas.openxmlformats.org/officeDocument/2006/relationships" id="268" r:id="R374f06a19dfb4ec6"/>
    <p:sldId xmlns:r="http://schemas.openxmlformats.org/officeDocument/2006/relationships" id="269" r:id="Rf37d535f270544b9"/>
    <p:sldId xmlns:r="http://schemas.openxmlformats.org/officeDocument/2006/relationships" id="270" r:id="R901f7529b6144d2b"/>
    <p:sldId xmlns:r="http://schemas.openxmlformats.org/officeDocument/2006/relationships" id="271" r:id="R123fbf2017f342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3bc7d9ac0cdf4959" Type="http://schemas.openxmlformats.org/officeDocument/2006/relationships/theme" Target="/ppt/theme/theme1.xml"/><Relationship Id="R9c4bc702c34e4a7b" Type="http://schemas.openxmlformats.org/officeDocument/2006/relationships/slide" Target="/ppt/slides/slide12.xml"/><Relationship Id="R31e46182506b4c82" Type="http://schemas.openxmlformats.org/officeDocument/2006/relationships/slide" Target="/ppt/slides/slide3.xml"/><Relationship Id="R24220ad34cf948c3" Type="http://schemas.openxmlformats.org/officeDocument/2006/relationships/slide" Target="/ppt/slides/slide10.xml"/><Relationship Id="R123fbf2017f34218" Type="http://schemas.openxmlformats.org/officeDocument/2006/relationships/slide" Target="/ppt/slides/slide16.xml"/><Relationship Id="rId3" Type="http://schemas.openxmlformats.org/officeDocument/2006/relationships/customXml" Target="../customXml/item3.xml"/><Relationship Id="Rce50016ea62e420a" Type="http://schemas.openxmlformats.org/officeDocument/2006/relationships/notesMaster" Target="/ppt/notesMasters/notesMaster1.xml"/><Relationship Id="R374f06a19dfb4ec6" Type="http://schemas.openxmlformats.org/officeDocument/2006/relationships/slide" Target="/ppt/slides/slide13.xml"/><Relationship Id="R6a2aabb381414bdf" Type="http://schemas.openxmlformats.org/officeDocument/2006/relationships/slide" Target="/ppt/slides/slide6.xml"/><Relationship Id="Rf37d535f270544b9" Type="http://schemas.openxmlformats.org/officeDocument/2006/relationships/slide" Target="/ppt/slides/slide14.xml"/><Relationship Id="rId2" Type="http://schemas.openxmlformats.org/officeDocument/2006/relationships/customXml" Target="../customXml/item2.xml"/><Relationship Id="R3c472441122140cd" Type="http://schemas.openxmlformats.org/officeDocument/2006/relationships/slide" Target="/ppt/slides/slide2.xml"/><Relationship Id="R084ecdbf3dd543d1" Type="http://schemas.openxmlformats.org/officeDocument/2006/relationships/slide" Target="/ppt/slides/slide4.xml"/><Relationship Id="R12f990a91f7f4ae6" Type="http://schemas.openxmlformats.org/officeDocument/2006/relationships/slide" Target="/ppt/slides/slide8.xml"/><Relationship Id="R9429543057774f12" Type="http://schemas.openxmlformats.org/officeDocument/2006/relationships/slide" Target="/ppt/slides/slide11.xml"/><Relationship Id="R901f7529b6144d2b" Type="http://schemas.openxmlformats.org/officeDocument/2006/relationships/slide" Target="/ppt/slides/slide15.xml"/><Relationship Id="rId1" Type="http://schemas.openxmlformats.org/officeDocument/2006/relationships/customXml" Target="../customXml/item1.xml"/><Relationship Id="Rfa8b67192a03428e" Type="http://schemas.openxmlformats.org/officeDocument/2006/relationships/tableStyles" Target="/ppt/tableStyles.xml"/><Relationship Id="R8dbd59c34d0949f0" Type="http://schemas.openxmlformats.org/officeDocument/2006/relationships/slide" Target="/ppt/slides/slide7.xml"/><Relationship Id="R935b94f75ad2427d" Type="http://schemas.openxmlformats.org/officeDocument/2006/relationships/presProps" Target="/ppt/presProps.xml"/><Relationship Id="R940b26f0a1904507" Type="http://schemas.openxmlformats.org/officeDocument/2006/relationships/slide" Target="/ppt/slides/slide9.xml"/><Relationship Id="R9393a0bb0d124ce9" Type="http://schemas.openxmlformats.org/officeDocument/2006/relationships/slideMaster" Target="/ppt/slideMasters/slideMaster1.xml"/><Relationship Id="Rac9a1b45595e4e54" Type="http://schemas.openxmlformats.org/officeDocument/2006/relationships/slide" Target="/ppt/slides/slide1.xml"/><Relationship Id="R481e373dfaca4fbf" Type="http://schemas.openxmlformats.org/officeDocument/2006/relationships/slide" Target="/ppt/slides/slide5.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a279d0beec47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7a9d9635bc4ed4" /><Relationship Type="http://schemas.openxmlformats.org/officeDocument/2006/relationships/notesMaster" Target="/ppt/notesMasters/notesMaster1.xml" Id="Rdcda347c43584f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4de7d8747c4314" /><Relationship Type="http://schemas.openxmlformats.org/officeDocument/2006/relationships/notesMaster" Target="/ppt/notesMasters/notesMaster1.xml" Id="R6805d5b7bb934d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32ee604c1f4de0" /><Relationship Type="http://schemas.openxmlformats.org/officeDocument/2006/relationships/notesMaster" Target="/ppt/notesMasters/notesMaster1.xml" Id="R4611408dee954b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d833b20f99d14f20" /><Relationship Type="http://schemas.openxmlformats.org/officeDocument/2006/relationships/notesMaster" Target="/ppt/notesMasters/notesMaster1.xml" Id="R58b89374499446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8b8bd113ef4fd2" /><Relationship Type="http://schemas.openxmlformats.org/officeDocument/2006/relationships/notesMaster" Target="/ppt/notesMasters/notesMaster1.xml" Id="R22a0704eb3a942b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db1fa368804daa" /><Relationship Type="http://schemas.openxmlformats.org/officeDocument/2006/relationships/notesMaster" Target="/ppt/notesMasters/notesMaster1.xml" Id="R4d12a859eb7242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54e40619fd6f4d63" /><Relationship Type="http://schemas.openxmlformats.org/officeDocument/2006/relationships/notesMaster" Target="/ppt/notesMasters/notesMaster1.xml" Id="Rfd57f2907f904b1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c929fe0db3644c2" /><Relationship Type="http://schemas.openxmlformats.org/officeDocument/2006/relationships/notesMaster" Target="/ppt/notesMasters/notesMaster1.xml" Id="Rbcbf476957d64735" /></Relationships>
</file>

<file path=ppt/notesSlides/_rels/notesSlide9.xml.rels>&#65279;<?xml version="1.0" encoding="utf-8"?><Relationships xmlns="http://schemas.openxmlformats.org/package/2006/relationships"><Relationship Type="http://schemas.openxmlformats.org/officeDocument/2006/relationships/slide" Target="/ppt/slides/slide9.xml" Id="Rb2e889223a86431c" /><Relationship Type="http://schemas.openxmlformats.org/officeDocument/2006/relationships/notesMaster" Target="/ppt/notesMasters/notesMaster1.xml" Id="Re2442a8de0114e0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5d4445d98bc471c" /><Relationship Type="http://schemas.openxmlformats.org/officeDocument/2006/relationships/notesMaster" Target="/ppt/notesMasters/notesMaster1.xml" Id="R012f233045774c4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4ae40611ba44efe" /><Relationship Type="http://schemas.openxmlformats.org/officeDocument/2006/relationships/notesMaster" Target="/ppt/notesMasters/notesMaster1.xml" Id="Rb045b5cf05fa4d8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5bc5de69bd14780" /><Relationship Type="http://schemas.openxmlformats.org/officeDocument/2006/relationships/notesMaster" Target="/ppt/notesMasters/notesMaster1.xml" Id="R94aac10699224e3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c9c85c391f746fe" /><Relationship Type="http://schemas.openxmlformats.org/officeDocument/2006/relationships/notesMaster" Target="/ppt/notesMasters/notesMaster1.xml" Id="Rf221939b307a45d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8f04937dd474b50" /><Relationship Type="http://schemas.openxmlformats.org/officeDocument/2006/relationships/notesMaster" Target="/ppt/notesMasters/notesMaster1.xml" Id="R34682d1618e6443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5cb02c1b2d64d11" /><Relationship Type="http://schemas.openxmlformats.org/officeDocument/2006/relationships/notesMaster" Target="/ppt/notesMasters/notesMaster1.xml" Id="Ra755d9a7f36b489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d96468ad6a646a2" /><Relationship Type="http://schemas.openxmlformats.org/officeDocument/2006/relationships/notesMaster" Target="/ppt/notesMasters/notesMaster1.xml" Id="R1a3c7b760b6c4b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Nesta seção vamos construir a base conceitual necessária para realizar uma Análise Exploratória de Dados. Antes de executar comandos ou produzir gráficos, precisamos compreender o papel da exploração: formular perguntas, reconhecer a estrutura do conjunto, resumir variáveis, identificar padrões, localizar problemas e gerar hipóteses. A EDA não é uma etapa automática nem uma coleção de visualizações. Ela é um processo investigativo que combina conhecimento do problema, estatística descritiva e comunicação visual. Depois desta introdução, aplicaremos esses princípios a um conjunto de dados de aplicativos, utilizando Python, Pandas, Seaborn e Matplotlib.</a:t>
            </a:r>
          </a:p>
          <a:p xmlns:a="http://schemas.openxmlformats.org/drawingml/2006/main">
            <a:r>
              <a:t/>
            </a:r>
          </a:p>
          <a:p xmlns:a="http://schemas.openxmlformats.org/drawingml/2006/main">
            <a:r>
              <a:t>[Sources]</a:t>
            </a:r>
          </a:p>
          <a:p xmlns:a="http://schemas.openxmlformats.org/drawingml/2006/main">
            <a:r>
              <a:t>- Conteúdo acadêmico consolidado da disciplina e bibliografia básica.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EDA transforma dados disponíveis em evidências provisórias e hipóteses que podem ser investigadas. O ponto de partida não deve ser uma conclusão pronta. Começamos com perguntas abertas: o que existe no conjunto, como as variáveis se distribuem, quais valores parecem incomuns, como grupos diferem e quais relações merecem investigação. Os resultados da exploração ajudam a decidir como limpar, transformar, segmentar e visualizar os dados. Também indicam se uma hipótese merece análise estatística mais rigorosa. A palavra exploratória é importante: nessa etapa buscamos compreender e formular, sem confundir associação observada com causalidade ou prova definitiva.</a:t>
            </a:r>
          </a:p>
          <a:p xmlns:a="http://schemas.openxmlformats.org/drawingml/2006/main">
            <a:r>
              <a:t/>
            </a:r>
          </a:p>
          <a:p xmlns:a="http://schemas.openxmlformats.org/drawingml/2006/main">
            <a:r>
              <a:t>[Sources]</a:t>
            </a:r>
          </a:p>
          <a:p xmlns:a="http://schemas.openxmlformats.org/drawingml/2006/main">
            <a:r>
              <a:t>- Conteúdo acadêmico consolidado da disciplina e bibliografia básica.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Podemos organizar a EDA em cinco movimentos. Primeiro, compreendemos o problema e definimos o que cada linha representa. Depois, inspecionamos estrutura, tipos e qualidade. Em seguida, calculamos estatísticas descritivas para resumir centro, dispersão e posição. As visualizações tornam formas, assimetrias, grupos e relações mais perceptíveis. Por fim, interpretamos os achados, registramos limites e formulamos novas hipóteses. Esse processo não é linear. Um gráfico pode revelar um erro de tipo; uma comparação pode exigir segmentação; um valor extremo pode levar de volta à fonte. A exploração avança por iterações curtas entre pergunta, cálculo, visualização e interpretação.</a:t>
            </a:r>
          </a:p>
          <a:p xmlns:a="http://schemas.openxmlformats.org/drawingml/2006/main">
            <a:r>
              <a:t/>
            </a:r>
          </a:p>
          <a:p xmlns:a="http://schemas.openxmlformats.org/drawingml/2006/main">
            <a:r>
              <a:t>[Sources]</a:t>
            </a:r>
          </a:p>
          <a:p xmlns:a="http://schemas.openxmlformats.org/drawingml/2006/main">
            <a:r>
              <a:t>- Conteúdo acadêmico consolidado da disciplina e bibliografia básica.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primeira leitura de um conjunto deve identificar a unidade de análise. Se cada linha representa um aplicativo, então uma contagem de linhas responde quantos registros de aplicativos existem, mas não necessariamente quantos desenvolvedores, avaliações individuais ou usuários existem. As colunas descrevem atributos dessa unidade. Essa distinção evita interpretações incorretas e ajuda a reconhecer duplicidades. Também precisamos entender a granularidade: um registro pode representar um evento, uma entidade em seu estado atual ou uma agregação histórica. No laboratório, cada linha representará um aplicativo e as variáveis descreverão características como categoria, avaliação, instalações, preço e tipo.</a:t>
            </a:r>
          </a:p>
          <a:p xmlns:a="http://schemas.openxmlformats.org/drawingml/2006/main">
            <a:r>
              <a:t/>
            </a:r>
          </a:p>
          <a:p xmlns:a="http://schemas.openxmlformats.org/drawingml/2006/main">
            <a:r>
              <a:t>[Sources]</a:t>
            </a:r>
          </a:p>
          <a:p xmlns:a="http://schemas.openxmlformats.org/drawingml/2006/main">
            <a:r>
              <a:t>- Conteúdo acadêmico consolidado da disciplina e bibliografia básica.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Antes de calcular médias ou construir gráficos, fazemos uma inspeção estrutural. Verificamos dimensões, nomes de colunas, tipos, valores ausentes, duplicidades e domínios possíveis. Uma variável numérica armazenada como texto impede cálculos coerentes. Uma categoria escrita de formas diferentes fragmenta grupos. Valores ausentes podem indicar falha de coleta, não aplicabilidade ou comportamento relevante. Duplicidades podem ser erro ou repetição legítima, dependendo da unidade. A inspeção inicial não resolve automaticamente esses problemas; ela cria um mapa do conjunto e registra questões que orientarão a exploração.</a:t>
            </a:r>
          </a:p>
          <a:p xmlns:a="http://schemas.openxmlformats.org/drawingml/2006/main">
            <a:r>
              <a:t/>
            </a:r>
          </a:p>
          <a:p xmlns:a="http://schemas.openxmlformats.org/drawingml/2006/main">
            <a:r>
              <a:t>[Sources]</a:t>
            </a:r>
          </a:p>
          <a:p xmlns:a="http://schemas.openxmlformats.org/drawingml/2006/main">
            <a:r>
              <a:t>- Conteúdo acadêmico consolidado da disciplina e bibliografia básica.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classificação das variáveis orienta tanto a estatística quanto a visualização. Variáveis categóricas descrevem grupos ou rótulos. Se não há ordem natural, são nominais; se existe hierarquia, são ordinais. Variáveis numéricas representam contagens ou medições e permitem operações como média e desvio padrão, desde que essas operações façam sentido. Variáveis temporais exigem preservar a ordem. É possível que uma coluna contenha números sem ser quantitativa: códigos e identificadores não devem ser tratados como medidas. Portanto, o tipo semântico é mais importante do que o tipo técnico armazenado no arquivo.</a:t>
            </a:r>
          </a:p>
          <a:p xmlns:a="http://schemas.openxmlformats.org/drawingml/2006/main">
            <a:r>
              <a:t/>
            </a:r>
          </a:p>
          <a:p xmlns:a="http://schemas.openxmlformats.org/drawingml/2006/main">
            <a:r>
              <a:t>[Sources]</a:t>
            </a:r>
          </a:p>
          <a:p xmlns:a="http://schemas.openxmlformats.org/drawingml/2006/main">
            <a:r>
              <a:t>- Conteúdo acadêmico consolidado da disciplina e bibliografia básica.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uma variável categórica, começamos com contagens e proporções. Um gráfico de barras permite comparar comprimentos em uma escala comum e costuma ser mais preciso do que setores de um círculo, especialmente quando existem muitas categorias. Ordenar as barras pode destacar ranking e concentração. Entretanto, a ordem alfabética pode ser mais adequada quando a busca por uma categoria específica é importante. As cores devem carregar significado; usar uma cor diferente em cada barra sem codificar outra variável introduz ruído. No notebook, esse raciocínio será aplicado à quantidade de aplicativos por categoria e à proporção entre aplicativos gratuitos e pagos.</a:t>
            </a:r>
          </a:p>
          <a:p xmlns:a="http://schemas.openxmlformats.org/drawingml/2006/main">
            <a:r>
              <a:t/>
            </a:r>
          </a:p>
          <a:p xmlns:a="http://schemas.openxmlformats.org/drawingml/2006/main">
            <a:r>
              <a:t>[Sources]</a:t>
            </a:r>
          </a:p>
          <a:p xmlns:a="http://schemas.openxmlformats.org/drawingml/2006/main">
            <a:r>
              <a:t>- Conteúdo acadêmico consolidado da disciplina e bibliografia básica.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Uma variável numérica não deve ser resumida por um único número. Medidas de centro indicam uma posição típica; medidas de dispersão mostram quão diferentes são as observações; a forma da distribuição revela assimetria, caudas, concentrações e possíveis subgrupos. O histograma divide a escala em intervalos e mostra quantas observações caem em cada faixa. A escolha da largura dos intervalos altera a aparência, por isso devemos observar mais de uma configuração quando necessário. No laboratório, avaliações e instalações serão analisadas por estatísticas descritivas e gráficos de distribuição.</a:t>
            </a:r>
          </a:p>
          <a:p xmlns:a="http://schemas.openxmlformats.org/drawingml/2006/main">
            <a:r>
              <a:t/>
            </a:r>
          </a:p>
          <a:p xmlns:a="http://schemas.openxmlformats.org/drawingml/2006/main">
            <a:r>
              <a:t>[Sources]</a:t>
            </a:r>
          </a:p>
          <a:p xmlns:a="http://schemas.openxmlformats.org/drawingml/2006/main">
            <a:r>
              <a:t>- Conteúdo acadêmico consolidado da disciplina e bibliografia básica.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Média e mediana resumem o centro de maneiras diferentes. A média utiliza todos os valores e representa um ponto de equilíbrio, mas pode ser deslocada por observações extremas. A mediana depende da posição após ordenar os dados e, por isso, é mais robusta. Nenhuma é universalmente melhor. Em distribuições aproximadamente simétricas, elas tendem a ser próximas. Quando há forte assimetria, a diferença entre ambas é um indício que deve ser investigado no gráfico. No conjunto de aplicativos, instalações podem apresentar grande assimetria, enquanto avaliações utilizam uma escala limitada. Comparar as medidas ajudará a interpretar essas distribuições.</a:t>
            </a:r>
          </a:p>
          <a:p xmlns:a="http://schemas.openxmlformats.org/drawingml/2006/main">
            <a:r>
              <a:t/>
            </a:r>
          </a:p>
          <a:p xmlns:a="http://schemas.openxmlformats.org/drawingml/2006/main">
            <a:r>
              <a:t>[Sources]</a:t>
            </a:r>
          </a:p>
          <a:p xmlns:a="http://schemas.openxmlformats.org/drawingml/2006/main">
            <a:r>
              <a:t>- Conteúdo acadêmico consolidado da disciplina e bibliografia básica.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Duas distribuições podem ter a mesma média e comportamentos muito diferentes. A amplitude considera apenas extremos e é sensível a valores incomuns. O intervalo interquartil mede a largura da metade central dos dados e é robusto. O desvio padrão resume a distância típica em relação à média e deve ser interpretado na unidade da variável. A dispersão é essencial ao comparar grupos: uma categoria pode ter média alta, mas também grande variabilidade. Ignorar essa informação transforma um resumo parcial em uma afirmação excessiva.</a:t>
            </a:r>
          </a:p>
          <a:p xmlns:a="http://schemas.openxmlformats.org/drawingml/2006/main">
            <a:r>
              <a:t/>
            </a:r>
          </a:p>
          <a:p xmlns:a="http://schemas.openxmlformats.org/drawingml/2006/main">
            <a:r>
              <a:t>[Sources]</a:t>
            </a:r>
          </a:p>
          <a:p xmlns:a="http://schemas.openxmlformats.org/drawingml/2006/main">
            <a:r>
              <a:t>- Conteúdo acadêmico consolidado da disciplina e bibliografia básica.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Um outlier é uma observação distante do padrão central segundo algum critério. O método do IQR, frequentemente associado ao boxplot, marca valores abaixo de Q1 menos uma vez e meia o IQR ou acima de Q3 mais uma vez e meia o IQR. Essa é uma regra descritiva, não uma prova de erro. Um aplicativo com muitas instalações pode ser raro e, ao mesmo tempo, representar justamente um fenômeno importante. Antes de excluir, verificamos origem, unidade, consistência e objetivo da análise. As opções incluem manter, corrigir, transformar, segmentar ou analisar separadamente. Toda decisão deve ser documentada.</a:t>
            </a:r>
          </a:p>
          <a:p xmlns:a="http://schemas.openxmlformats.org/drawingml/2006/main">
            <a:r>
              <a:t/>
            </a:r>
          </a:p>
          <a:p xmlns:a="http://schemas.openxmlformats.org/drawingml/2006/main">
            <a:r>
              <a:t>[Sources]</a:t>
            </a:r>
          </a:p>
          <a:p xmlns:a="http://schemas.openxmlformats.org/drawingml/2006/main">
            <a:r>
              <a:t>- Conteúdo acadêmico consolidado da disciplina e bibliografia básica.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análise bivariada investiga como duas variáveis se relacionam. Para uma numérica e uma categórica, comparamos distribuições entre grupos usando estatísticas e gráficos como boxplots ou violinos. Para duas categóricas, tabelas de contingência e proporções condicionais ajudam a evitar que grupos maiores dominem a leitura. Para duas numéricas, gráficos de dispersão revelam direção, forma, concentração e observações influentes. Em todos os casos, tamanho de amostra e variabilidade importam. Dizer que uma categoria é melhor apenas porque possui maior média pode ser precipitado se o grupo for pequeno ou muito disperso.</a:t>
            </a:r>
          </a:p>
          <a:p xmlns:a="http://schemas.openxmlformats.org/drawingml/2006/main">
            <a:r>
              <a:t/>
            </a:r>
          </a:p>
          <a:p xmlns:a="http://schemas.openxmlformats.org/drawingml/2006/main">
            <a:r>
              <a:t>[Sources]</a:t>
            </a:r>
          </a:p>
          <a:p xmlns:a="http://schemas.openxmlformats.org/drawingml/2006/main">
            <a:r>
              <a:t>- Conteúdo acadêmico consolidado da disciplina e bibliografia básica.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Correlação resume a associação entre variáveis numéricas, especialmente relações lineares no caso do coeficiente de Pearson. O valor indica direção e intensidade, mas precisa ser interpretado junto ao gráfico de dispersão. Uma relação pode ser curva e apresentar baixa correlação linear; poucos outliers podem inflar ou reduzir o coeficiente; uma terceira variável pode explicar a associação observada. Correlação não demonstra causalidade. No laboratório, investigaremos relações envolvendo preço, avaliação e instalações, sempre combinando medidas numéricas com inspeção visual e contexto.</a:t>
            </a:r>
          </a:p>
          <a:p xmlns:a="http://schemas.openxmlformats.org/drawingml/2006/main">
            <a:r>
              <a:t/>
            </a:r>
          </a:p>
          <a:p xmlns:a="http://schemas.openxmlformats.org/drawingml/2006/main">
            <a:r>
              <a:t>[Sources]</a:t>
            </a:r>
          </a:p>
          <a:p xmlns:a="http://schemas.openxmlformats.org/drawingml/2006/main">
            <a:r>
              <a:t>- Conteúdo acadêmico consolidado da disciplina e bibliografia básica.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Não existe um gráfico ideal independente da pergunta. Barras são adequadas para comparar frequências. Histogramas mostram forma e concentração de uma variável numérica. Boxplots resumem quartis e extremos, enquanto violinos evidenciam densidade. Gráficos de dispersão são fundamentais para duas variáveis numéricas. Em todos os casos, devemos reduzir ruído: ordenar quando útil, rotular eixos, usar escalas coerentes, limitar cores e destacar apenas o que tem significado. O gráfico não deve apenas existir; precisa permitir que o leitor veja a evidência relacionada à pergunta.</a:t>
            </a:r>
          </a:p>
          <a:p xmlns:a="http://schemas.openxmlformats.org/drawingml/2006/main">
            <a:r>
              <a:t/>
            </a:r>
          </a:p>
          <a:p xmlns:a="http://schemas.openxmlformats.org/drawingml/2006/main">
            <a:r>
              <a:t>[Sources]</a:t>
            </a:r>
          </a:p>
          <a:p xmlns:a="http://schemas.openxmlformats.org/drawingml/2006/main">
            <a:r>
              <a:t>- Conteúdo acadêmico consolidado da disciplina e bibliografia básica.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comunicar uma exploração com rigor, separamos três camadas. O achado descreve o que foi observado: frequência, diferença, assimetria ou associação. A interpretação propõe um significado plausível com base no contexto. O limite registra o que o conjunto e o método ainda não permitem afirmar. Essa separação reduz exageros e favorece transparência. Storytelling com dados não significa transformar qualquer padrão em uma narrativa convincente. Significa organizar pergunta, evidência, interpretação e ressalvas em uma sequência que o público possa acompanhar e avaliar.</a:t>
            </a:r>
          </a:p>
          <a:p xmlns:a="http://schemas.openxmlformats.org/drawingml/2006/main">
            <a:r>
              <a:t/>
            </a:r>
          </a:p>
          <a:p xmlns:a="http://schemas.openxmlformats.org/drawingml/2006/main">
            <a:r>
              <a:t>[Sources]</a:t>
            </a:r>
          </a:p>
          <a:p xmlns:a="http://schemas.openxmlformats.org/drawingml/2006/main">
            <a:r>
              <a:t>- Conteúdo acadêmico consolidado da disciplina e bibliografia básica.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Agora avançaremos para o notebook. A prática utilizará um conjunto de aplicativos para responder perguntas sobre categorias, avaliações, instalações, preços e tipos. Em cada etapa, seguiremos a mesma lógica: formular a pergunta, escolher a operação adequada, construir uma visualização, interpretar o padrão e registrar limites. O código é importante para tornar a análise reproduzível, mas não é o objetivo final. O resultado esperado é uma argumentação baseada em evidências. Ao encontrar um gráfico, procurem explicar o que ele responde, o que ele não responde e qual nova pergunta surge a partir dele.</a:t>
            </a:r>
          </a:p>
          <a:p xmlns:a="http://schemas.openxmlformats.org/drawingml/2006/main">
            <a:r>
              <a:t/>
            </a:r>
          </a:p>
          <a:p xmlns:a="http://schemas.openxmlformats.org/drawingml/2006/main">
            <a:r>
              <a:t>[Sources]</a:t>
            </a:r>
          </a:p>
          <a:p xmlns:a="http://schemas.openxmlformats.org/drawingml/2006/main">
            <a:r>
              <a:t>- Conteúdo acadêmico da disciplina; prática alinhada ao notebook fornecido pelo professor.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bba5d55dcf451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64152680874b93" /><Relationship Type="http://schemas.openxmlformats.org/officeDocument/2006/relationships/slideLayout" Target="/ppt/slideLayouts/slideLayout1.xml" Id="R1e375041507547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375041507547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be4488d9e2746e1" /><Relationship Type="http://schemas.openxmlformats.org/officeDocument/2006/relationships/notesSlide" Target="/ppt/notesSlides/notesSlide1.xml" Id="R99ddb21503c249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6b363e459094e8b" /><Relationship Type="http://schemas.openxmlformats.org/officeDocument/2006/relationships/notesSlide" Target="/ppt/notesSlides/notesSlide2.xml" Id="R10d3d89cc14043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553d480b6c04729" /><Relationship Type="http://schemas.openxmlformats.org/officeDocument/2006/relationships/notesSlide" Target="/ppt/notesSlides/notesSlide3.xml" Id="Rde3595a06e8b44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6d03360f3384a02" /><Relationship Type="http://schemas.openxmlformats.org/officeDocument/2006/relationships/notesSlide" Target="/ppt/notesSlides/notesSlide4.xml" Id="R077cc19acfca49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a0a3eb1fc714e68" /><Relationship Type="http://schemas.openxmlformats.org/officeDocument/2006/relationships/notesSlide" Target="/ppt/notesSlides/notesSlide5.xml" Id="R9ea41c175d0b45e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e2c2594d0554bb5" /><Relationship Type="http://schemas.openxmlformats.org/officeDocument/2006/relationships/notesSlide" Target="/ppt/notesSlides/notesSlide6.xml" Id="R39cf5088e224422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c9aa059a099484c" /><Relationship Type="http://schemas.openxmlformats.org/officeDocument/2006/relationships/chart" Target="/ppt/slides/charts/chart1.xml" Id="R7c68a710875c4efe" /><Relationship Type="http://schemas.openxmlformats.org/officeDocument/2006/relationships/notesSlide" Target="/ppt/notesSlides/notesSlide7.xml" Id="R2bec3f3cd3a34bc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1ede629f62a4aa1" /><Relationship Type="http://schemas.openxmlformats.org/officeDocument/2006/relationships/notesSlide" Target="/ppt/notesSlides/notesSlide8.xml" Id="R3a0e6f16fab34ab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5c04244b42a4000" /><Relationship Type="http://schemas.openxmlformats.org/officeDocument/2006/relationships/notesSlide" Target="/ppt/notesSlides/notesSlide9.xml" Id="R93ac8ed7afe047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1379f6fd4aa43ba" /><Relationship Type="http://schemas.openxmlformats.org/officeDocument/2006/relationships/notesSlide" Target="/ppt/notesSlides/notesSlide10.xml" Id="R9ffa1797e20c4ec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4cd796ec9624271" /><Relationship Type="http://schemas.openxmlformats.org/officeDocument/2006/relationships/notesSlide" Target="/ppt/notesSlides/notesSlide11.xml" Id="Rc7cb87aeff564bc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f48060b95944ebf" /><Relationship Type="http://schemas.openxmlformats.org/officeDocument/2006/relationships/notesSlide" Target="/ppt/notesSlides/notesSlide12.xml" Id="Rcbb3c3125d8c419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b1f05a35ecd4550" /><Relationship Type="http://schemas.openxmlformats.org/officeDocument/2006/relationships/chart" Target="/ppt/slides/charts/chart2.xml" Id="R654bf3d7cbd24544" /><Relationship Type="http://schemas.openxmlformats.org/officeDocument/2006/relationships/notesSlide" Target="/ppt/notesSlides/notesSlide13.xml" Id="Rcf263150fa8d4be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b0423c2a1a7414a" /><Relationship Type="http://schemas.openxmlformats.org/officeDocument/2006/relationships/notesSlide" Target="/ppt/notesSlides/notesSlide14.xml" Id="R617fac5cde684aa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21668fcab164ae2" /><Relationship Type="http://schemas.openxmlformats.org/officeDocument/2006/relationships/notesSlide" Target="/ppt/notesSlides/notesSlide15.xml" Id="R56605012c8a0440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ded3e8dbcab46e5" /><Relationship Type="http://schemas.openxmlformats.org/officeDocument/2006/relationships/notesSlide" Target="/ppt/notesSlides/notesSlide16.xml" Id="Rd4c93a4386fe4890" /></Relationships>
</file>

<file path=ppt/slides/charts/chart1.xml><?xml version="1.0" encoding="utf-8"?>
<c:chartSpace xmlns:c="http://schemas.openxmlformats.org/drawingml/2006/chart">
  <c:lang val="en-US"/>
  <c:chart>
    <c:plotArea>
      <c:barChart>
        <c:barDir val="col"/>
        <c:varyColors val="0"/>
        <c:ser>
          <c:idx val="0"/>
          <c:order val="0"/>
          <c:tx>
            <c:v>Frequência</c:v>
          </c:tx>
          <c:spPr>
            <a:solidFill xmlns:a="http://schemas.openxmlformats.org/drawingml/2006/main">
              <a:srgbClr val="126BFF"/>
            </a:solidFill>
          </c:spPr>
          <c:cat>
            <c:strLit>
              <c:ptCount val="5"/>
              <c:pt idx="0">
                <c:v>A</c:v>
              </c:pt>
              <c:pt idx="1">
                <c:v>B</c:v>
              </c:pt>
              <c:pt idx="2">
                <c:v>C</c:v>
              </c:pt>
              <c:pt idx="3">
                <c:v>D</c:v>
              </c:pt>
              <c:pt idx="4">
                <c:v>E</c:v>
              </c:pt>
            </c:strLit>
          </c:cat>
          <c:val>
            <c:numLit>
              <c:formatCode>General</c:formatCode>
              <c:ptCount val="5"/>
              <c:pt idx="0">
                <c:v>34</c:v>
              </c:pt>
              <c:pt idx="1">
                <c:v>52</c:v>
              </c:pt>
              <c:pt idx="2">
                <c:v>27</c:v>
              </c:pt>
              <c:pt idx="3">
                <c:v>18</c:v>
              </c:pt>
              <c:pt idx="4">
                <c:v>41</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C9D3DC"/>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plotVisOnly val="1"/>
  </c:chart>
</c:chartSpace>
</file>

<file path=ppt/slides/charts/chart2.xml><?xml version="1.0" encoding="utf-8"?>
<c:chartSpace xmlns:c="http://schemas.openxmlformats.org/drawingml/2006/chart">
  <c:lang val="en-US"/>
  <c:chart>
    <c:plotArea>
      <c:scatterChart>
        <c:scatterStyle val="marker"/>
        <c:ser>
          <c:idx val="0"/>
          <c:order val="0"/>
          <c:tx>
            <c:v>Observações</c:v>
          </c:tx>
          <c:spPr>
            <a:solidFill xmlns:a="http://schemas.openxmlformats.org/drawingml/2006/main">
              <a:srgbClr val="126BFF"/>
            </a:solidFill>
          </c:spPr>
          <c:xVal>
            <c:numLit>
              <c:formatCode>General</c:formatCode>
              <c:ptCount val="9"/>
              <c:pt idx="0">
                <c:v>1</c:v>
              </c:pt>
              <c:pt idx="1">
                <c:v>2</c:v>
              </c:pt>
              <c:pt idx="2">
                <c:v>3</c:v>
              </c:pt>
              <c:pt idx="3">
                <c:v>4</c:v>
              </c:pt>
              <c:pt idx="4">
                <c:v>5</c:v>
              </c:pt>
              <c:pt idx="5">
                <c:v>6</c:v>
              </c:pt>
              <c:pt idx="6">
                <c:v>7</c:v>
              </c:pt>
              <c:pt idx="7">
                <c:v>8</c:v>
              </c:pt>
              <c:pt idx="8">
                <c:v>9</c:v>
              </c:pt>
            </c:numLit>
          </c:xVal>
          <c:yVal>
            <c:numLit>
              <c:formatCode>General</c:formatCode>
              <c:ptCount val="0"/>
            </c:numLit>
          </c:yVal>
        </c:ser>
        <c:axId val="48650112"/>
        <c:axId val="48672768"/>
      </c:scatterChart>
      <c:valAx>
        <c:axId val="48672768"/>
        <c:scaling>
          <c:orientation val="minMax"/>
        </c:scaling>
        <c:delete val="0"/>
        <c:axPos val="l"/>
        <c:majorGridlines>
          <c:spPr>
            <a:ln xmlns:a="http://schemas.openxmlformats.org/drawingml/2006/main" w="9525">
              <a:solidFill>
                <a:srgbClr val="C9D3DC"/>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valAx>
      <c:val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valAx>
    </c:plotArea>
    <c:plotVisOnly val="1"/>
  </c:chart>
</c:chartSpace>
</file>

<file path=ppt/slides/slide1.xml><?xml version="1.0" encoding="utf-8"?>
<p:sld xmlns:p="http://schemas.openxmlformats.org/presentationml/2006/main">
  <p:cSld>
    <p:bg>
      <p:bgPr>
        <a:solidFill xmlns:a="http://schemas.openxmlformats.org/drawingml/2006/main">
          <a:srgbClr val="071A2B"/>
        </a:solidFill>
      </p:bgPr>
    </p:bg>
    <p:spTree>
      <p:nvGrpSpPr>
        <p:cNvPr id="1" name=""/>
        <p:cNvGrpSpPr/>
        <p:nvPr/>
      </p:nvGrpSpPr>
      <p:grpSpPr>
        <a:xfrm xmlns:a="http://schemas.openxmlformats.org/drawingml/2006/main"/>
      </p:grpSpPr>
      <p:sp>
        <p:nvSpPr>
          <p:cNvPr id="15" name="text">
            <a:extLst xmlns:a="http://schemas.openxmlformats.org/drawingml/2006/main">
              <a:ext uri="{FF2B5EF4-FFF2-40B4-BE49-F238E27FC236}">
                <a16:creationId xmlns:a16="http://schemas.microsoft.com/office/drawing/2014/main" id="{7796D9F0-9B5E-4D01-9EEB-B05848CCDB3E}"/>
              </a:ext>
            </a:extLst>
          </p:cNvPr>
          <p:cNvSpPr>
            <a:spLocks xmlns:a="http://schemas.openxmlformats.org/drawingml/2006/main" noGrp="1"/>
          </p:cNvSpPr>
          <p:nvPr/>
        </p:nvSpPr>
        <p:spPr>
          <a:xfrm xmlns:a="http://schemas.openxmlformats.org/drawingml/2006/main">
            <a:off x="552450" y="4572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B8D8"/>
                </a:solidFill>
              </a:defRPr>
            </a:pPr>
            <a:r>
              <a:rPr sz="1200" b="1">
                <a:solidFill>
                  <a:srgbClr val="20B8D8"/>
                </a:solidFill>
              </a:rPr>
              <a:t>INTELIGÊNCIA COMPUTACIONAL</a:t>
            </a:r>
          </a:p>
        </p:txBody>
      </p:sp>
      <p:sp>
        <p:nvSpPr>
          <p:cNvPr id="2" name="text">
            <a:extLst xmlns:a="http://schemas.openxmlformats.org/drawingml/2006/main">
              <a:ext uri="{FF2B5EF4-FFF2-40B4-BE49-F238E27FC236}">
                <a16:creationId xmlns:a16="http://schemas.microsoft.com/office/drawing/2014/main" id="{0C5A0862-7447-4968-987E-CB3DF70922A7}"/>
              </a:ext>
            </a:extLst>
          </p:cNvPr>
          <p:cNvSpPr>
            <a:spLocks xmlns:a="http://schemas.openxmlformats.org/drawingml/2006/main" noGrp="1"/>
          </p:cNvSpPr>
          <p:nvPr/>
        </p:nvSpPr>
        <p:spPr>
          <a:xfrm xmlns:a="http://schemas.openxmlformats.org/drawingml/2006/main">
            <a:off x="552450" y="1333500"/>
            <a:ext cx="58102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5400" b="1">
                <a:solidFill>
                  <a:srgbClr val="FFFFFF"/>
                </a:solidFill>
              </a:defRPr>
            </a:pPr>
            <a:r>
              <a:rPr sz="5400" b="1">
                <a:solidFill>
                  <a:srgbClr val="FFFFFF"/>
                </a:solidFill>
              </a:rPr>
              <a:t>Análise</a:t>
            </a:r>
          </a:p>
          <a:p xmlns:a="http://schemas.openxmlformats.org/drawingml/2006/main">
            <a:pPr algn="l">
              <a:defRPr sz="5400" b="1">
                <a:solidFill>
                  <a:srgbClr val="FFFFFF"/>
                </a:solidFill>
              </a:defRPr>
            </a:pPr>
            <a:r>
              <a:rPr sz="5400" b="1">
                <a:solidFill>
                  <a:srgbClr val="FFFFFF"/>
                </a:solidFill>
              </a:rPr>
              <a:t>Exploratória</a:t>
            </a:r>
          </a:p>
          <a:p xmlns:a="http://schemas.openxmlformats.org/drawingml/2006/main">
            <a:pPr algn="l">
              <a:defRPr sz="5400" b="1">
                <a:solidFill>
                  <a:srgbClr val="FFFFFF"/>
                </a:solidFill>
              </a:defRPr>
            </a:pPr>
            <a:r>
              <a:rPr sz="5400" b="1">
                <a:solidFill>
                  <a:srgbClr val="FFFFFF"/>
                </a:solidFill>
              </a:rPr>
              <a:t>de Dados</a:t>
            </a:r>
          </a:p>
        </p:txBody>
      </p:sp>
      <p:sp>
        <p:nvSpPr>
          <p:cNvPr id="3" name="text">
            <a:extLst xmlns:a="http://schemas.openxmlformats.org/drawingml/2006/main">
              <a:ext uri="{FF2B5EF4-FFF2-40B4-BE49-F238E27FC236}">
                <a16:creationId xmlns:a16="http://schemas.microsoft.com/office/drawing/2014/main" id="{6D75B014-9FF1-49DF-B749-FAE65787BADA}"/>
              </a:ext>
            </a:extLst>
          </p:cNvPr>
          <p:cNvSpPr>
            <a:spLocks xmlns:a="http://schemas.openxmlformats.org/drawingml/2006/main" noGrp="1"/>
          </p:cNvSpPr>
          <p:nvPr/>
        </p:nvSpPr>
        <p:spPr>
          <a:xfrm xmlns:a="http://schemas.openxmlformats.org/drawingml/2006/main">
            <a:off x="552450" y="4333875"/>
            <a:ext cx="5619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a:solidFill>
                  <a:srgbClr val="BDD1E1"/>
                </a:solidFill>
              </a:defRPr>
            </a:pPr>
            <a:r>
              <a:rPr sz="1875" b="0">
                <a:solidFill>
                  <a:srgbClr val="BDD1E1"/>
                </a:solidFill>
              </a:rPr>
              <a:t>Perguntar • observar • comparar • interpretar</a:t>
            </a:r>
          </a:p>
        </p:txBody>
      </p:sp>
      <p:sp>
        <p:nvSpPr>
          <p:cNvPr id="4" name="shape">
            <a:extLst xmlns:a="http://schemas.openxmlformats.org/drawingml/2006/main">
              <a:ext uri="{FF2B5EF4-FFF2-40B4-BE49-F238E27FC236}">
                <a16:creationId xmlns:a16="http://schemas.microsoft.com/office/drawing/2014/main" id="{5E8C838C-3BE2-4599-BC32-1D90BFCE8A01}"/>
              </a:ext>
            </a:extLst>
          </p:cNvPr>
          <p:cNvSpPr>
            <a:spLocks xmlns:a="http://schemas.openxmlformats.org/drawingml/2006/main" noGrp="1"/>
          </p:cNvSpPr>
          <p:nvPr/>
        </p:nvSpPr>
        <p:spPr>
          <a:xfrm xmlns:a="http://schemas.openxmlformats.org/drawingml/2006/main">
            <a:off x="7124700" y="1000125"/>
            <a:ext cx="4191000" cy="4476750"/>
          </a:xfrm>
          <a:prstGeom xmlns:a="http://schemas.openxmlformats.org/drawingml/2006/main" prst="roundRect">
            <a:avLst>
              <a:gd name="adj" fmla="val 1818"/>
            </a:avLst>
          </a:prstGeom>
          <a:solidFill xmlns:a="http://schemas.openxmlformats.org/drawingml/2006/main">
            <a:srgbClr val="0D2940"/>
          </a:solidFill>
          <a:ln xmlns:a="http://schemas.openxmlformats.org/drawingml/2006/main" w="9525">
            <a:solidFill>
              <a:srgbClr val="244962"/>
            </a:solidFill>
            <a:prstDash val="solid"/>
          </a:ln>
        </p:spPr>
      </p:sp>
      <p:sp>
        <p:nvSpPr>
          <p:cNvPr id="5" name="shape">
            <a:extLst xmlns:a="http://schemas.openxmlformats.org/drawingml/2006/main">
              <a:ext uri="{FF2B5EF4-FFF2-40B4-BE49-F238E27FC236}">
                <a16:creationId xmlns:a16="http://schemas.microsoft.com/office/drawing/2014/main" id="{2DA503CA-06CD-4CD1-B0CD-0A9343F9B66A}"/>
              </a:ext>
            </a:extLst>
          </p:cNvPr>
          <p:cNvSpPr>
            <a:spLocks xmlns:a="http://schemas.openxmlformats.org/drawingml/2006/main" noGrp="1"/>
          </p:cNvSpPr>
          <p:nvPr/>
        </p:nvSpPr>
        <p:spPr>
          <a:xfrm xmlns:a="http://schemas.openxmlformats.org/drawingml/2006/main">
            <a:off x="7524750" y="4191000"/>
            <a:ext cx="266700" cy="857250"/>
          </a:xfrm>
          <a:prstGeom xmlns:a="http://schemas.openxmlformats.org/drawingml/2006/main" prst="rect">
            <a:avLst/>
          </a:prstGeom>
          <a:solidFill xmlns:a="http://schemas.openxmlformats.org/drawingml/2006/main">
            <a:srgbClr val="126BFF"/>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2B6CE8A-D470-4776-A7DE-24B1CA775A04}"/>
              </a:ext>
            </a:extLst>
          </p:cNvPr>
          <p:cNvSpPr>
            <a:spLocks xmlns:a="http://schemas.openxmlformats.org/drawingml/2006/main" noGrp="1"/>
          </p:cNvSpPr>
          <p:nvPr/>
        </p:nvSpPr>
        <p:spPr>
          <a:xfrm xmlns:a="http://schemas.openxmlformats.org/drawingml/2006/main">
            <a:off x="8020050" y="3333750"/>
            <a:ext cx="266700" cy="1714500"/>
          </a:xfrm>
          <a:prstGeom xmlns:a="http://schemas.openxmlformats.org/drawingml/2006/main" prst="rect">
            <a:avLst/>
          </a:prstGeom>
          <a:solidFill xmlns:a="http://schemas.openxmlformats.org/drawingml/2006/main">
            <a:srgbClr val="126BFF"/>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BDCC8CE-21EC-49AA-9F13-FDC889E93B8E}"/>
              </a:ext>
            </a:extLst>
          </p:cNvPr>
          <p:cNvSpPr>
            <a:spLocks xmlns:a="http://schemas.openxmlformats.org/drawingml/2006/main" noGrp="1"/>
          </p:cNvSpPr>
          <p:nvPr/>
        </p:nvSpPr>
        <p:spPr>
          <a:xfrm xmlns:a="http://schemas.openxmlformats.org/drawingml/2006/main">
            <a:off x="8515350" y="3905250"/>
            <a:ext cx="266700" cy="1143000"/>
          </a:xfrm>
          <a:prstGeom xmlns:a="http://schemas.openxmlformats.org/drawingml/2006/main" prst="rect">
            <a:avLst/>
          </a:prstGeom>
          <a:solidFill xmlns:a="http://schemas.openxmlformats.org/drawingml/2006/main">
            <a:srgbClr val="126BFF"/>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D01493A-8E22-48EA-BDDA-8DBF74D6D23C}"/>
              </a:ext>
            </a:extLst>
          </p:cNvPr>
          <p:cNvSpPr>
            <a:spLocks xmlns:a="http://schemas.openxmlformats.org/drawingml/2006/main" noGrp="1"/>
          </p:cNvSpPr>
          <p:nvPr/>
        </p:nvSpPr>
        <p:spPr>
          <a:xfrm xmlns:a="http://schemas.openxmlformats.org/drawingml/2006/main">
            <a:off x="9010650" y="2524125"/>
            <a:ext cx="266700" cy="2524125"/>
          </a:xfrm>
          <a:prstGeom xmlns:a="http://schemas.openxmlformats.org/drawingml/2006/main" prst="rect">
            <a:avLst/>
          </a:prstGeom>
          <a:solidFill xmlns:a="http://schemas.openxmlformats.org/drawingml/2006/main">
            <a:srgbClr val="126BFF"/>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8F4B550-F415-46C5-97E2-6EE60ABFCD0C}"/>
              </a:ext>
            </a:extLst>
          </p:cNvPr>
          <p:cNvSpPr>
            <a:spLocks xmlns:a="http://schemas.openxmlformats.org/drawingml/2006/main" noGrp="1"/>
          </p:cNvSpPr>
          <p:nvPr/>
        </p:nvSpPr>
        <p:spPr>
          <a:xfrm xmlns:a="http://schemas.openxmlformats.org/drawingml/2006/main">
            <a:off x="9505950" y="3048000"/>
            <a:ext cx="266700" cy="2000250"/>
          </a:xfrm>
          <a:prstGeom xmlns:a="http://schemas.openxmlformats.org/drawingml/2006/main" prst="rect">
            <a:avLst/>
          </a:prstGeom>
          <a:solidFill xmlns:a="http://schemas.openxmlformats.org/drawingml/2006/main">
            <a:srgbClr val="126BFF"/>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FD61A8E5-CF56-434C-9746-BBD1FB23C7B2}"/>
              </a:ext>
            </a:extLst>
          </p:cNvPr>
          <p:cNvSpPr>
            <a:spLocks xmlns:a="http://schemas.openxmlformats.org/drawingml/2006/main" noGrp="1"/>
          </p:cNvSpPr>
          <p:nvPr/>
        </p:nvSpPr>
        <p:spPr>
          <a:xfrm xmlns:a="http://schemas.openxmlformats.org/drawingml/2006/main">
            <a:off x="10001250" y="1905000"/>
            <a:ext cx="266700" cy="3143250"/>
          </a:xfrm>
          <a:prstGeom xmlns:a="http://schemas.openxmlformats.org/drawingml/2006/main" prst="rect">
            <a:avLst/>
          </a:prstGeom>
          <a:solidFill xmlns:a="http://schemas.openxmlformats.org/drawingml/2006/main">
            <a:srgbClr val="126BFF"/>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72F54725-6E3C-4D6C-99CE-00983760B756}"/>
              </a:ext>
            </a:extLst>
          </p:cNvPr>
          <p:cNvSpPr>
            <a:spLocks xmlns:a="http://schemas.openxmlformats.org/drawingml/2006/main" noGrp="1"/>
          </p:cNvSpPr>
          <p:nvPr/>
        </p:nvSpPr>
        <p:spPr>
          <a:xfrm xmlns:a="http://schemas.openxmlformats.org/drawingml/2006/main">
            <a:off x="10496550" y="2333625"/>
            <a:ext cx="266700" cy="2714625"/>
          </a:xfrm>
          <a:prstGeom xmlns:a="http://schemas.openxmlformats.org/drawingml/2006/main" prst="rect">
            <a:avLst/>
          </a:prstGeom>
          <a:solidFill xmlns:a="http://schemas.openxmlformats.org/drawingml/2006/main">
            <a:srgbClr val="126B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3778DD2-D4D7-466A-B69B-4CD29D5D4D33}"/>
              </a:ext>
            </a:extLst>
          </p:cNvPr>
          <p:cNvSpPr>
            <a:spLocks xmlns:a="http://schemas.openxmlformats.org/drawingml/2006/main" noGrp="1"/>
          </p:cNvSpPr>
          <p:nvPr/>
        </p:nvSpPr>
        <p:spPr>
          <a:xfrm xmlns:a="http://schemas.openxmlformats.org/drawingml/2006/main">
            <a:off x="7429500" y="5067300"/>
            <a:ext cx="3524250" cy="0"/>
          </a:xfrm>
          <a:prstGeom xmlns:a="http://schemas.openxmlformats.org/drawingml/2006/main" prst="line">
            <a:avLst/>
          </a:prstGeom>
          <a:noFill xmlns:a="http://schemas.openxmlformats.org/drawingml/2006/main"/>
          <a:ln xmlns:a="http://schemas.openxmlformats.org/drawingml/2006/main" w="19050">
            <a:solidFill>
              <a:srgbClr val="78A4C4"/>
            </a:solidFill>
            <a:prstDash val="solid"/>
          </a:ln>
        </p:spPr>
      </p:sp>
      <p:sp>
        <p:nvSpPr>
          <p:cNvPr id="13" name="text">
            <a:extLst xmlns:a="http://schemas.openxmlformats.org/drawingml/2006/main">
              <a:ext uri="{FF2B5EF4-FFF2-40B4-BE49-F238E27FC236}">
                <a16:creationId xmlns:a16="http://schemas.microsoft.com/office/drawing/2014/main" id="{9B0A778B-55B5-40B3-A413-51E115798626}"/>
              </a:ext>
            </a:extLst>
          </p:cNvPr>
          <p:cNvSpPr>
            <a:spLocks xmlns:a="http://schemas.openxmlformats.org/drawingml/2006/main" noGrp="1"/>
          </p:cNvSpPr>
          <p:nvPr/>
        </p:nvSpPr>
        <p:spPr>
          <a:xfrm xmlns:a="http://schemas.openxmlformats.org/drawingml/2006/main">
            <a:off x="8905875" y="1790700"/>
            <a:ext cx="762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4800" b="1">
                <a:solidFill>
                  <a:srgbClr val="20B8D8"/>
                </a:solidFill>
              </a:defRPr>
            </a:pPr>
            <a:r>
              <a:rPr sz="4800" b="1">
                <a:solidFill>
                  <a:srgbClr val="20B8D8"/>
                </a:solidFill>
              </a:rPr>
              <a:t>?</a:t>
            </a:r>
          </a:p>
        </p:txBody>
      </p:sp>
      <p:sp>
        <p:nvSpPr>
          <p:cNvPr id="14" name="text">
            <a:extLst xmlns:a="http://schemas.openxmlformats.org/drawingml/2006/main">
              <a:ext uri="{FF2B5EF4-FFF2-40B4-BE49-F238E27FC236}">
                <a16:creationId xmlns:a16="http://schemas.microsoft.com/office/drawing/2014/main" id="{6E882E86-0658-477D-A0A6-C0BE151F143A}"/>
              </a:ext>
            </a:extLst>
          </p:cNvPr>
          <p:cNvSpPr>
            <a:spLocks xmlns:a="http://schemas.openxmlformats.org/drawingml/2006/main" noGrp="1"/>
          </p:cNvSpPr>
          <p:nvPr/>
        </p:nvSpPr>
        <p:spPr>
          <a:xfrm xmlns:a="http://schemas.openxmlformats.org/drawingml/2006/main">
            <a:off x="552450" y="5953125"/>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FFFFF"/>
                </a:solidFill>
              </a:defRPr>
            </a:pPr>
            <a:r>
              <a:rPr sz="1275" b="1">
                <a:solidFill>
                  <a:srgbClr val="FFFFFF"/>
                </a:solidFill>
              </a:rPr>
              <a:t>Me. Mateus Guilherme Fuini  |  FATEC Jundiaí</a:t>
            </a:r>
          </a:p>
        </p:txBody>
      </p:sp>
    </p:spTree>
    <p:extLst>
      <p:ext uri="{BB962C8B-B14F-4D97-AF65-F5344CB8AC3E}">
        <p14:creationId xmlns:p14="http://schemas.microsoft.com/office/powerpoint/2010/main" val="110223278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42525D36-D627-40BD-9CEA-8A30F2D7CACB}"/>
              </a:ext>
            </a:extLst>
          </p:cNvPr>
          <p:cNvSpPr>
            <a:spLocks xmlns:a="http://schemas.openxmlformats.org/drawingml/2006/main" noGrp="1"/>
          </p:cNvSpPr>
          <p:nvPr/>
        </p:nvSpPr>
        <p:spPr>
          <a:xfrm xmlns:a="http://schemas.openxmlformats.org/drawingml/2006/main">
            <a:off x="552450" y="20955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26BFF"/>
                </a:solidFill>
              </a:defRPr>
            </a:pPr>
            <a:r>
              <a:rPr sz="1050" b="1">
                <a:solidFill>
                  <a:srgbClr val="126BFF"/>
                </a:solidFill>
              </a:rPr>
              <a:t>PROPÓSITO</a:t>
            </a:r>
          </a:p>
        </p:txBody>
      </p:sp>
      <p:sp>
        <p:nvSpPr>
          <p:cNvPr id="2" name="text">
            <a:extLst xmlns:a="http://schemas.openxmlformats.org/drawingml/2006/main">
              <a:ext uri="{FF2B5EF4-FFF2-40B4-BE49-F238E27FC236}">
                <a16:creationId xmlns:a16="http://schemas.microsoft.com/office/drawing/2014/main" id="{C855091F-2AE8-481E-86E5-A58F22196FFC}"/>
              </a:ext>
            </a:extLst>
          </p:cNvPr>
          <p:cNvSpPr>
            <a:spLocks xmlns:a="http://schemas.openxmlformats.org/drawingml/2006/main" noGrp="1"/>
          </p:cNvSpPr>
          <p:nvPr/>
        </p:nvSpPr>
        <p:spPr>
          <a:xfrm xmlns:a="http://schemas.openxmlformats.org/drawingml/2006/main">
            <a:off x="552450" y="45720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4202B"/>
                </a:solidFill>
              </a:defRPr>
            </a:pPr>
            <a:r>
              <a:rPr sz="3600" b="1">
                <a:solidFill>
                  <a:srgbClr val="14202B"/>
                </a:solidFill>
              </a:rPr>
              <a:t>EDA transforma dados disponíveis em perguntas melhores</a:t>
            </a:r>
          </a:p>
        </p:txBody>
      </p:sp>
      <p:sp>
        <p:nvSpPr>
          <p:cNvPr id="3" name="">
            <a:extLst xmlns:a="http://schemas.openxmlformats.org/drawingml/2006/main">
              <a:ext uri="{FF2B5EF4-FFF2-40B4-BE49-F238E27FC236}">
                <a16:creationId xmlns:a16="http://schemas.microsoft.com/office/drawing/2014/main" id="{9097D851-6570-4D8C-91D6-8F7D92FE49CC}"/>
              </a:ext>
            </a:extLst>
          </p:cNvPr>
          <p:cNvSpPr>
            <a:spLocks xmlns:a="http://schemas.openxmlformats.org/drawingml/2006/main" noGrp="1"/>
          </p:cNvSpPr>
          <p:nvPr/>
        </p:nvSpPr>
        <p:spPr>
          <a:xfrm xmlns:a="http://schemas.openxmlformats.org/drawingml/2006/main">
            <a:off x="552450" y="1238250"/>
            <a:ext cx="11087100" cy="0"/>
          </a:xfrm>
          <a:prstGeom xmlns:a="http://schemas.openxmlformats.org/drawingml/2006/main" prst="line">
            <a:avLst/>
          </a:prstGeom>
          <a:noFill xmlns:a="http://schemas.openxmlformats.org/drawingml/2006/main"/>
          <a:ln xmlns:a="http://schemas.openxmlformats.org/drawingml/2006/main" w="9525">
            <a:solidFill>
              <a:srgbClr val="C9D3DC"/>
            </a:solidFill>
            <a:prstDash val="solid"/>
          </a:ln>
        </p:spPr>
      </p:sp>
      <p:sp>
        <p:nvSpPr>
          <p:cNvPr id="4" name="text">
            <a:extLst xmlns:a="http://schemas.openxmlformats.org/drawingml/2006/main">
              <a:ext uri="{FF2B5EF4-FFF2-40B4-BE49-F238E27FC236}">
                <a16:creationId xmlns:a16="http://schemas.microsoft.com/office/drawing/2014/main" id="{F84DC4B5-A0E8-4B3D-8004-0BB4ECA766AE}"/>
              </a:ext>
            </a:extLst>
          </p:cNvPr>
          <p:cNvSpPr>
            <a:spLocks xmlns:a="http://schemas.openxmlformats.org/drawingml/2006/main" noGrp="1"/>
          </p:cNvSpPr>
          <p:nvPr/>
        </p:nvSpPr>
        <p:spPr>
          <a:xfrm xmlns:a="http://schemas.openxmlformats.org/drawingml/2006/main">
            <a:off x="1118235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536270"/>
                </a:solidFill>
              </a:defRPr>
            </a:pPr>
            <a:r>
              <a:rPr sz="975" b="1">
                <a:solidFill>
                  <a:srgbClr val="536270"/>
                </a:solidFill>
              </a:rPr>
              <a:t>02</a:t>
            </a:r>
          </a:p>
        </p:txBody>
      </p:sp>
      <p:sp>
        <p:nvSpPr>
          <p:cNvPr id="5" name="text">
            <a:extLst xmlns:a="http://schemas.openxmlformats.org/drawingml/2006/main">
              <a:ext uri="{FF2B5EF4-FFF2-40B4-BE49-F238E27FC236}">
                <a16:creationId xmlns:a16="http://schemas.microsoft.com/office/drawing/2014/main" id="{1EAD8AB4-729E-4CBE-9285-4B33CAC2EA54}"/>
              </a:ext>
            </a:extLst>
          </p:cNvPr>
          <p:cNvSpPr>
            <a:spLocks xmlns:a="http://schemas.openxmlformats.org/drawingml/2006/main" noGrp="1"/>
          </p:cNvSpPr>
          <p:nvPr/>
        </p:nvSpPr>
        <p:spPr>
          <a:xfrm xmlns:a="http://schemas.openxmlformats.org/drawingml/2006/main">
            <a:off x="552450" y="1809750"/>
            <a:ext cx="228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1">
                <a:solidFill>
                  <a:srgbClr val="536270"/>
                </a:solidFill>
              </a:defRPr>
            </a:pPr>
            <a:r>
              <a:rPr sz="2400" b="1">
                <a:solidFill>
                  <a:srgbClr val="536270"/>
                </a:solidFill>
              </a:rPr>
              <a:t>DADOS</a:t>
            </a:r>
          </a:p>
        </p:txBody>
      </p:sp>
      <p:sp>
        <p:nvSpPr>
          <p:cNvPr id="6" name="text">
            <a:extLst xmlns:a="http://schemas.openxmlformats.org/drawingml/2006/main">
              <a:ext uri="{FF2B5EF4-FFF2-40B4-BE49-F238E27FC236}">
                <a16:creationId xmlns:a16="http://schemas.microsoft.com/office/drawing/2014/main" id="{3BCE1727-76B3-4B77-AD48-957808709AB0}"/>
              </a:ext>
            </a:extLst>
          </p:cNvPr>
          <p:cNvSpPr>
            <a:spLocks xmlns:a="http://schemas.openxmlformats.org/drawingml/2006/main" noGrp="1"/>
          </p:cNvSpPr>
          <p:nvPr/>
        </p:nvSpPr>
        <p:spPr>
          <a:xfrm xmlns:a="http://schemas.openxmlformats.org/drawingml/2006/main">
            <a:off x="2952750" y="1857375"/>
            <a:ext cx="66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126BFF"/>
                </a:solidFill>
              </a:defRPr>
            </a:pPr>
            <a:r>
              <a:rPr sz="2550" b="1">
                <a:solidFill>
                  <a:srgbClr val="126BFF"/>
                </a:solidFill>
              </a:rPr>
              <a:t>→</a:t>
            </a:r>
          </a:p>
        </p:txBody>
      </p:sp>
      <p:sp>
        <p:nvSpPr>
          <p:cNvPr id="7" name="text">
            <a:extLst xmlns:a="http://schemas.openxmlformats.org/drawingml/2006/main">
              <a:ext uri="{FF2B5EF4-FFF2-40B4-BE49-F238E27FC236}">
                <a16:creationId xmlns:a16="http://schemas.microsoft.com/office/drawing/2014/main" id="{ED63342A-1795-48A6-8F78-034592C4CDFD}"/>
              </a:ext>
            </a:extLst>
          </p:cNvPr>
          <p:cNvSpPr>
            <a:spLocks xmlns:a="http://schemas.openxmlformats.org/drawingml/2006/main" noGrp="1"/>
          </p:cNvSpPr>
          <p:nvPr/>
        </p:nvSpPr>
        <p:spPr>
          <a:xfrm xmlns:a="http://schemas.openxmlformats.org/drawingml/2006/main">
            <a:off x="3752850" y="1809750"/>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1">
                <a:solidFill>
                  <a:srgbClr val="126BFF"/>
                </a:solidFill>
              </a:defRPr>
            </a:pPr>
            <a:r>
              <a:rPr sz="2400" b="1">
                <a:solidFill>
                  <a:srgbClr val="126BFF"/>
                </a:solidFill>
              </a:rPr>
              <a:t>EVIDÊNCIAS</a:t>
            </a:r>
          </a:p>
        </p:txBody>
      </p:sp>
      <p:sp>
        <p:nvSpPr>
          <p:cNvPr id="8" name="text">
            <a:extLst xmlns:a="http://schemas.openxmlformats.org/drawingml/2006/main">
              <a:ext uri="{FF2B5EF4-FFF2-40B4-BE49-F238E27FC236}">
                <a16:creationId xmlns:a16="http://schemas.microsoft.com/office/drawing/2014/main" id="{E33D3798-BE7D-44E6-A558-F20CBA81BECB}"/>
              </a:ext>
            </a:extLst>
          </p:cNvPr>
          <p:cNvSpPr>
            <a:spLocks xmlns:a="http://schemas.openxmlformats.org/drawingml/2006/main" noGrp="1"/>
          </p:cNvSpPr>
          <p:nvPr/>
        </p:nvSpPr>
        <p:spPr>
          <a:xfrm xmlns:a="http://schemas.openxmlformats.org/drawingml/2006/main">
            <a:off x="6438900" y="1857375"/>
            <a:ext cx="66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126BFF"/>
                </a:solidFill>
              </a:defRPr>
            </a:pPr>
            <a:r>
              <a:rPr sz="2550" b="1">
                <a:solidFill>
                  <a:srgbClr val="126BFF"/>
                </a:solidFill>
              </a:rPr>
              <a:t>→</a:t>
            </a:r>
          </a:p>
        </p:txBody>
      </p:sp>
      <p:sp>
        <p:nvSpPr>
          <p:cNvPr id="9" name="text">
            <a:extLst xmlns:a="http://schemas.openxmlformats.org/drawingml/2006/main">
              <a:ext uri="{FF2B5EF4-FFF2-40B4-BE49-F238E27FC236}">
                <a16:creationId xmlns:a16="http://schemas.microsoft.com/office/drawing/2014/main" id="{A8103737-EAB6-407D-BA5C-65C7A984F1CA}"/>
              </a:ext>
            </a:extLst>
          </p:cNvPr>
          <p:cNvSpPr>
            <a:spLocks xmlns:a="http://schemas.openxmlformats.org/drawingml/2006/main" noGrp="1"/>
          </p:cNvSpPr>
          <p:nvPr/>
        </p:nvSpPr>
        <p:spPr>
          <a:xfrm xmlns:a="http://schemas.openxmlformats.org/drawingml/2006/main">
            <a:off x="7239000" y="1809750"/>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1">
                <a:solidFill>
                  <a:srgbClr val="12A889"/>
                </a:solidFill>
              </a:defRPr>
            </a:pPr>
            <a:r>
              <a:rPr sz="2400" b="1">
                <a:solidFill>
                  <a:srgbClr val="12A889"/>
                </a:solidFill>
              </a:rPr>
              <a:t>HIPÓTESES</a:t>
            </a:r>
          </a:p>
        </p:txBody>
      </p:sp>
      <p:sp>
        <p:nvSpPr>
          <p:cNvPr id="10" name="shape">
            <a:extLst xmlns:a="http://schemas.openxmlformats.org/drawingml/2006/main">
              <a:ext uri="{FF2B5EF4-FFF2-40B4-BE49-F238E27FC236}">
                <a16:creationId xmlns:a16="http://schemas.microsoft.com/office/drawing/2014/main" id="{2496FFC7-52EA-4DCA-BD2C-6CA1D3C2F5FC}"/>
              </a:ext>
            </a:extLst>
          </p:cNvPr>
          <p:cNvSpPr>
            <a:spLocks xmlns:a="http://schemas.openxmlformats.org/drawingml/2006/main" noGrp="1"/>
          </p:cNvSpPr>
          <p:nvPr/>
        </p:nvSpPr>
        <p:spPr>
          <a:xfrm xmlns:a="http://schemas.openxmlformats.org/drawingml/2006/main">
            <a:off x="552450" y="2905125"/>
            <a:ext cx="10477500" cy="1285875"/>
          </a:xfrm>
          <a:prstGeom xmlns:a="http://schemas.openxmlformats.org/drawingml/2006/main" prst="roundRect">
            <a:avLst>
              <a:gd name="adj" fmla="val 5926"/>
            </a:avLst>
          </a:prstGeom>
          <a:solidFill xmlns:a="http://schemas.openxmlformats.org/drawingml/2006/main">
            <a:srgbClr val="071A2B"/>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A0D9305C-71E4-447D-8740-0285FE025239}"/>
              </a:ext>
            </a:extLst>
          </p:cNvPr>
          <p:cNvSpPr>
            <a:spLocks xmlns:a="http://schemas.openxmlformats.org/drawingml/2006/main" noGrp="1"/>
          </p:cNvSpPr>
          <p:nvPr/>
        </p:nvSpPr>
        <p:spPr>
          <a:xfrm xmlns:a="http://schemas.openxmlformats.org/drawingml/2006/main">
            <a:off x="857250" y="3095625"/>
            <a:ext cx="9867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1">
                <a:solidFill>
                  <a:srgbClr val="FFFFFF"/>
                </a:solidFill>
              </a:defRPr>
            </a:pPr>
            <a:r>
              <a:rPr sz="2400" b="1">
                <a:solidFill>
                  <a:srgbClr val="FFFFFF"/>
                </a:solidFill>
              </a:rPr>
              <a:t>Explorar não é confirmar uma conclusão pronta.</a:t>
            </a:r>
          </a:p>
          <a:p xmlns:a="http://schemas.openxmlformats.org/drawingml/2006/main">
            <a:pPr algn="ctr">
              <a:defRPr sz="2400" b="1">
                <a:solidFill>
                  <a:srgbClr val="FFFFFF"/>
                </a:solidFill>
              </a:defRPr>
            </a:pPr>
            <a:r>
              <a:rPr sz="2400" b="1">
                <a:solidFill>
                  <a:srgbClr val="FFFFFF"/>
                </a:solidFill>
              </a:rPr>
              <a:t>É descobrir quais conclusões os dados permitem sustentar.</a:t>
            </a:r>
          </a:p>
        </p:txBody>
      </p:sp>
      <p:sp>
        <p:nvSpPr>
          <p:cNvPr id="12" name="text">
            <a:extLst xmlns:a="http://schemas.openxmlformats.org/drawingml/2006/main">
              <a:ext uri="{FF2B5EF4-FFF2-40B4-BE49-F238E27FC236}">
                <a16:creationId xmlns:a16="http://schemas.microsoft.com/office/drawing/2014/main" id="{BAE3222C-E8F3-42A4-BA15-69FE18CC2EEB}"/>
              </a:ext>
            </a:extLst>
          </p:cNvPr>
          <p:cNvSpPr>
            <a:spLocks xmlns:a="http://schemas.openxmlformats.org/drawingml/2006/main" noGrp="1"/>
          </p:cNvSpPr>
          <p:nvPr/>
        </p:nvSpPr>
        <p:spPr>
          <a:xfrm xmlns:a="http://schemas.openxmlformats.org/drawingml/2006/main">
            <a:off x="552450" y="4810125"/>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26BFF"/>
                </a:solidFill>
              </a:defRPr>
            </a:pPr>
            <a:r>
              <a:rPr sz="1350" b="1">
                <a:solidFill>
                  <a:srgbClr val="126BFF"/>
                </a:solidFill>
              </a:rPr>
              <a:t>Resultado esperado</a:t>
            </a:r>
          </a:p>
        </p:txBody>
      </p:sp>
      <p:sp>
        <p:nvSpPr>
          <p:cNvPr id="13" name="text">
            <a:extLst xmlns:a="http://schemas.openxmlformats.org/drawingml/2006/main">
              <a:ext uri="{FF2B5EF4-FFF2-40B4-BE49-F238E27FC236}">
                <a16:creationId xmlns:a16="http://schemas.microsoft.com/office/drawing/2014/main" id="{84C09BBB-5AA6-4DD6-BF5F-9DE3251B806A}"/>
              </a:ext>
            </a:extLst>
          </p:cNvPr>
          <p:cNvSpPr>
            <a:spLocks xmlns:a="http://schemas.openxmlformats.org/drawingml/2006/main" noGrp="1"/>
          </p:cNvSpPr>
          <p:nvPr/>
        </p:nvSpPr>
        <p:spPr>
          <a:xfrm xmlns:a="http://schemas.openxmlformats.org/drawingml/2006/main">
            <a:off x="2857500" y="4657725"/>
            <a:ext cx="8096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4202B"/>
                </a:solidFill>
              </a:defRPr>
            </a:pPr>
            <a:r>
              <a:rPr sz="1875" b="1">
                <a:solidFill>
                  <a:srgbClr val="14202B"/>
                </a:solidFill>
              </a:rPr>
              <a:t>compreensão do conjunto + questões verificáveis + decisões para as próximas etapas</a:t>
            </a:r>
          </a:p>
        </p:txBody>
      </p:sp>
    </p:spTree>
    <p:extLst>
      <p:ext uri="{BB962C8B-B14F-4D97-AF65-F5344CB8AC3E}">
        <p14:creationId xmlns:p14="http://schemas.microsoft.com/office/powerpoint/2010/main" val="20028611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text">
            <a:extLst xmlns:a="http://schemas.openxmlformats.org/drawingml/2006/main">
              <a:ext uri="{FF2B5EF4-FFF2-40B4-BE49-F238E27FC236}">
                <a16:creationId xmlns:a16="http://schemas.microsoft.com/office/drawing/2014/main" id="{D5512C7B-2BB3-437C-8CF4-03B84EBF56BE}"/>
              </a:ext>
            </a:extLst>
          </p:cNvPr>
          <p:cNvSpPr>
            <a:spLocks xmlns:a="http://schemas.openxmlformats.org/drawingml/2006/main" noGrp="1"/>
          </p:cNvSpPr>
          <p:nvPr/>
        </p:nvSpPr>
        <p:spPr>
          <a:xfrm xmlns:a="http://schemas.openxmlformats.org/drawingml/2006/main">
            <a:off x="552450" y="20955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26BFF"/>
                </a:solidFill>
              </a:defRPr>
            </a:pPr>
            <a:r>
              <a:rPr sz="1050" b="1">
                <a:solidFill>
                  <a:srgbClr val="126BFF"/>
                </a:solidFill>
              </a:rPr>
              <a:t>PROCESSO</a:t>
            </a:r>
          </a:p>
        </p:txBody>
      </p:sp>
      <p:sp>
        <p:nvSpPr>
          <p:cNvPr id="2" name="text">
            <a:extLst xmlns:a="http://schemas.openxmlformats.org/drawingml/2006/main">
              <a:ext uri="{FF2B5EF4-FFF2-40B4-BE49-F238E27FC236}">
                <a16:creationId xmlns:a16="http://schemas.microsoft.com/office/drawing/2014/main" id="{49A632B7-A4ED-462C-A00E-59CC8BCFECCD}"/>
              </a:ext>
            </a:extLst>
          </p:cNvPr>
          <p:cNvSpPr>
            <a:spLocks xmlns:a="http://schemas.openxmlformats.org/drawingml/2006/main" noGrp="1"/>
          </p:cNvSpPr>
          <p:nvPr/>
        </p:nvSpPr>
        <p:spPr>
          <a:xfrm xmlns:a="http://schemas.openxmlformats.org/drawingml/2006/main">
            <a:off x="552450" y="45720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4202B"/>
                </a:solidFill>
              </a:defRPr>
            </a:pPr>
            <a:r>
              <a:rPr sz="3600" b="1">
                <a:solidFill>
                  <a:srgbClr val="14202B"/>
                </a:solidFill>
              </a:rPr>
              <a:t>A exploração segue um ciclo, não uma sequência rígida</a:t>
            </a:r>
          </a:p>
        </p:txBody>
      </p:sp>
      <p:sp>
        <p:nvSpPr>
          <p:cNvPr id="3" name="">
            <a:extLst xmlns:a="http://schemas.openxmlformats.org/drawingml/2006/main">
              <a:ext uri="{FF2B5EF4-FFF2-40B4-BE49-F238E27FC236}">
                <a16:creationId xmlns:a16="http://schemas.microsoft.com/office/drawing/2014/main" id="{81A59942-D340-43FB-BFE8-4022D9BE3972}"/>
              </a:ext>
            </a:extLst>
          </p:cNvPr>
          <p:cNvSpPr>
            <a:spLocks xmlns:a="http://schemas.openxmlformats.org/drawingml/2006/main" noGrp="1"/>
          </p:cNvSpPr>
          <p:nvPr/>
        </p:nvSpPr>
        <p:spPr>
          <a:xfrm xmlns:a="http://schemas.openxmlformats.org/drawingml/2006/main">
            <a:off x="552450" y="1238250"/>
            <a:ext cx="11087100" cy="0"/>
          </a:xfrm>
          <a:prstGeom xmlns:a="http://schemas.openxmlformats.org/drawingml/2006/main" prst="line">
            <a:avLst/>
          </a:prstGeom>
          <a:noFill xmlns:a="http://schemas.openxmlformats.org/drawingml/2006/main"/>
          <a:ln xmlns:a="http://schemas.openxmlformats.org/drawingml/2006/main" w="9525">
            <a:solidFill>
              <a:srgbClr val="C9D3DC"/>
            </a:solidFill>
            <a:prstDash val="solid"/>
          </a:ln>
        </p:spPr>
      </p:sp>
      <p:sp>
        <p:nvSpPr>
          <p:cNvPr id="4" name="text">
            <a:extLst xmlns:a="http://schemas.openxmlformats.org/drawingml/2006/main">
              <a:ext uri="{FF2B5EF4-FFF2-40B4-BE49-F238E27FC236}">
                <a16:creationId xmlns:a16="http://schemas.microsoft.com/office/drawing/2014/main" id="{0CBF621D-E892-41F6-9F69-298D10E8FFB3}"/>
              </a:ext>
            </a:extLst>
          </p:cNvPr>
          <p:cNvSpPr>
            <a:spLocks xmlns:a="http://schemas.openxmlformats.org/drawingml/2006/main" noGrp="1"/>
          </p:cNvSpPr>
          <p:nvPr/>
        </p:nvSpPr>
        <p:spPr>
          <a:xfrm xmlns:a="http://schemas.openxmlformats.org/drawingml/2006/main">
            <a:off x="1118235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536270"/>
                </a:solidFill>
              </a:defRPr>
            </a:pPr>
            <a:r>
              <a:rPr sz="975" b="1">
                <a:solidFill>
                  <a:srgbClr val="536270"/>
                </a:solidFill>
              </a:rPr>
              <a:t>03</a:t>
            </a:r>
          </a:p>
        </p:txBody>
      </p:sp>
      <p:sp>
        <p:nvSpPr>
          <p:cNvPr id="5" name="text">
            <a:extLst xmlns:a="http://schemas.openxmlformats.org/drawingml/2006/main">
              <a:ext uri="{FF2B5EF4-FFF2-40B4-BE49-F238E27FC236}">
                <a16:creationId xmlns:a16="http://schemas.microsoft.com/office/drawing/2014/main" id="{D6F8A147-5E9E-4389-93D7-C1721FB88B80}"/>
              </a:ext>
            </a:extLst>
          </p:cNvPr>
          <p:cNvSpPr>
            <a:spLocks xmlns:a="http://schemas.openxmlformats.org/drawingml/2006/main" noGrp="1"/>
          </p:cNvSpPr>
          <p:nvPr/>
        </p:nvSpPr>
        <p:spPr>
          <a:xfrm xmlns:a="http://schemas.openxmlformats.org/drawingml/2006/main">
            <a:off x="2543175" y="2600325"/>
            <a:ext cx="304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126BFF"/>
                </a:solidFill>
              </a:defRPr>
            </a:pPr>
            <a:r>
              <a:rPr sz="2250" b="1">
                <a:solidFill>
                  <a:srgbClr val="126BFF"/>
                </a:solidFill>
              </a:rPr>
              <a:t>→</a:t>
            </a:r>
          </a:p>
        </p:txBody>
      </p:sp>
      <p:sp>
        <p:nvSpPr>
          <p:cNvPr id="6" name="text">
            <a:extLst xmlns:a="http://schemas.openxmlformats.org/drawingml/2006/main">
              <a:ext uri="{FF2B5EF4-FFF2-40B4-BE49-F238E27FC236}">
                <a16:creationId xmlns:a16="http://schemas.microsoft.com/office/drawing/2014/main" id="{01477417-0B78-4A75-B35E-0392A00B2780}"/>
              </a:ext>
            </a:extLst>
          </p:cNvPr>
          <p:cNvSpPr>
            <a:spLocks xmlns:a="http://schemas.openxmlformats.org/drawingml/2006/main" noGrp="1"/>
          </p:cNvSpPr>
          <p:nvPr/>
        </p:nvSpPr>
        <p:spPr>
          <a:xfrm xmlns:a="http://schemas.openxmlformats.org/drawingml/2006/main">
            <a:off x="4714875" y="2600325"/>
            <a:ext cx="304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126BFF"/>
                </a:solidFill>
              </a:defRPr>
            </a:pPr>
            <a:r>
              <a:rPr sz="2250" b="1">
                <a:solidFill>
                  <a:srgbClr val="126BFF"/>
                </a:solidFill>
              </a:rPr>
              <a:t>→</a:t>
            </a:r>
          </a:p>
        </p:txBody>
      </p:sp>
      <p:sp>
        <p:nvSpPr>
          <p:cNvPr id="7" name="text">
            <a:extLst xmlns:a="http://schemas.openxmlformats.org/drawingml/2006/main">
              <a:ext uri="{FF2B5EF4-FFF2-40B4-BE49-F238E27FC236}">
                <a16:creationId xmlns:a16="http://schemas.microsoft.com/office/drawing/2014/main" id="{8E73B2A8-91EE-470E-ABFB-CF5E40895377}"/>
              </a:ext>
            </a:extLst>
          </p:cNvPr>
          <p:cNvSpPr>
            <a:spLocks xmlns:a="http://schemas.openxmlformats.org/drawingml/2006/main" noGrp="1"/>
          </p:cNvSpPr>
          <p:nvPr/>
        </p:nvSpPr>
        <p:spPr>
          <a:xfrm xmlns:a="http://schemas.openxmlformats.org/drawingml/2006/main">
            <a:off x="6886575" y="2600325"/>
            <a:ext cx="304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126BFF"/>
                </a:solidFill>
              </a:defRPr>
            </a:pPr>
            <a:r>
              <a:rPr sz="2250" b="1">
                <a:solidFill>
                  <a:srgbClr val="126BFF"/>
                </a:solidFill>
              </a:rPr>
              <a:t>→</a:t>
            </a:r>
          </a:p>
        </p:txBody>
      </p:sp>
      <p:sp>
        <p:nvSpPr>
          <p:cNvPr id="8" name="text">
            <a:extLst xmlns:a="http://schemas.openxmlformats.org/drawingml/2006/main">
              <a:ext uri="{FF2B5EF4-FFF2-40B4-BE49-F238E27FC236}">
                <a16:creationId xmlns:a16="http://schemas.microsoft.com/office/drawing/2014/main" id="{1AEA2899-5A4F-40A4-9CB1-DEDB6CC1F030}"/>
              </a:ext>
            </a:extLst>
          </p:cNvPr>
          <p:cNvSpPr>
            <a:spLocks xmlns:a="http://schemas.openxmlformats.org/drawingml/2006/main" noGrp="1"/>
          </p:cNvSpPr>
          <p:nvPr/>
        </p:nvSpPr>
        <p:spPr>
          <a:xfrm xmlns:a="http://schemas.openxmlformats.org/drawingml/2006/main">
            <a:off x="9058275" y="2600325"/>
            <a:ext cx="304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126BFF"/>
                </a:solidFill>
              </a:defRPr>
            </a:pPr>
            <a:r>
              <a:rPr sz="2250" b="1">
                <a:solidFill>
                  <a:srgbClr val="126BFF"/>
                </a:solidFill>
              </a:rPr>
              <a:t>→</a:t>
            </a:r>
          </a:p>
        </p:txBody>
      </p:sp>
      <p:sp>
        <p:nvSpPr>
          <p:cNvPr id="9" name="shape">
            <a:extLst xmlns:a="http://schemas.openxmlformats.org/drawingml/2006/main">
              <a:ext uri="{FF2B5EF4-FFF2-40B4-BE49-F238E27FC236}">
                <a16:creationId xmlns:a16="http://schemas.microsoft.com/office/drawing/2014/main" id="{DBD2A23D-B86B-461F-891F-BD20FBFCFB7D}"/>
              </a:ext>
            </a:extLst>
          </p:cNvPr>
          <p:cNvSpPr>
            <a:spLocks xmlns:a="http://schemas.openxmlformats.org/drawingml/2006/main" noGrp="1"/>
          </p:cNvSpPr>
          <p:nvPr/>
        </p:nvSpPr>
        <p:spPr>
          <a:xfrm xmlns:a="http://schemas.openxmlformats.org/drawingml/2006/main">
            <a:off x="552450" y="1952625"/>
            <a:ext cx="1924050" cy="1809750"/>
          </a:xfrm>
          <a:prstGeom xmlns:a="http://schemas.openxmlformats.org/drawingml/2006/main" prst="roundRect">
            <a:avLst>
              <a:gd name="adj" fmla="val 4211"/>
            </a:avLst>
          </a:prstGeom>
          <a:solidFill xmlns:a="http://schemas.openxmlformats.org/drawingml/2006/main">
            <a:srgbClr val="F7F9FB"/>
          </a:solidFill>
          <a:ln xmlns:a="http://schemas.openxmlformats.org/drawingml/2006/main" w="9525">
            <a:solidFill>
              <a:srgbClr val="C9D3DC"/>
            </a:solidFill>
            <a:prstDash val="solid"/>
          </a:ln>
        </p:spPr>
      </p:sp>
      <p:sp>
        <p:nvSpPr>
          <p:cNvPr id="10" name="text">
            <a:extLst xmlns:a="http://schemas.openxmlformats.org/drawingml/2006/main">
              <a:ext uri="{FF2B5EF4-FFF2-40B4-BE49-F238E27FC236}">
                <a16:creationId xmlns:a16="http://schemas.microsoft.com/office/drawing/2014/main" id="{B74C34E3-8A06-42C2-8CF1-8BADDD0CB838}"/>
              </a:ext>
            </a:extLst>
          </p:cNvPr>
          <p:cNvSpPr>
            <a:spLocks xmlns:a="http://schemas.openxmlformats.org/drawingml/2006/main" noGrp="1"/>
          </p:cNvSpPr>
          <p:nvPr/>
        </p:nvSpPr>
        <p:spPr>
          <a:xfrm xmlns:a="http://schemas.openxmlformats.org/drawingml/2006/main">
            <a:off x="704850" y="20955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26BFF"/>
                </a:solidFill>
              </a:defRPr>
            </a:pPr>
            <a:r>
              <a:rPr sz="1200" b="1">
                <a:solidFill>
                  <a:srgbClr val="126BFF"/>
                </a:solidFill>
              </a:rPr>
              <a:t>01</a:t>
            </a:r>
          </a:p>
        </p:txBody>
      </p:sp>
      <p:sp>
        <p:nvSpPr>
          <p:cNvPr id="11" name="text">
            <a:extLst xmlns:a="http://schemas.openxmlformats.org/drawingml/2006/main">
              <a:ext uri="{FF2B5EF4-FFF2-40B4-BE49-F238E27FC236}">
                <a16:creationId xmlns:a16="http://schemas.microsoft.com/office/drawing/2014/main" id="{82F76A53-4554-45C7-9DC8-3D93C066B8F4}"/>
              </a:ext>
            </a:extLst>
          </p:cNvPr>
          <p:cNvSpPr>
            <a:spLocks xmlns:a="http://schemas.openxmlformats.org/drawingml/2006/main" noGrp="1"/>
          </p:cNvSpPr>
          <p:nvPr/>
        </p:nvSpPr>
        <p:spPr>
          <a:xfrm xmlns:a="http://schemas.openxmlformats.org/drawingml/2006/main">
            <a:off x="704850" y="2562225"/>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14202B"/>
                </a:solidFill>
              </a:defRPr>
            </a:pPr>
            <a:r>
              <a:rPr sz="1725" b="1">
                <a:solidFill>
                  <a:srgbClr val="14202B"/>
                </a:solidFill>
              </a:rPr>
              <a:t>Compreender</a:t>
            </a:r>
          </a:p>
        </p:txBody>
      </p:sp>
      <p:sp>
        <p:nvSpPr>
          <p:cNvPr id="12" name="text">
            <a:extLst xmlns:a="http://schemas.openxmlformats.org/drawingml/2006/main">
              <a:ext uri="{FF2B5EF4-FFF2-40B4-BE49-F238E27FC236}">
                <a16:creationId xmlns:a16="http://schemas.microsoft.com/office/drawing/2014/main" id="{0ABEAD24-0260-4E43-87DB-70F9E83D6F86}"/>
              </a:ext>
            </a:extLst>
          </p:cNvPr>
          <p:cNvSpPr>
            <a:spLocks xmlns:a="http://schemas.openxmlformats.org/drawingml/2006/main" noGrp="1"/>
          </p:cNvSpPr>
          <p:nvPr/>
        </p:nvSpPr>
        <p:spPr>
          <a:xfrm xmlns:a="http://schemas.openxmlformats.org/drawingml/2006/main">
            <a:off x="704850" y="3057525"/>
            <a:ext cx="161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536270"/>
                </a:solidFill>
              </a:defRPr>
            </a:pPr>
            <a:r>
              <a:rPr sz="1425" b="0">
                <a:solidFill>
                  <a:srgbClr val="536270"/>
                </a:solidFill>
              </a:rPr>
              <a:t>problema e unidade</a:t>
            </a:r>
          </a:p>
        </p:txBody>
      </p:sp>
      <p:sp>
        <p:nvSpPr>
          <p:cNvPr id="13" name="shape">
            <a:extLst xmlns:a="http://schemas.openxmlformats.org/drawingml/2006/main">
              <a:ext uri="{FF2B5EF4-FFF2-40B4-BE49-F238E27FC236}">
                <a16:creationId xmlns:a16="http://schemas.microsoft.com/office/drawing/2014/main" id="{CCCAF938-1FD6-4443-A81E-AC4D9E4C9D43}"/>
              </a:ext>
            </a:extLst>
          </p:cNvPr>
          <p:cNvSpPr>
            <a:spLocks xmlns:a="http://schemas.openxmlformats.org/drawingml/2006/main" noGrp="1"/>
          </p:cNvSpPr>
          <p:nvPr/>
        </p:nvSpPr>
        <p:spPr>
          <a:xfrm xmlns:a="http://schemas.openxmlformats.org/drawingml/2006/main">
            <a:off x="2724150" y="1952625"/>
            <a:ext cx="1924050" cy="1809750"/>
          </a:xfrm>
          <a:prstGeom xmlns:a="http://schemas.openxmlformats.org/drawingml/2006/main" prst="roundRect">
            <a:avLst>
              <a:gd name="adj" fmla="val 4211"/>
            </a:avLst>
          </a:prstGeom>
          <a:solidFill xmlns:a="http://schemas.openxmlformats.org/drawingml/2006/main">
            <a:srgbClr val="F7F9FB"/>
          </a:solidFill>
          <a:ln xmlns:a="http://schemas.openxmlformats.org/drawingml/2006/main" w="9525">
            <a:solidFill>
              <a:srgbClr val="C9D3DC"/>
            </a:solidFill>
            <a:prstDash val="solid"/>
          </a:ln>
        </p:spPr>
      </p:sp>
      <p:sp>
        <p:nvSpPr>
          <p:cNvPr id="14" name="text">
            <a:extLst xmlns:a="http://schemas.openxmlformats.org/drawingml/2006/main">
              <a:ext uri="{FF2B5EF4-FFF2-40B4-BE49-F238E27FC236}">
                <a16:creationId xmlns:a16="http://schemas.microsoft.com/office/drawing/2014/main" id="{ADABFBAC-2173-4F27-9102-DAB83EDE3485}"/>
              </a:ext>
            </a:extLst>
          </p:cNvPr>
          <p:cNvSpPr>
            <a:spLocks xmlns:a="http://schemas.openxmlformats.org/drawingml/2006/main" noGrp="1"/>
          </p:cNvSpPr>
          <p:nvPr/>
        </p:nvSpPr>
        <p:spPr>
          <a:xfrm xmlns:a="http://schemas.openxmlformats.org/drawingml/2006/main">
            <a:off x="2876550" y="20955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26BFF"/>
                </a:solidFill>
              </a:defRPr>
            </a:pPr>
            <a:r>
              <a:rPr sz="1200" b="1">
                <a:solidFill>
                  <a:srgbClr val="126BFF"/>
                </a:solidFill>
              </a:rPr>
              <a:t>02</a:t>
            </a:r>
          </a:p>
        </p:txBody>
      </p:sp>
      <p:sp>
        <p:nvSpPr>
          <p:cNvPr id="15" name="text">
            <a:extLst xmlns:a="http://schemas.openxmlformats.org/drawingml/2006/main">
              <a:ext uri="{FF2B5EF4-FFF2-40B4-BE49-F238E27FC236}">
                <a16:creationId xmlns:a16="http://schemas.microsoft.com/office/drawing/2014/main" id="{A3B7ED03-9A8F-40BD-8963-8A16C03ADA28}"/>
              </a:ext>
            </a:extLst>
          </p:cNvPr>
          <p:cNvSpPr>
            <a:spLocks xmlns:a="http://schemas.openxmlformats.org/drawingml/2006/main" noGrp="1"/>
          </p:cNvSpPr>
          <p:nvPr/>
        </p:nvSpPr>
        <p:spPr>
          <a:xfrm xmlns:a="http://schemas.openxmlformats.org/drawingml/2006/main">
            <a:off x="2876550" y="2562225"/>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14202B"/>
                </a:solidFill>
              </a:defRPr>
            </a:pPr>
            <a:r>
              <a:rPr sz="1725" b="1">
                <a:solidFill>
                  <a:srgbClr val="14202B"/>
                </a:solidFill>
              </a:rPr>
              <a:t>Inspecionar</a:t>
            </a:r>
          </a:p>
        </p:txBody>
      </p:sp>
      <p:sp>
        <p:nvSpPr>
          <p:cNvPr id="16" name="text">
            <a:extLst xmlns:a="http://schemas.openxmlformats.org/drawingml/2006/main">
              <a:ext uri="{FF2B5EF4-FFF2-40B4-BE49-F238E27FC236}">
                <a16:creationId xmlns:a16="http://schemas.microsoft.com/office/drawing/2014/main" id="{2F6DC536-9442-4324-AA8C-871FDA2A08EE}"/>
              </a:ext>
            </a:extLst>
          </p:cNvPr>
          <p:cNvSpPr>
            <a:spLocks xmlns:a="http://schemas.openxmlformats.org/drawingml/2006/main" noGrp="1"/>
          </p:cNvSpPr>
          <p:nvPr/>
        </p:nvSpPr>
        <p:spPr>
          <a:xfrm xmlns:a="http://schemas.openxmlformats.org/drawingml/2006/main">
            <a:off x="2876550" y="3057525"/>
            <a:ext cx="161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536270"/>
                </a:solidFill>
              </a:defRPr>
            </a:pPr>
            <a:r>
              <a:rPr sz="1425" b="0">
                <a:solidFill>
                  <a:srgbClr val="536270"/>
                </a:solidFill>
              </a:rPr>
              <a:t>estrutura e qualidade</a:t>
            </a:r>
          </a:p>
        </p:txBody>
      </p:sp>
      <p:sp>
        <p:nvSpPr>
          <p:cNvPr id="17" name="shape">
            <a:extLst xmlns:a="http://schemas.openxmlformats.org/drawingml/2006/main">
              <a:ext uri="{FF2B5EF4-FFF2-40B4-BE49-F238E27FC236}">
                <a16:creationId xmlns:a16="http://schemas.microsoft.com/office/drawing/2014/main" id="{A708F868-638D-4132-BDA1-D5EC9C2D60AA}"/>
              </a:ext>
            </a:extLst>
          </p:cNvPr>
          <p:cNvSpPr>
            <a:spLocks xmlns:a="http://schemas.openxmlformats.org/drawingml/2006/main" noGrp="1"/>
          </p:cNvSpPr>
          <p:nvPr/>
        </p:nvSpPr>
        <p:spPr>
          <a:xfrm xmlns:a="http://schemas.openxmlformats.org/drawingml/2006/main">
            <a:off x="4895850" y="1952625"/>
            <a:ext cx="1924050" cy="1809750"/>
          </a:xfrm>
          <a:prstGeom xmlns:a="http://schemas.openxmlformats.org/drawingml/2006/main" prst="roundRect">
            <a:avLst>
              <a:gd name="adj" fmla="val 4211"/>
            </a:avLst>
          </a:prstGeom>
          <a:solidFill xmlns:a="http://schemas.openxmlformats.org/drawingml/2006/main">
            <a:srgbClr val="F7F9FB"/>
          </a:solidFill>
          <a:ln xmlns:a="http://schemas.openxmlformats.org/drawingml/2006/main" w="9525">
            <a:solidFill>
              <a:srgbClr val="C9D3DC"/>
            </a:solidFill>
            <a:prstDash val="solid"/>
          </a:ln>
        </p:spPr>
      </p:sp>
      <p:sp>
        <p:nvSpPr>
          <p:cNvPr id="18" name="text">
            <a:extLst xmlns:a="http://schemas.openxmlformats.org/drawingml/2006/main">
              <a:ext uri="{FF2B5EF4-FFF2-40B4-BE49-F238E27FC236}">
                <a16:creationId xmlns:a16="http://schemas.microsoft.com/office/drawing/2014/main" id="{9F8A9213-F191-40A4-BB91-A2DAF5BDE9A3}"/>
              </a:ext>
            </a:extLst>
          </p:cNvPr>
          <p:cNvSpPr>
            <a:spLocks xmlns:a="http://schemas.openxmlformats.org/drawingml/2006/main" noGrp="1"/>
          </p:cNvSpPr>
          <p:nvPr/>
        </p:nvSpPr>
        <p:spPr>
          <a:xfrm xmlns:a="http://schemas.openxmlformats.org/drawingml/2006/main">
            <a:off x="5048250" y="20955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26BFF"/>
                </a:solidFill>
              </a:defRPr>
            </a:pPr>
            <a:r>
              <a:rPr sz="1200" b="1">
                <a:solidFill>
                  <a:srgbClr val="126BFF"/>
                </a:solidFill>
              </a:rPr>
              <a:t>03</a:t>
            </a:r>
          </a:p>
        </p:txBody>
      </p:sp>
      <p:sp>
        <p:nvSpPr>
          <p:cNvPr id="19" name="text">
            <a:extLst xmlns:a="http://schemas.openxmlformats.org/drawingml/2006/main">
              <a:ext uri="{FF2B5EF4-FFF2-40B4-BE49-F238E27FC236}">
                <a16:creationId xmlns:a16="http://schemas.microsoft.com/office/drawing/2014/main" id="{D25E43C8-EE7B-493E-A048-ABE4A56E1797}"/>
              </a:ext>
            </a:extLst>
          </p:cNvPr>
          <p:cNvSpPr>
            <a:spLocks xmlns:a="http://schemas.openxmlformats.org/drawingml/2006/main" noGrp="1"/>
          </p:cNvSpPr>
          <p:nvPr/>
        </p:nvSpPr>
        <p:spPr>
          <a:xfrm xmlns:a="http://schemas.openxmlformats.org/drawingml/2006/main">
            <a:off x="5048250" y="2562225"/>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14202B"/>
                </a:solidFill>
              </a:defRPr>
            </a:pPr>
            <a:r>
              <a:rPr sz="1725" b="1">
                <a:solidFill>
                  <a:srgbClr val="14202B"/>
                </a:solidFill>
              </a:rPr>
              <a:t>Descrever</a:t>
            </a:r>
          </a:p>
        </p:txBody>
      </p:sp>
      <p:sp>
        <p:nvSpPr>
          <p:cNvPr id="20" name="text">
            <a:extLst xmlns:a="http://schemas.openxmlformats.org/drawingml/2006/main">
              <a:ext uri="{FF2B5EF4-FFF2-40B4-BE49-F238E27FC236}">
                <a16:creationId xmlns:a16="http://schemas.microsoft.com/office/drawing/2014/main" id="{3BE054EB-11C2-4320-B276-7BAA69C91189}"/>
              </a:ext>
            </a:extLst>
          </p:cNvPr>
          <p:cNvSpPr>
            <a:spLocks xmlns:a="http://schemas.openxmlformats.org/drawingml/2006/main" noGrp="1"/>
          </p:cNvSpPr>
          <p:nvPr/>
        </p:nvSpPr>
        <p:spPr>
          <a:xfrm xmlns:a="http://schemas.openxmlformats.org/drawingml/2006/main">
            <a:off x="5048250" y="3057525"/>
            <a:ext cx="161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536270"/>
                </a:solidFill>
              </a:defRPr>
            </a:pPr>
            <a:r>
              <a:rPr sz="1425" b="0">
                <a:solidFill>
                  <a:srgbClr val="536270"/>
                </a:solidFill>
              </a:rPr>
              <a:t>centro e dispersão</a:t>
            </a:r>
          </a:p>
        </p:txBody>
      </p:sp>
      <p:sp>
        <p:nvSpPr>
          <p:cNvPr id="21" name="shape">
            <a:extLst xmlns:a="http://schemas.openxmlformats.org/drawingml/2006/main">
              <a:ext uri="{FF2B5EF4-FFF2-40B4-BE49-F238E27FC236}">
                <a16:creationId xmlns:a16="http://schemas.microsoft.com/office/drawing/2014/main" id="{0BBD7FC1-EED7-4342-9838-FD92146A27DD}"/>
              </a:ext>
            </a:extLst>
          </p:cNvPr>
          <p:cNvSpPr>
            <a:spLocks xmlns:a="http://schemas.openxmlformats.org/drawingml/2006/main" noGrp="1"/>
          </p:cNvSpPr>
          <p:nvPr/>
        </p:nvSpPr>
        <p:spPr>
          <a:xfrm xmlns:a="http://schemas.openxmlformats.org/drawingml/2006/main">
            <a:off x="7067550" y="1952625"/>
            <a:ext cx="1924050" cy="1809750"/>
          </a:xfrm>
          <a:prstGeom xmlns:a="http://schemas.openxmlformats.org/drawingml/2006/main" prst="roundRect">
            <a:avLst>
              <a:gd name="adj" fmla="val 4211"/>
            </a:avLst>
          </a:prstGeom>
          <a:solidFill xmlns:a="http://schemas.openxmlformats.org/drawingml/2006/main">
            <a:srgbClr val="F7F9FB"/>
          </a:solidFill>
          <a:ln xmlns:a="http://schemas.openxmlformats.org/drawingml/2006/main" w="9525">
            <a:solidFill>
              <a:srgbClr val="C9D3DC"/>
            </a:solidFill>
            <a:prstDash val="solid"/>
          </a:ln>
        </p:spPr>
      </p:sp>
      <p:sp>
        <p:nvSpPr>
          <p:cNvPr id="22" name="text">
            <a:extLst xmlns:a="http://schemas.openxmlformats.org/drawingml/2006/main">
              <a:ext uri="{FF2B5EF4-FFF2-40B4-BE49-F238E27FC236}">
                <a16:creationId xmlns:a16="http://schemas.microsoft.com/office/drawing/2014/main" id="{EEF97B56-F20E-4FC1-8A01-298CD9E52AF9}"/>
              </a:ext>
            </a:extLst>
          </p:cNvPr>
          <p:cNvSpPr>
            <a:spLocks xmlns:a="http://schemas.openxmlformats.org/drawingml/2006/main" noGrp="1"/>
          </p:cNvSpPr>
          <p:nvPr/>
        </p:nvSpPr>
        <p:spPr>
          <a:xfrm xmlns:a="http://schemas.openxmlformats.org/drawingml/2006/main">
            <a:off x="7219950" y="20955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26BFF"/>
                </a:solidFill>
              </a:defRPr>
            </a:pPr>
            <a:r>
              <a:rPr sz="1200" b="1">
                <a:solidFill>
                  <a:srgbClr val="126BFF"/>
                </a:solidFill>
              </a:rPr>
              <a:t>04</a:t>
            </a:r>
          </a:p>
        </p:txBody>
      </p:sp>
      <p:sp>
        <p:nvSpPr>
          <p:cNvPr id="23" name="text">
            <a:extLst xmlns:a="http://schemas.openxmlformats.org/drawingml/2006/main">
              <a:ext uri="{FF2B5EF4-FFF2-40B4-BE49-F238E27FC236}">
                <a16:creationId xmlns:a16="http://schemas.microsoft.com/office/drawing/2014/main" id="{39D06B22-3007-46E8-9D8B-F25C39653D56}"/>
              </a:ext>
            </a:extLst>
          </p:cNvPr>
          <p:cNvSpPr>
            <a:spLocks xmlns:a="http://schemas.openxmlformats.org/drawingml/2006/main" noGrp="1"/>
          </p:cNvSpPr>
          <p:nvPr/>
        </p:nvSpPr>
        <p:spPr>
          <a:xfrm xmlns:a="http://schemas.openxmlformats.org/drawingml/2006/main">
            <a:off x="7219950" y="2562225"/>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14202B"/>
                </a:solidFill>
              </a:defRPr>
            </a:pPr>
            <a:r>
              <a:rPr sz="1725" b="1">
                <a:solidFill>
                  <a:srgbClr val="14202B"/>
                </a:solidFill>
              </a:rPr>
              <a:t>Visualizar</a:t>
            </a:r>
          </a:p>
        </p:txBody>
      </p:sp>
      <p:sp>
        <p:nvSpPr>
          <p:cNvPr id="24" name="text">
            <a:extLst xmlns:a="http://schemas.openxmlformats.org/drawingml/2006/main">
              <a:ext uri="{FF2B5EF4-FFF2-40B4-BE49-F238E27FC236}">
                <a16:creationId xmlns:a16="http://schemas.microsoft.com/office/drawing/2014/main" id="{D44F290D-9136-413D-AE71-661435FD6611}"/>
              </a:ext>
            </a:extLst>
          </p:cNvPr>
          <p:cNvSpPr>
            <a:spLocks xmlns:a="http://schemas.openxmlformats.org/drawingml/2006/main" noGrp="1"/>
          </p:cNvSpPr>
          <p:nvPr/>
        </p:nvSpPr>
        <p:spPr>
          <a:xfrm xmlns:a="http://schemas.openxmlformats.org/drawingml/2006/main">
            <a:off x="7219950" y="3057525"/>
            <a:ext cx="161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536270"/>
                </a:solidFill>
              </a:defRPr>
            </a:pPr>
            <a:r>
              <a:rPr sz="1425" b="0">
                <a:solidFill>
                  <a:srgbClr val="536270"/>
                </a:solidFill>
              </a:rPr>
              <a:t>formas e relações</a:t>
            </a:r>
          </a:p>
        </p:txBody>
      </p:sp>
      <p:sp>
        <p:nvSpPr>
          <p:cNvPr id="25" name="shape">
            <a:extLst xmlns:a="http://schemas.openxmlformats.org/drawingml/2006/main">
              <a:ext uri="{FF2B5EF4-FFF2-40B4-BE49-F238E27FC236}">
                <a16:creationId xmlns:a16="http://schemas.microsoft.com/office/drawing/2014/main" id="{00973B4F-CC1A-4AA3-9850-97F2D6048ED5}"/>
              </a:ext>
            </a:extLst>
          </p:cNvPr>
          <p:cNvSpPr>
            <a:spLocks xmlns:a="http://schemas.openxmlformats.org/drawingml/2006/main" noGrp="1"/>
          </p:cNvSpPr>
          <p:nvPr/>
        </p:nvSpPr>
        <p:spPr>
          <a:xfrm xmlns:a="http://schemas.openxmlformats.org/drawingml/2006/main">
            <a:off x="9239250" y="1952625"/>
            <a:ext cx="1924050" cy="1809750"/>
          </a:xfrm>
          <a:prstGeom xmlns:a="http://schemas.openxmlformats.org/drawingml/2006/main" prst="roundRect">
            <a:avLst>
              <a:gd name="adj" fmla="val 4211"/>
            </a:avLst>
          </a:prstGeom>
          <a:solidFill xmlns:a="http://schemas.openxmlformats.org/drawingml/2006/main">
            <a:srgbClr val="DDEBFF"/>
          </a:solidFill>
          <a:ln xmlns:a="http://schemas.openxmlformats.org/drawingml/2006/main" w="9525">
            <a:solidFill>
              <a:srgbClr val="126BFF"/>
            </a:solidFill>
            <a:prstDash val="solid"/>
          </a:ln>
        </p:spPr>
      </p:sp>
      <p:sp>
        <p:nvSpPr>
          <p:cNvPr id="26" name="text">
            <a:extLst xmlns:a="http://schemas.openxmlformats.org/drawingml/2006/main">
              <a:ext uri="{FF2B5EF4-FFF2-40B4-BE49-F238E27FC236}">
                <a16:creationId xmlns:a16="http://schemas.microsoft.com/office/drawing/2014/main" id="{611DD1AC-4D15-465E-BCC4-3182BCB43FD6}"/>
              </a:ext>
            </a:extLst>
          </p:cNvPr>
          <p:cNvSpPr>
            <a:spLocks xmlns:a="http://schemas.openxmlformats.org/drawingml/2006/main" noGrp="1"/>
          </p:cNvSpPr>
          <p:nvPr/>
        </p:nvSpPr>
        <p:spPr>
          <a:xfrm xmlns:a="http://schemas.openxmlformats.org/drawingml/2006/main">
            <a:off x="9391650" y="20955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26BFF"/>
                </a:solidFill>
              </a:defRPr>
            </a:pPr>
            <a:r>
              <a:rPr sz="1200" b="1">
                <a:solidFill>
                  <a:srgbClr val="126BFF"/>
                </a:solidFill>
              </a:rPr>
              <a:t>05</a:t>
            </a:r>
          </a:p>
        </p:txBody>
      </p:sp>
      <p:sp>
        <p:nvSpPr>
          <p:cNvPr id="27" name="text">
            <a:extLst xmlns:a="http://schemas.openxmlformats.org/drawingml/2006/main">
              <a:ext uri="{FF2B5EF4-FFF2-40B4-BE49-F238E27FC236}">
                <a16:creationId xmlns:a16="http://schemas.microsoft.com/office/drawing/2014/main" id="{C574DA7F-529A-428A-93AB-C1AC914EC18E}"/>
              </a:ext>
            </a:extLst>
          </p:cNvPr>
          <p:cNvSpPr>
            <a:spLocks xmlns:a="http://schemas.openxmlformats.org/drawingml/2006/main" noGrp="1"/>
          </p:cNvSpPr>
          <p:nvPr/>
        </p:nvSpPr>
        <p:spPr>
          <a:xfrm xmlns:a="http://schemas.openxmlformats.org/drawingml/2006/main">
            <a:off x="9391650" y="2562225"/>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14202B"/>
                </a:solidFill>
              </a:defRPr>
            </a:pPr>
            <a:r>
              <a:rPr sz="1725" b="1">
                <a:solidFill>
                  <a:srgbClr val="14202B"/>
                </a:solidFill>
              </a:rPr>
              <a:t>Interpretar</a:t>
            </a:r>
          </a:p>
        </p:txBody>
      </p:sp>
      <p:sp>
        <p:nvSpPr>
          <p:cNvPr id="28" name="text">
            <a:extLst xmlns:a="http://schemas.openxmlformats.org/drawingml/2006/main">
              <a:ext uri="{FF2B5EF4-FFF2-40B4-BE49-F238E27FC236}">
                <a16:creationId xmlns:a16="http://schemas.microsoft.com/office/drawing/2014/main" id="{2C292451-4EC7-40A1-8E3D-226238EC4A6D}"/>
              </a:ext>
            </a:extLst>
          </p:cNvPr>
          <p:cNvSpPr>
            <a:spLocks xmlns:a="http://schemas.openxmlformats.org/drawingml/2006/main" noGrp="1"/>
          </p:cNvSpPr>
          <p:nvPr/>
        </p:nvSpPr>
        <p:spPr>
          <a:xfrm xmlns:a="http://schemas.openxmlformats.org/drawingml/2006/main">
            <a:off x="9391650" y="3057525"/>
            <a:ext cx="161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536270"/>
                </a:solidFill>
              </a:defRPr>
            </a:pPr>
            <a:r>
              <a:rPr sz="1425" b="0">
                <a:solidFill>
                  <a:srgbClr val="536270"/>
                </a:solidFill>
              </a:rPr>
              <a:t>hipóteses e limites</a:t>
            </a:r>
          </a:p>
        </p:txBody>
      </p:sp>
      <p:sp>
        <p:nvSpPr>
          <p:cNvPr id="29" name="shape">
            <a:extLst xmlns:a="http://schemas.openxmlformats.org/drawingml/2006/main">
              <a:ext uri="{FF2B5EF4-FFF2-40B4-BE49-F238E27FC236}">
                <a16:creationId xmlns:a16="http://schemas.microsoft.com/office/drawing/2014/main" id="{A497C078-435D-4712-B91B-7E0B2224229A}"/>
              </a:ext>
            </a:extLst>
          </p:cNvPr>
          <p:cNvSpPr>
            <a:spLocks xmlns:a="http://schemas.openxmlformats.org/drawingml/2006/main" noGrp="1"/>
          </p:cNvSpPr>
          <p:nvPr/>
        </p:nvSpPr>
        <p:spPr>
          <a:xfrm xmlns:a="http://schemas.openxmlformats.org/drawingml/2006/main">
            <a:off x="552450" y="4476750"/>
            <a:ext cx="10572750" cy="819150"/>
          </a:xfrm>
          <a:prstGeom xmlns:a="http://schemas.openxmlformats.org/drawingml/2006/main" prst="roundRect">
            <a:avLst>
              <a:gd name="adj" fmla="val 9302"/>
            </a:avLst>
          </a:prstGeom>
          <a:solidFill xmlns:a="http://schemas.openxmlformats.org/drawingml/2006/main">
            <a:srgbClr val="071A2B"/>
          </a:solidFill>
          <a:ln xmlns:a="http://schemas.openxmlformats.org/drawingml/2006/main" w="0">
            <a:noFill/>
            <a:prstDash val="solid"/>
          </a:ln>
        </p:spPr>
      </p:sp>
      <p:sp>
        <p:nvSpPr>
          <p:cNvPr id="30" name="text">
            <a:extLst xmlns:a="http://schemas.openxmlformats.org/drawingml/2006/main">
              <a:ext uri="{FF2B5EF4-FFF2-40B4-BE49-F238E27FC236}">
                <a16:creationId xmlns:a16="http://schemas.microsoft.com/office/drawing/2014/main" id="{D527F584-7797-450E-8129-27B23A14F1D8}"/>
              </a:ext>
            </a:extLst>
          </p:cNvPr>
          <p:cNvSpPr>
            <a:spLocks xmlns:a="http://schemas.openxmlformats.org/drawingml/2006/main" noGrp="1"/>
          </p:cNvSpPr>
          <p:nvPr/>
        </p:nvSpPr>
        <p:spPr>
          <a:xfrm xmlns:a="http://schemas.openxmlformats.org/drawingml/2006/main">
            <a:off x="819150" y="4629150"/>
            <a:ext cx="10039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FFFFFF"/>
                </a:solidFill>
              </a:defRPr>
            </a:pPr>
            <a:r>
              <a:rPr sz="2100" b="1">
                <a:solidFill>
                  <a:srgbClr val="FFFFFF"/>
                </a:solidFill>
              </a:rPr>
              <a:t>Cada achado pode gerar uma nova pergunta — e reiniciar o ciclo.</a:t>
            </a:r>
          </a:p>
        </p:txBody>
      </p:sp>
    </p:spTree>
    <p:extLst>
      <p:ext uri="{BB962C8B-B14F-4D97-AF65-F5344CB8AC3E}">
        <p14:creationId xmlns:p14="http://schemas.microsoft.com/office/powerpoint/2010/main" val="15074641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
            <a:extLst xmlns:a="http://schemas.openxmlformats.org/drawingml/2006/main">
              <a:ext uri="{FF2B5EF4-FFF2-40B4-BE49-F238E27FC236}">
                <a16:creationId xmlns:a16="http://schemas.microsoft.com/office/drawing/2014/main" id="{4F0C6BD9-8A28-40BB-B8EC-24EF3D4D5DAD}"/>
              </a:ext>
            </a:extLst>
          </p:cNvPr>
          <p:cNvSpPr>
            <a:spLocks xmlns:a="http://schemas.openxmlformats.org/drawingml/2006/main" noGrp="1"/>
          </p:cNvSpPr>
          <p:nvPr/>
        </p:nvSpPr>
        <p:spPr>
          <a:xfrm xmlns:a="http://schemas.openxmlformats.org/drawingml/2006/main">
            <a:off x="552450" y="20955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26BFF"/>
                </a:solidFill>
              </a:defRPr>
            </a:pPr>
            <a:r>
              <a:rPr sz="1050" b="1">
                <a:solidFill>
                  <a:srgbClr val="126BFF"/>
                </a:solidFill>
              </a:rPr>
              <a:t>LEITURA DO CONJUNTO</a:t>
            </a:r>
          </a:p>
        </p:txBody>
      </p:sp>
      <p:sp>
        <p:nvSpPr>
          <p:cNvPr id="2" name="text">
            <a:extLst xmlns:a="http://schemas.openxmlformats.org/drawingml/2006/main">
              <a:ext uri="{FF2B5EF4-FFF2-40B4-BE49-F238E27FC236}">
                <a16:creationId xmlns:a16="http://schemas.microsoft.com/office/drawing/2014/main" id="{718CCFDB-4F3E-4A58-90A7-5F2C572F9905}"/>
              </a:ext>
            </a:extLst>
          </p:cNvPr>
          <p:cNvSpPr>
            <a:spLocks xmlns:a="http://schemas.openxmlformats.org/drawingml/2006/main" noGrp="1"/>
          </p:cNvSpPr>
          <p:nvPr/>
        </p:nvSpPr>
        <p:spPr>
          <a:xfrm xmlns:a="http://schemas.openxmlformats.org/drawingml/2006/main">
            <a:off x="552450" y="45720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4202B"/>
                </a:solidFill>
              </a:defRPr>
            </a:pPr>
            <a:r>
              <a:rPr sz="3600" b="1">
                <a:solidFill>
                  <a:srgbClr val="14202B"/>
                </a:solidFill>
              </a:rPr>
              <a:t>Antes da estatística, defina o que uma linha representa</a:t>
            </a:r>
          </a:p>
        </p:txBody>
      </p:sp>
      <p:sp>
        <p:nvSpPr>
          <p:cNvPr id="3" name="">
            <a:extLst xmlns:a="http://schemas.openxmlformats.org/drawingml/2006/main">
              <a:ext uri="{FF2B5EF4-FFF2-40B4-BE49-F238E27FC236}">
                <a16:creationId xmlns:a16="http://schemas.microsoft.com/office/drawing/2014/main" id="{C1316B48-D5EE-47F4-A2A3-A34673624ADE}"/>
              </a:ext>
            </a:extLst>
          </p:cNvPr>
          <p:cNvSpPr>
            <a:spLocks xmlns:a="http://schemas.openxmlformats.org/drawingml/2006/main" noGrp="1"/>
          </p:cNvSpPr>
          <p:nvPr/>
        </p:nvSpPr>
        <p:spPr>
          <a:xfrm xmlns:a="http://schemas.openxmlformats.org/drawingml/2006/main">
            <a:off x="552450" y="1238250"/>
            <a:ext cx="11087100" cy="0"/>
          </a:xfrm>
          <a:prstGeom xmlns:a="http://schemas.openxmlformats.org/drawingml/2006/main" prst="line">
            <a:avLst/>
          </a:prstGeom>
          <a:noFill xmlns:a="http://schemas.openxmlformats.org/drawingml/2006/main"/>
          <a:ln xmlns:a="http://schemas.openxmlformats.org/drawingml/2006/main" w="9525">
            <a:solidFill>
              <a:srgbClr val="C9D3DC"/>
            </a:solidFill>
            <a:prstDash val="solid"/>
          </a:ln>
        </p:spPr>
      </p:sp>
      <p:sp>
        <p:nvSpPr>
          <p:cNvPr id="4" name="text">
            <a:extLst xmlns:a="http://schemas.openxmlformats.org/drawingml/2006/main">
              <a:ext uri="{FF2B5EF4-FFF2-40B4-BE49-F238E27FC236}">
                <a16:creationId xmlns:a16="http://schemas.microsoft.com/office/drawing/2014/main" id="{CB4B98B7-9FA2-4751-815E-C8921FCAF445}"/>
              </a:ext>
            </a:extLst>
          </p:cNvPr>
          <p:cNvSpPr>
            <a:spLocks xmlns:a="http://schemas.openxmlformats.org/drawingml/2006/main" noGrp="1"/>
          </p:cNvSpPr>
          <p:nvPr/>
        </p:nvSpPr>
        <p:spPr>
          <a:xfrm xmlns:a="http://schemas.openxmlformats.org/drawingml/2006/main">
            <a:off x="1118235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536270"/>
                </a:solidFill>
              </a:defRPr>
            </a:pPr>
            <a:r>
              <a:rPr sz="975" b="1">
                <a:solidFill>
                  <a:srgbClr val="536270"/>
                </a:solidFill>
              </a:rPr>
              <a:t>04</a:t>
            </a:r>
          </a:p>
        </p:txBody>
      </p:sp>
      <p:sp>
        <p:nvSpPr>
          <p:cNvPr id="5" name="shape">
            <a:extLst xmlns:a="http://schemas.openxmlformats.org/drawingml/2006/main">
              <a:ext uri="{FF2B5EF4-FFF2-40B4-BE49-F238E27FC236}">
                <a16:creationId xmlns:a16="http://schemas.microsoft.com/office/drawing/2014/main" id="{8929327A-0383-4206-8B31-E1E9EFB8E5A0}"/>
              </a:ext>
            </a:extLst>
          </p:cNvPr>
          <p:cNvSpPr>
            <a:spLocks xmlns:a="http://schemas.openxmlformats.org/drawingml/2006/main" noGrp="1"/>
          </p:cNvSpPr>
          <p:nvPr/>
        </p:nvSpPr>
        <p:spPr>
          <a:xfrm xmlns:a="http://schemas.openxmlformats.org/drawingml/2006/main">
            <a:off x="552450" y="1657350"/>
            <a:ext cx="4953000" cy="3238500"/>
          </a:xfrm>
          <a:prstGeom xmlns:a="http://schemas.openxmlformats.org/drawingml/2006/main" prst="roundRect">
            <a:avLst>
              <a:gd name="adj" fmla="val 2353"/>
            </a:avLst>
          </a:prstGeom>
          <a:solidFill xmlns:a="http://schemas.openxmlformats.org/drawingml/2006/main">
            <a:srgbClr val="F7F9FB"/>
          </a:solidFill>
          <a:ln xmlns:a="http://schemas.openxmlformats.org/drawingml/2006/main" w="9525">
            <a:solidFill>
              <a:srgbClr val="C9D3DC"/>
            </a:solidFill>
            <a:prstDash val="solid"/>
          </a:ln>
        </p:spPr>
      </p:sp>
      <p:sp>
        <p:nvSpPr>
          <p:cNvPr id="6" name="shape">
            <a:extLst xmlns:a="http://schemas.openxmlformats.org/drawingml/2006/main">
              <a:ext uri="{FF2B5EF4-FFF2-40B4-BE49-F238E27FC236}">
                <a16:creationId xmlns:a16="http://schemas.microsoft.com/office/drawing/2014/main" id="{AB474504-1D7C-497E-A2B7-E9E703751DA8}"/>
              </a:ext>
            </a:extLst>
          </p:cNvPr>
          <p:cNvSpPr>
            <a:spLocks xmlns:a="http://schemas.openxmlformats.org/drawingml/2006/main" noGrp="1"/>
          </p:cNvSpPr>
          <p:nvPr/>
        </p:nvSpPr>
        <p:spPr>
          <a:xfrm xmlns:a="http://schemas.openxmlformats.org/drawingml/2006/main">
            <a:off x="552450" y="1657350"/>
            <a:ext cx="114300" cy="3238500"/>
          </a:xfrm>
          <a:prstGeom xmlns:a="http://schemas.openxmlformats.org/drawingml/2006/main" prst="rect">
            <a:avLst/>
          </a:prstGeom>
          <a:solidFill xmlns:a="http://schemas.openxmlformats.org/drawingml/2006/main">
            <a:srgbClr val="126BFF"/>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5517F354-0079-452E-BFEB-5C4629D9D44A}"/>
              </a:ext>
            </a:extLst>
          </p:cNvPr>
          <p:cNvSpPr>
            <a:spLocks xmlns:a="http://schemas.openxmlformats.org/drawingml/2006/main" noGrp="1"/>
          </p:cNvSpPr>
          <p:nvPr/>
        </p:nvSpPr>
        <p:spPr>
          <a:xfrm xmlns:a="http://schemas.openxmlformats.org/drawingml/2006/main">
            <a:off x="838200" y="18478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26BFF"/>
                </a:solidFill>
              </a:defRPr>
            </a:pPr>
            <a:r>
              <a:rPr sz="1800" b="1">
                <a:solidFill>
                  <a:srgbClr val="126BFF"/>
                </a:solidFill>
              </a:rPr>
              <a:t>UNIDADE DE ANÁLISE</a:t>
            </a:r>
          </a:p>
        </p:txBody>
      </p:sp>
      <p:sp>
        <p:nvSpPr>
          <p:cNvPr id="8" name="text">
            <a:extLst xmlns:a="http://schemas.openxmlformats.org/drawingml/2006/main">
              <a:ext uri="{FF2B5EF4-FFF2-40B4-BE49-F238E27FC236}">
                <a16:creationId xmlns:a16="http://schemas.microsoft.com/office/drawing/2014/main" id="{7A83B57F-3E3F-4C28-8F82-683FDD1F97AC}"/>
              </a:ext>
            </a:extLst>
          </p:cNvPr>
          <p:cNvSpPr>
            <a:spLocks xmlns:a="http://schemas.openxmlformats.org/drawingml/2006/main" noGrp="1"/>
          </p:cNvSpPr>
          <p:nvPr/>
        </p:nvSpPr>
        <p:spPr>
          <a:xfrm xmlns:a="http://schemas.openxmlformats.org/drawingml/2006/main">
            <a:off x="838200" y="2371725"/>
            <a:ext cx="4476750" cy="2362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4202B"/>
                </a:solidFill>
              </a:defRPr>
            </a:pPr>
            <a:r>
              <a:rPr sz="1575" b="0">
                <a:solidFill>
                  <a:srgbClr val="14202B"/>
                </a:solidFill>
              </a:rPr>
              <a:t>O objeto representado por cada registro: aplicativo, cliente, transação, medição ou evento.</a:t>
            </a:r>
          </a:p>
        </p:txBody>
      </p:sp>
      <p:sp>
        <p:nvSpPr>
          <p:cNvPr id="9" name="shape">
            <a:extLst xmlns:a="http://schemas.openxmlformats.org/drawingml/2006/main">
              <a:ext uri="{FF2B5EF4-FFF2-40B4-BE49-F238E27FC236}">
                <a16:creationId xmlns:a16="http://schemas.microsoft.com/office/drawing/2014/main" id="{F25D7ECA-1D21-4EC4-B048-3B89CD5D9110}"/>
              </a:ext>
            </a:extLst>
          </p:cNvPr>
          <p:cNvSpPr>
            <a:spLocks xmlns:a="http://schemas.openxmlformats.org/drawingml/2006/main" noGrp="1"/>
          </p:cNvSpPr>
          <p:nvPr/>
        </p:nvSpPr>
        <p:spPr>
          <a:xfrm xmlns:a="http://schemas.openxmlformats.org/drawingml/2006/main">
            <a:off x="6115050" y="1657350"/>
            <a:ext cx="4953000" cy="3238500"/>
          </a:xfrm>
          <a:prstGeom xmlns:a="http://schemas.openxmlformats.org/drawingml/2006/main" prst="roundRect">
            <a:avLst>
              <a:gd name="adj" fmla="val 2353"/>
            </a:avLst>
          </a:prstGeom>
          <a:solidFill xmlns:a="http://schemas.openxmlformats.org/drawingml/2006/main">
            <a:srgbClr val="F7F9FB"/>
          </a:solidFill>
          <a:ln xmlns:a="http://schemas.openxmlformats.org/drawingml/2006/main" w="9525">
            <a:solidFill>
              <a:srgbClr val="C9D3DC"/>
            </a:solidFill>
            <a:prstDash val="solid"/>
          </a:ln>
        </p:spPr>
      </p:sp>
      <p:sp>
        <p:nvSpPr>
          <p:cNvPr id="10" name="shape">
            <a:extLst xmlns:a="http://schemas.openxmlformats.org/drawingml/2006/main">
              <a:ext uri="{FF2B5EF4-FFF2-40B4-BE49-F238E27FC236}">
                <a16:creationId xmlns:a16="http://schemas.microsoft.com/office/drawing/2014/main" id="{22FD1158-9AEA-4CA5-9785-6E1AC38939B8}"/>
              </a:ext>
            </a:extLst>
          </p:cNvPr>
          <p:cNvSpPr>
            <a:spLocks xmlns:a="http://schemas.openxmlformats.org/drawingml/2006/main" noGrp="1"/>
          </p:cNvSpPr>
          <p:nvPr/>
        </p:nvSpPr>
        <p:spPr>
          <a:xfrm xmlns:a="http://schemas.openxmlformats.org/drawingml/2006/main">
            <a:off x="6115050" y="1657350"/>
            <a:ext cx="114300" cy="3238500"/>
          </a:xfrm>
          <a:prstGeom xmlns:a="http://schemas.openxmlformats.org/drawingml/2006/main" prst="rect">
            <a:avLst/>
          </a:prstGeom>
          <a:solidFill xmlns:a="http://schemas.openxmlformats.org/drawingml/2006/main">
            <a:srgbClr val="12A889"/>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3947FE7F-0F5F-4A07-AD1A-0F64B67E5A3F}"/>
              </a:ext>
            </a:extLst>
          </p:cNvPr>
          <p:cNvSpPr>
            <a:spLocks xmlns:a="http://schemas.openxmlformats.org/drawingml/2006/main" noGrp="1"/>
          </p:cNvSpPr>
          <p:nvPr/>
        </p:nvSpPr>
        <p:spPr>
          <a:xfrm xmlns:a="http://schemas.openxmlformats.org/drawingml/2006/main">
            <a:off x="6400800" y="18478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2A889"/>
                </a:solidFill>
              </a:defRPr>
            </a:pPr>
            <a:r>
              <a:rPr sz="1800" b="1">
                <a:solidFill>
                  <a:srgbClr val="12A889"/>
                </a:solidFill>
              </a:rPr>
              <a:t>VARIÁVEIS</a:t>
            </a:r>
          </a:p>
        </p:txBody>
      </p:sp>
      <p:sp>
        <p:nvSpPr>
          <p:cNvPr id="12" name="text">
            <a:extLst xmlns:a="http://schemas.openxmlformats.org/drawingml/2006/main">
              <a:ext uri="{FF2B5EF4-FFF2-40B4-BE49-F238E27FC236}">
                <a16:creationId xmlns:a16="http://schemas.microsoft.com/office/drawing/2014/main" id="{E0DE0F58-8E36-40BC-8854-E0FF1B9E1DE6}"/>
              </a:ext>
            </a:extLst>
          </p:cNvPr>
          <p:cNvSpPr>
            <a:spLocks xmlns:a="http://schemas.openxmlformats.org/drawingml/2006/main" noGrp="1"/>
          </p:cNvSpPr>
          <p:nvPr/>
        </p:nvSpPr>
        <p:spPr>
          <a:xfrm xmlns:a="http://schemas.openxmlformats.org/drawingml/2006/main">
            <a:off x="6400800" y="2371725"/>
            <a:ext cx="4476750" cy="2362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4202B"/>
                </a:solidFill>
              </a:defRPr>
            </a:pPr>
            <a:r>
              <a:rPr sz="1575" b="0">
                <a:solidFill>
                  <a:srgbClr val="14202B"/>
                </a:solidFill>
              </a:rPr>
              <a:t>Características observadas sobre cada unidade: categoria, avaliação, preço, instalações ou tamanho.</a:t>
            </a:r>
          </a:p>
        </p:txBody>
      </p:sp>
      <p:sp>
        <p:nvSpPr>
          <p:cNvPr id="13" name="shape">
            <a:extLst xmlns:a="http://schemas.openxmlformats.org/drawingml/2006/main">
              <a:ext uri="{FF2B5EF4-FFF2-40B4-BE49-F238E27FC236}">
                <a16:creationId xmlns:a16="http://schemas.microsoft.com/office/drawing/2014/main" id="{E2779003-C669-44FD-907C-963110C6F2EB}"/>
              </a:ext>
            </a:extLst>
          </p:cNvPr>
          <p:cNvSpPr>
            <a:spLocks xmlns:a="http://schemas.openxmlformats.org/drawingml/2006/main" noGrp="1"/>
          </p:cNvSpPr>
          <p:nvPr/>
        </p:nvSpPr>
        <p:spPr>
          <a:xfrm xmlns:a="http://schemas.openxmlformats.org/drawingml/2006/main">
            <a:off x="552450" y="5276850"/>
            <a:ext cx="10515600" cy="647700"/>
          </a:xfrm>
          <a:prstGeom xmlns:a="http://schemas.openxmlformats.org/drawingml/2006/main" prst="roundRect">
            <a:avLst>
              <a:gd name="adj" fmla="val 11765"/>
            </a:avLst>
          </a:prstGeom>
          <a:solidFill xmlns:a="http://schemas.openxmlformats.org/drawingml/2006/main">
            <a:srgbClr val="DDEBFF"/>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79A70FF2-6C4C-463A-8DCC-CE9EC3585F3E}"/>
              </a:ext>
            </a:extLst>
          </p:cNvPr>
          <p:cNvSpPr>
            <a:spLocks xmlns:a="http://schemas.openxmlformats.org/drawingml/2006/main" noGrp="1"/>
          </p:cNvSpPr>
          <p:nvPr/>
        </p:nvSpPr>
        <p:spPr>
          <a:xfrm xmlns:a="http://schemas.openxmlformats.org/drawingml/2006/main">
            <a:off x="819150" y="5381625"/>
            <a:ext cx="9982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071A2B"/>
                </a:solidFill>
              </a:defRPr>
            </a:pPr>
            <a:r>
              <a:rPr sz="1800" b="1">
                <a:solidFill>
                  <a:srgbClr val="071A2B"/>
                </a:solidFill>
              </a:rPr>
              <a:t>Sem unidade bem definida, contagens e comparações podem responder à pergunta errada.</a:t>
            </a:r>
          </a:p>
        </p:txBody>
      </p:sp>
    </p:spTree>
    <p:extLst>
      <p:ext uri="{BB962C8B-B14F-4D97-AF65-F5344CB8AC3E}">
        <p14:creationId xmlns:p14="http://schemas.microsoft.com/office/powerpoint/2010/main" val="6312801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
            <a:extLst xmlns:a="http://schemas.openxmlformats.org/drawingml/2006/main">
              <a:ext uri="{FF2B5EF4-FFF2-40B4-BE49-F238E27FC236}">
                <a16:creationId xmlns:a16="http://schemas.microsoft.com/office/drawing/2014/main" id="{9B001D80-36D4-4C52-84AC-582157649581}"/>
              </a:ext>
            </a:extLst>
          </p:cNvPr>
          <p:cNvSpPr>
            <a:spLocks xmlns:a="http://schemas.openxmlformats.org/drawingml/2006/main" noGrp="1"/>
          </p:cNvSpPr>
          <p:nvPr/>
        </p:nvSpPr>
        <p:spPr>
          <a:xfrm xmlns:a="http://schemas.openxmlformats.org/drawingml/2006/main">
            <a:off x="552450" y="20955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26BFF"/>
                </a:solidFill>
              </a:defRPr>
            </a:pPr>
            <a:r>
              <a:rPr sz="1050" b="1">
                <a:solidFill>
                  <a:srgbClr val="126BFF"/>
                </a:solidFill>
              </a:rPr>
              <a:t>DIAGNÓSTICO INICIAL</a:t>
            </a:r>
          </a:p>
        </p:txBody>
      </p:sp>
      <p:sp>
        <p:nvSpPr>
          <p:cNvPr id="2" name="text">
            <a:extLst xmlns:a="http://schemas.openxmlformats.org/drawingml/2006/main">
              <a:ext uri="{FF2B5EF4-FFF2-40B4-BE49-F238E27FC236}">
                <a16:creationId xmlns:a16="http://schemas.microsoft.com/office/drawing/2014/main" id="{840735DA-A26D-4987-AAED-E1FA5E2FB068}"/>
              </a:ext>
            </a:extLst>
          </p:cNvPr>
          <p:cNvSpPr>
            <a:spLocks xmlns:a="http://schemas.openxmlformats.org/drawingml/2006/main" noGrp="1"/>
          </p:cNvSpPr>
          <p:nvPr/>
        </p:nvSpPr>
        <p:spPr>
          <a:xfrm xmlns:a="http://schemas.openxmlformats.org/drawingml/2006/main">
            <a:off x="552450" y="45720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4202B"/>
                </a:solidFill>
              </a:defRPr>
            </a:pPr>
            <a:r>
              <a:rPr sz="3600" b="1">
                <a:solidFill>
                  <a:srgbClr val="14202B"/>
                </a:solidFill>
              </a:rPr>
              <a:t>A inspeção inicial revela o terreno da análise</a:t>
            </a:r>
          </a:p>
        </p:txBody>
      </p:sp>
      <p:sp>
        <p:nvSpPr>
          <p:cNvPr id="3" name="">
            <a:extLst xmlns:a="http://schemas.openxmlformats.org/drawingml/2006/main">
              <a:ext uri="{FF2B5EF4-FFF2-40B4-BE49-F238E27FC236}">
                <a16:creationId xmlns:a16="http://schemas.microsoft.com/office/drawing/2014/main" id="{F4091181-888F-48CE-B274-A871574F1FD1}"/>
              </a:ext>
            </a:extLst>
          </p:cNvPr>
          <p:cNvSpPr>
            <a:spLocks xmlns:a="http://schemas.openxmlformats.org/drawingml/2006/main" noGrp="1"/>
          </p:cNvSpPr>
          <p:nvPr/>
        </p:nvSpPr>
        <p:spPr>
          <a:xfrm xmlns:a="http://schemas.openxmlformats.org/drawingml/2006/main">
            <a:off x="552450" y="1238250"/>
            <a:ext cx="11087100" cy="0"/>
          </a:xfrm>
          <a:prstGeom xmlns:a="http://schemas.openxmlformats.org/drawingml/2006/main" prst="line">
            <a:avLst/>
          </a:prstGeom>
          <a:noFill xmlns:a="http://schemas.openxmlformats.org/drawingml/2006/main"/>
          <a:ln xmlns:a="http://schemas.openxmlformats.org/drawingml/2006/main" w="9525">
            <a:solidFill>
              <a:srgbClr val="C9D3DC"/>
            </a:solidFill>
            <a:prstDash val="solid"/>
          </a:ln>
        </p:spPr>
      </p:sp>
      <p:sp>
        <p:nvSpPr>
          <p:cNvPr id="4" name="text">
            <a:extLst xmlns:a="http://schemas.openxmlformats.org/drawingml/2006/main">
              <a:ext uri="{FF2B5EF4-FFF2-40B4-BE49-F238E27FC236}">
                <a16:creationId xmlns:a16="http://schemas.microsoft.com/office/drawing/2014/main" id="{CBDE1147-08B8-412D-B785-C3D0C4B0642F}"/>
              </a:ext>
            </a:extLst>
          </p:cNvPr>
          <p:cNvSpPr>
            <a:spLocks xmlns:a="http://schemas.openxmlformats.org/drawingml/2006/main" noGrp="1"/>
          </p:cNvSpPr>
          <p:nvPr/>
        </p:nvSpPr>
        <p:spPr>
          <a:xfrm xmlns:a="http://schemas.openxmlformats.org/drawingml/2006/main">
            <a:off x="1118235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536270"/>
                </a:solidFill>
              </a:defRPr>
            </a:pPr>
            <a:r>
              <a:rPr sz="975" b="1">
                <a:solidFill>
                  <a:srgbClr val="536270"/>
                </a:solidFill>
              </a:rPr>
              <a:t>05</a:t>
            </a:r>
          </a:p>
        </p:txBody>
      </p:sp>
      <p:sp>
        <p:nvSpPr>
          <p:cNvPr id="5" name="text">
            <a:extLst xmlns:a="http://schemas.openxmlformats.org/drawingml/2006/main">
              <a:ext uri="{FF2B5EF4-FFF2-40B4-BE49-F238E27FC236}">
                <a16:creationId xmlns:a16="http://schemas.microsoft.com/office/drawing/2014/main" id="{A60F4FEB-7CAD-48F0-BE00-F2A005D9FABF}"/>
              </a:ext>
            </a:extLst>
          </p:cNvPr>
          <p:cNvSpPr>
            <a:spLocks xmlns:a="http://schemas.openxmlformats.org/drawingml/2006/main" noGrp="1"/>
          </p:cNvSpPr>
          <p:nvPr/>
        </p:nvSpPr>
        <p:spPr>
          <a:xfrm xmlns:a="http://schemas.openxmlformats.org/drawingml/2006/main">
            <a:off x="552450" y="1485900"/>
            <a:ext cx="419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26BFF"/>
                </a:solidFill>
              </a:defRPr>
            </a:pPr>
            <a:r>
              <a:rPr sz="1275" b="1">
                <a:solidFill>
                  <a:srgbClr val="126BFF"/>
                </a:solidFill>
              </a:rPr>
              <a:t>01</a:t>
            </a:r>
          </a:p>
        </p:txBody>
      </p:sp>
      <p:sp>
        <p:nvSpPr>
          <p:cNvPr id="6" name="text">
            <a:extLst xmlns:a="http://schemas.openxmlformats.org/drawingml/2006/main">
              <a:ext uri="{FF2B5EF4-FFF2-40B4-BE49-F238E27FC236}">
                <a16:creationId xmlns:a16="http://schemas.microsoft.com/office/drawing/2014/main" id="{CA242AD9-37F7-4476-80C0-CDEDFB2AAD08}"/>
              </a:ext>
            </a:extLst>
          </p:cNvPr>
          <p:cNvSpPr>
            <a:spLocks xmlns:a="http://schemas.openxmlformats.org/drawingml/2006/main" noGrp="1"/>
          </p:cNvSpPr>
          <p:nvPr/>
        </p:nvSpPr>
        <p:spPr>
          <a:xfrm xmlns:a="http://schemas.openxmlformats.org/drawingml/2006/main">
            <a:off x="1190625" y="148590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4202B"/>
                </a:solidFill>
              </a:defRPr>
            </a:pPr>
            <a:r>
              <a:rPr sz="1500" b="1">
                <a:solidFill>
                  <a:srgbClr val="14202B"/>
                </a:solidFill>
              </a:rPr>
              <a:t>DIMENSÃO</a:t>
            </a:r>
          </a:p>
        </p:txBody>
      </p:sp>
      <p:sp>
        <p:nvSpPr>
          <p:cNvPr id="7" name="text">
            <a:extLst xmlns:a="http://schemas.openxmlformats.org/drawingml/2006/main">
              <a:ext uri="{FF2B5EF4-FFF2-40B4-BE49-F238E27FC236}">
                <a16:creationId xmlns:a16="http://schemas.microsoft.com/office/drawing/2014/main" id="{B166DF66-FCF3-4CB2-AB7C-922A4EAD86DA}"/>
              </a:ext>
            </a:extLst>
          </p:cNvPr>
          <p:cNvSpPr>
            <a:spLocks xmlns:a="http://schemas.openxmlformats.org/drawingml/2006/main" noGrp="1"/>
          </p:cNvSpPr>
          <p:nvPr/>
        </p:nvSpPr>
        <p:spPr>
          <a:xfrm xmlns:a="http://schemas.openxmlformats.org/drawingml/2006/main">
            <a:off x="3429000" y="14859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0">
                <a:solidFill>
                  <a:srgbClr val="536270"/>
                </a:solidFill>
              </a:defRPr>
            </a:pPr>
            <a:r>
              <a:rPr sz="1800" b="0">
                <a:solidFill>
                  <a:srgbClr val="536270"/>
                </a:solidFill>
              </a:rPr>
              <a:t>quantas linhas e colunas?</a:t>
            </a:r>
          </a:p>
        </p:txBody>
      </p:sp>
      <p:sp>
        <p:nvSpPr>
          <p:cNvPr id="8" name="text">
            <a:extLst xmlns:a="http://schemas.openxmlformats.org/drawingml/2006/main">
              <a:ext uri="{FF2B5EF4-FFF2-40B4-BE49-F238E27FC236}">
                <a16:creationId xmlns:a16="http://schemas.microsoft.com/office/drawing/2014/main" id="{A73A9243-CC24-467D-907F-FE50E6E6E17D}"/>
              </a:ext>
            </a:extLst>
          </p:cNvPr>
          <p:cNvSpPr>
            <a:spLocks xmlns:a="http://schemas.openxmlformats.org/drawingml/2006/main" noGrp="1"/>
          </p:cNvSpPr>
          <p:nvPr/>
        </p:nvSpPr>
        <p:spPr>
          <a:xfrm xmlns:a="http://schemas.openxmlformats.org/drawingml/2006/main">
            <a:off x="552450" y="2324100"/>
            <a:ext cx="419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26BFF"/>
                </a:solidFill>
              </a:defRPr>
            </a:pPr>
            <a:r>
              <a:rPr sz="1275" b="1">
                <a:solidFill>
                  <a:srgbClr val="126BFF"/>
                </a:solidFill>
              </a:rPr>
              <a:t>02</a:t>
            </a:r>
          </a:p>
        </p:txBody>
      </p:sp>
      <p:sp>
        <p:nvSpPr>
          <p:cNvPr id="9" name="text">
            <a:extLst xmlns:a="http://schemas.openxmlformats.org/drawingml/2006/main">
              <a:ext uri="{FF2B5EF4-FFF2-40B4-BE49-F238E27FC236}">
                <a16:creationId xmlns:a16="http://schemas.microsoft.com/office/drawing/2014/main" id="{3DD9A390-A467-47B0-BDB5-794ED26A7FB3}"/>
              </a:ext>
            </a:extLst>
          </p:cNvPr>
          <p:cNvSpPr>
            <a:spLocks xmlns:a="http://schemas.openxmlformats.org/drawingml/2006/main" noGrp="1"/>
          </p:cNvSpPr>
          <p:nvPr/>
        </p:nvSpPr>
        <p:spPr>
          <a:xfrm xmlns:a="http://schemas.openxmlformats.org/drawingml/2006/main">
            <a:off x="1190625" y="232410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4202B"/>
                </a:solidFill>
              </a:defRPr>
            </a:pPr>
            <a:r>
              <a:rPr sz="1500" b="1">
                <a:solidFill>
                  <a:srgbClr val="14202B"/>
                </a:solidFill>
              </a:rPr>
              <a:t>TIPOS</a:t>
            </a:r>
          </a:p>
        </p:txBody>
      </p:sp>
      <p:sp>
        <p:nvSpPr>
          <p:cNvPr id="10" name="text">
            <a:extLst xmlns:a="http://schemas.openxmlformats.org/drawingml/2006/main">
              <a:ext uri="{FF2B5EF4-FFF2-40B4-BE49-F238E27FC236}">
                <a16:creationId xmlns:a16="http://schemas.microsoft.com/office/drawing/2014/main" id="{8A94BE0D-DA61-431D-9BBA-B61FE33175E2}"/>
              </a:ext>
            </a:extLst>
          </p:cNvPr>
          <p:cNvSpPr>
            <a:spLocks xmlns:a="http://schemas.openxmlformats.org/drawingml/2006/main" noGrp="1"/>
          </p:cNvSpPr>
          <p:nvPr/>
        </p:nvSpPr>
        <p:spPr>
          <a:xfrm xmlns:a="http://schemas.openxmlformats.org/drawingml/2006/main">
            <a:off x="3429000" y="23241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0">
                <a:solidFill>
                  <a:srgbClr val="536270"/>
                </a:solidFill>
              </a:defRPr>
            </a:pPr>
            <a:r>
              <a:rPr sz="1800" b="0">
                <a:solidFill>
                  <a:srgbClr val="536270"/>
                </a:solidFill>
              </a:rPr>
              <a:t>numéricas, categóricas, datas ou texto?</a:t>
            </a:r>
          </a:p>
        </p:txBody>
      </p:sp>
      <p:sp>
        <p:nvSpPr>
          <p:cNvPr id="11" name="text">
            <a:extLst xmlns:a="http://schemas.openxmlformats.org/drawingml/2006/main">
              <a:ext uri="{FF2B5EF4-FFF2-40B4-BE49-F238E27FC236}">
                <a16:creationId xmlns:a16="http://schemas.microsoft.com/office/drawing/2014/main" id="{9B654BC3-6377-41A5-9657-7FF65848B476}"/>
              </a:ext>
            </a:extLst>
          </p:cNvPr>
          <p:cNvSpPr>
            <a:spLocks xmlns:a="http://schemas.openxmlformats.org/drawingml/2006/main" noGrp="1"/>
          </p:cNvSpPr>
          <p:nvPr/>
        </p:nvSpPr>
        <p:spPr>
          <a:xfrm xmlns:a="http://schemas.openxmlformats.org/drawingml/2006/main">
            <a:off x="552450" y="3162300"/>
            <a:ext cx="419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26BFF"/>
                </a:solidFill>
              </a:defRPr>
            </a:pPr>
            <a:r>
              <a:rPr sz="1275" b="1">
                <a:solidFill>
                  <a:srgbClr val="126BFF"/>
                </a:solidFill>
              </a:rPr>
              <a:t>03</a:t>
            </a:r>
          </a:p>
        </p:txBody>
      </p:sp>
      <p:sp>
        <p:nvSpPr>
          <p:cNvPr id="12" name="text">
            <a:extLst xmlns:a="http://schemas.openxmlformats.org/drawingml/2006/main">
              <a:ext uri="{FF2B5EF4-FFF2-40B4-BE49-F238E27FC236}">
                <a16:creationId xmlns:a16="http://schemas.microsoft.com/office/drawing/2014/main" id="{816EBEF8-596F-4F94-B83E-9768BF9F01C4}"/>
              </a:ext>
            </a:extLst>
          </p:cNvPr>
          <p:cNvSpPr>
            <a:spLocks xmlns:a="http://schemas.openxmlformats.org/drawingml/2006/main" noGrp="1"/>
          </p:cNvSpPr>
          <p:nvPr/>
        </p:nvSpPr>
        <p:spPr>
          <a:xfrm xmlns:a="http://schemas.openxmlformats.org/drawingml/2006/main">
            <a:off x="1190625" y="316230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4202B"/>
                </a:solidFill>
              </a:defRPr>
            </a:pPr>
            <a:r>
              <a:rPr sz="1500" b="1">
                <a:solidFill>
                  <a:srgbClr val="14202B"/>
                </a:solidFill>
              </a:rPr>
              <a:t>AUSÊNCIAS</a:t>
            </a:r>
          </a:p>
        </p:txBody>
      </p:sp>
      <p:sp>
        <p:nvSpPr>
          <p:cNvPr id="13" name="text">
            <a:extLst xmlns:a="http://schemas.openxmlformats.org/drawingml/2006/main">
              <a:ext uri="{FF2B5EF4-FFF2-40B4-BE49-F238E27FC236}">
                <a16:creationId xmlns:a16="http://schemas.microsoft.com/office/drawing/2014/main" id="{789FE40C-ECCB-4DCE-9820-990F1E791EA0}"/>
              </a:ext>
            </a:extLst>
          </p:cNvPr>
          <p:cNvSpPr>
            <a:spLocks xmlns:a="http://schemas.openxmlformats.org/drawingml/2006/main" noGrp="1"/>
          </p:cNvSpPr>
          <p:nvPr/>
        </p:nvSpPr>
        <p:spPr>
          <a:xfrm xmlns:a="http://schemas.openxmlformats.org/drawingml/2006/main">
            <a:off x="3429000" y="31623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0">
                <a:solidFill>
                  <a:srgbClr val="536270"/>
                </a:solidFill>
              </a:defRPr>
            </a:pPr>
            <a:r>
              <a:rPr sz="1800" b="0">
                <a:solidFill>
                  <a:srgbClr val="536270"/>
                </a:solidFill>
              </a:rPr>
              <a:t>onde e com que padrão?</a:t>
            </a:r>
          </a:p>
        </p:txBody>
      </p:sp>
      <p:sp>
        <p:nvSpPr>
          <p:cNvPr id="14" name="text">
            <a:extLst xmlns:a="http://schemas.openxmlformats.org/drawingml/2006/main">
              <a:ext uri="{FF2B5EF4-FFF2-40B4-BE49-F238E27FC236}">
                <a16:creationId xmlns:a16="http://schemas.microsoft.com/office/drawing/2014/main" id="{09E4803C-BAD3-4DB4-A54A-3276C13ADF03}"/>
              </a:ext>
            </a:extLst>
          </p:cNvPr>
          <p:cNvSpPr>
            <a:spLocks xmlns:a="http://schemas.openxmlformats.org/drawingml/2006/main" noGrp="1"/>
          </p:cNvSpPr>
          <p:nvPr/>
        </p:nvSpPr>
        <p:spPr>
          <a:xfrm xmlns:a="http://schemas.openxmlformats.org/drawingml/2006/main">
            <a:off x="552450" y="4000500"/>
            <a:ext cx="419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26BFF"/>
                </a:solidFill>
              </a:defRPr>
            </a:pPr>
            <a:r>
              <a:rPr sz="1275" b="1">
                <a:solidFill>
                  <a:srgbClr val="126BFF"/>
                </a:solidFill>
              </a:rPr>
              <a:t>04</a:t>
            </a:r>
          </a:p>
        </p:txBody>
      </p:sp>
      <p:sp>
        <p:nvSpPr>
          <p:cNvPr id="15" name="text">
            <a:extLst xmlns:a="http://schemas.openxmlformats.org/drawingml/2006/main">
              <a:ext uri="{FF2B5EF4-FFF2-40B4-BE49-F238E27FC236}">
                <a16:creationId xmlns:a16="http://schemas.microsoft.com/office/drawing/2014/main" id="{7F764B0E-AF00-4FD2-A6EE-F6BC0E64D94A}"/>
              </a:ext>
            </a:extLst>
          </p:cNvPr>
          <p:cNvSpPr>
            <a:spLocks xmlns:a="http://schemas.openxmlformats.org/drawingml/2006/main" noGrp="1"/>
          </p:cNvSpPr>
          <p:nvPr/>
        </p:nvSpPr>
        <p:spPr>
          <a:xfrm xmlns:a="http://schemas.openxmlformats.org/drawingml/2006/main">
            <a:off x="1190625" y="400050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4202B"/>
                </a:solidFill>
              </a:defRPr>
            </a:pPr>
            <a:r>
              <a:rPr sz="1500" b="1">
                <a:solidFill>
                  <a:srgbClr val="14202B"/>
                </a:solidFill>
              </a:rPr>
              <a:t>DUPLICIDADES</a:t>
            </a:r>
          </a:p>
        </p:txBody>
      </p:sp>
      <p:sp>
        <p:nvSpPr>
          <p:cNvPr id="16" name="text">
            <a:extLst xmlns:a="http://schemas.openxmlformats.org/drawingml/2006/main">
              <a:ext uri="{FF2B5EF4-FFF2-40B4-BE49-F238E27FC236}">
                <a16:creationId xmlns:a16="http://schemas.microsoft.com/office/drawing/2014/main" id="{8B8C324C-8244-4C5A-95C1-1B190713AFEB}"/>
              </a:ext>
            </a:extLst>
          </p:cNvPr>
          <p:cNvSpPr>
            <a:spLocks xmlns:a="http://schemas.openxmlformats.org/drawingml/2006/main" noGrp="1"/>
          </p:cNvSpPr>
          <p:nvPr/>
        </p:nvSpPr>
        <p:spPr>
          <a:xfrm xmlns:a="http://schemas.openxmlformats.org/drawingml/2006/main">
            <a:off x="3429000" y="40005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0">
                <a:solidFill>
                  <a:srgbClr val="536270"/>
                </a:solidFill>
              </a:defRPr>
            </a:pPr>
            <a:r>
              <a:rPr sz="1800" b="0">
                <a:solidFill>
                  <a:srgbClr val="536270"/>
                </a:solidFill>
              </a:rPr>
              <a:t>o mesmo caso aparece mais de uma vez?</a:t>
            </a:r>
          </a:p>
        </p:txBody>
      </p:sp>
      <p:sp>
        <p:nvSpPr>
          <p:cNvPr id="17" name="text">
            <a:extLst xmlns:a="http://schemas.openxmlformats.org/drawingml/2006/main">
              <a:ext uri="{FF2B5EF4-FFF2-40B4-BE49-F238E27FC236}">
                <a16:creationId xmlns:a16="http://schemas.microsoft.com/office/drawing/2014/main" id="{04A74A73-4232-492A-B6E2-A1B29B606A67}"/>
              </a:ext>
            </a:extLst>
          </p:cNvPr>
          <p:cNvSpPr>
            <a:spLocks xmlns:a="http://schemas.openxmlformats.org/drawingml/2006/main" noGrp="1"/>
          </p:cNvSpPr>
          <p:nvPr/>
        </p:nvSpPr>
        <p:spPr>
          <a:xfrm xmlns:a="http://schemas.openxmlformats.org/drawingml/2006/main">
            <a:off x="552450" y="4838700"/>
            <a:ext cx="419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26BFF"/>
                </a:solidFill>
              </a:defRPr>
            </a:pPr>
            <a:r>
              <a:rPr sz="1275" b="1">
                <a:solidFill>
                  <a:srgbClr val="126BFF"/>
                </a:solidFill>
              </a:rPr>
              <a:t>05</a:t>
            </a:r>
          </a:p>
        </p:txBody>
      </p:sp>
      <p:sp>
        <p:nvSpPr>
          <p:cNvPr id="18" name="text">
            <a:extLst xmlns:a="http://schemas.openxmlformats.org/drawingml/2006/main">
              <a:ext uri="{FF2B5EF4-FFF2-40B4-BE49-F238E27FC236}">
                <a16:creationId xmlns:a16="http://schemas.microsoft.com/office/drawing/2014/main" id="{F8F1CD27-AB76-4D8A-ADE0-355F1B753FC4}"/>
              </a:ext>
            </a:extLst>
          </p:cNvPr>
          <p:cNvSpPr>
            <a:spLocks xmlns:a="http://schemas.openxmlformats.org/drawingml/2006/main" noGrp="1"/>
          </p:cNvSpPr>
          <p:nvPr/>
        </p:nvSpPr>
        <p:spPr>
          <a:xfrm xmlns:a="http://schemas.openxmlformats.org/drawingml/2006/main">
            <a:off x="1190625" y="483870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4202B"/>
                </a:solidFill>
              </a:defRPr>
            </a:pPr>
            <a:r>
              <a:rPr sz="1500" b="1">
                <a:solidFill>
                  <a:srgbClr val="14202B"/>
                </a:solidFill>
              </a:rPr>
              <a:t>DOMÍNIOS</a:t>
            </a:r>
          </a:p>
        </p:txBody>
      </p:sp>
      <p:sp>
        <p:nvSpPr>
          <p:cNvPr id="19" name="text">
            <a:extLst xmlns:a="http://schemas.openxmlformats.org/drawingml/2006/main">
              <a:ext uri="{FF2B5EF4-FFF2-40B4-BE49-F238E27FC236}">
                <a16:creationId xmlns:a16="http://schemas.microsoft.com/office/drawing/2014/main" id="{C08A3ADE-4312-4868-9FC7-9BD8E7158D04}"/>
              </a:ext>
            </a:extLst>
          </p:cNvPr>
          <p:cNvSpPr>
            <a:spLocks xmlns:a="http://schemas.openxmlformats.org/drawingml/2006/main" noGrp="1"/>
          </p:cNvSpPr>
          <p:nvPr/>
        </p:nvSpPr>
        <p:spPr>
          <a:xfrm xmlns:a="http://schemas.openxmlformats.org/drawingml/2006/main">
            <a:off x="3429000" y="48387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0">
                <a:solidFill>
                  <a:srgbClr val="536270"/>
                </a:solidFill>
              </a:defRPr>
            </a:pPr>
            <a:r>
              <a:rPr sz="1800" b="0">
                <a:solidFill>
                  <a:srgbClr val="536270"/>
                </a:solidFill>
              </a:rPr>
              <a:t>valores respeitam regras e escalas?</a:t>
            </a:r>
          </a:p>
        </p:txBody>
      </p:sp>
    </p:spTree>
    <p:extLst>
      <p:ext uri="{BB962C8B-B14F-4D97-AF65-F5344CB8AC3E}">
        <p14:creationId xmlns:p14="http://schemas.microsoft.com/office/powerpoint/2010/main" val="15673467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F5B7E2CB-86AD-4143-8439-686E95DAED53}"/>
              </a:ext>
            </a:extLst>
          </p:cNvPr>
          <p:cNvSpPr>
            <a:spLocks xmlns:a="http://schemas.openxmlformats.org/drawingml/2006/main" noGrp="1"/>
          </p:cNvSpPr>
          <p:nvPr/>
        </p:nvSpPr>
        <p:spPr>
          <a:xfrm xmlns:a="http://schemas.openxmlformats.org/drawingml/2006/main">
            <a:off x="552450" y="20955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26BFF"/>
                </a:solidFill>
              </a:defRPr>
            </a:pPr>
            <a:r>
              <a:rPr sz="1050" b="1">
                <a:solidFill>
                  <a:srgbClr val="126BFF"/>
                </a:solidFill>
              </a:rPr>
              <a:t>TIPOS DE VARIÁVEIS</a:t>
            </a:r>
          </a:p>
        </p:txBody>
      </p:sp>
      <p:sp>
        <p:nvSpPr>
          <p:cNvPr id="2" name="text">
            <a:extLst xmlns:a="http://schemas.openxmlformats.org/drawingml/2006/main">
              <a:ext uri="{FF2B5EF4-FFF2-40B4-BE49-F238E27FC236}">
                <a16:creationId xmlns:a16="http://schemas.microsoft.com/office/drawing/2014/main" id="{61ECD296-D24C-4993-910E-4CD42B9E9411}"/>
              </a:ext>
            </a:extLst>
          </p:cNvPr>
          <p:cNvSpPr>
            <a:spLocks xmlns:a="http://schemas.openxmlformats.org/drawingml/2006/main" noGrp="1"/>
          </p:cNvSpPr>
          <p:nvPr/>
        </p:nvSpPr>
        <p:spPr>
          <a:xfrm xmlns:a="http://schemas.openxmlformats.org/drawingml/2006/main">
            <a:off x="552450" y="45720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4202B"/>
                </a:solidFill>
              </a:defRPr>
            </a:pPr>
            <a:r>
              <a:rPr sz="3600" b="1">
                <a:solidFill>
                  <a:srgbClr val="14202B"/>
                </a:solidFill>
              </a:rPr>
              <a:t>O tipo da variável determina a pergunta e o gráfico</a:t>
            </a:r>
          </a:p>
        </p:txBody>
      </p:sp>
      <p:sp>
        <p:nvSpPr>
          <p:cNvPr id="3" name="">
            <a:extLst xmlns:a="http://schemas.openxmlformats.org/drawingml/2006/main">
              <a:ext uri="{FF2B5EF4-FFF2-40B4-BE49-F238E27FC236}">
                <a16:creationId xmlns:a16="http://schemas.microsoft.com/office/drawing/2014/main" id="{5B49ECC8-D301-4DE8-B9B8-8E131DB561CB}"/>
              </a:ext>
            </a:extLst>
          </p:cNvPr>
          <p:cNvSpPr>
            <a:spLocks xmlns:a="http://schemas.openxmlformats.org/drawingml/2006/main" noGrp="1"/>
          </p:cNvSpPr>
          <p:nvPr/>
        </p:nvSpPr>
        <p:spPr>
          <a:xfrm xmlns:a="http://schemas.openxmlformats.org/drawingml/2006/main">
            <a:off x="552450" y="1238250"/>
            <a:ext cx="11087100" cy="0"/>
          </a:xfrm>
          <a:prstGeom xmlns:a="http://schemas.openxmlformats.org/drawingml/2006/main" prst="line">
            <a:avLst/>
          </a:prstGeom>
          <a:noFill xmlns:a="http://schemas.openxmlformats.org/drawingml/2006/main"/>
          <a:ln xmlns:a="http://schemas.openxmlformats.org/drawingml/2006/main" w="9525">
            <a:solidFill>
              <a:srgbClr val="C9D3DC"/>
            </a:solidFill>
            <a:prstDash val="solid"/>
          </a:ln>
        </p:spPr>
      </p:sp>
      <p:sp>
        <p:nvSpPr>
          <p:cNvPr id="4" name="text">
            <a:extLst xmlns:a="http://schemas.openxmlformats.org/drawingml/2006/main">
              <a:ext uri="{FF2B5EF4-FFF2-40B4-BE49-F238E27FC236}">
                <a16:creationId xmlns:a16="http://schemas.microsoft.com/office/drawing/2014/main" id="{152C4C24-5C5A-446D-A2C7-1EEAB1D4DF56}"/>
              </a:ext>
            </a:extLst>
          </p:cNvPr>
          <p:cNvSpPr>
            <a:spLocks xmlns:a="http://schemas.openxmlformats.org/drawingml/2006/main" noGrp="1"/>
          </p:cNvSpPr>
          <p:nvPr/>
        </p:nvSpPr>
        <p:spPr>
          <a:xfrm xmlns:a="http://schemas.openxmlformats.org/drawingml/2006/main">
            <a:off x="1118235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536270"/>
                </a:solidFill>
              </a:defRPr>
            </a:pPr>
            <a:r>
              <a:rPr sz="975" b="1">
                <a:solidFill>
                  <a:srgbClr val="536270"/>
                </a:solidFill>
              </a:rPr>
              <a:t>06</a:t>
            </a:r>
          </a:p>
        </p:txBody>
      </p:sp>
      <p:sp>
        <p:nvSpPr>
          <p:cNvPr id="5" name="shape">
            <a:extLst xmlns:a="http://schemas.openxmlformats.org/drawingml/2006/main">
              <a:ext uri="{FF2B5EF4-FFF2-40B4-BE49-F238E27FC236}">
                <a16:creationId xmlns:a16="http://schemas.microsoft.com/office/drawing/2014/main" id="{D2A8A45C-A690-4B7C-9198-E45E79CAFAA3}"/>
              </a:ext>
            </a:extLst>
          </p:cNvPr>
          <p:cNvSpPr>
            <a:spLocks xmlns:a="http://schemas.openxmlformats.org/drawingml/2006/main" noGrp="1"/>
          </p:cNvSpPr>
          <p:nvPr/>
        </p:nvSpPr>
        <p:spPr>
          <a:xfrm xmlns:a="http://schemas.openxmlformats.org/drawingml/2006/main">
            <a:off x="552450" y="1581150"/>
            <a:ext cx="3333750" cy="3333750"/>
          </a:xfrm>
          <a:prstGeom xmlns:a="http://schemas.openxmlformats.org/drawingml/2006/main" prst="roundRect">
            <a:avLst>
              <a:gd name="adj" fmla="val 2286"/>
            </a:avLst>
          </a:prstGeom>
          <a:solidFill xmlns:a="http://schemas.openxmlformats.org/drawingml/2006/main">
            <a:srgbClr val="F7F9FB"/>
          </a:solidFill>
          <a:ln xmlns:a="http://schemas.openxmlformats.org/drawingml/2006/main" w="9525">
            <a:solidFill>
              <a:srgbClr val="C9D3DC"/>
            </a:solidFill>
            <a:prstDash val="solid"/>
          </a:ln>
        </p:spPr>
      </p:sp>
      <p:sp>
        <p:nvSpPr>
          <p:cNvPr id="6" name="shape">
            <a:extLst xmlns:a="http://schemas.openxmlformats.org/drawingml/2006/main">
              <a:ext uri="{FF2B5EF4-FFF2-40B4-BE49-F238E27FC236}">
                <a16:creationId xmlns:a16="http://schemas.microsoft.com/office/drawing/2014/main" id="{F15D1107-82B9-4A5E-928E-F2373D829B3B}"/>
              </a:ext>
            </a:extLst>
          </p:cNvPr>
          <p:cNvSpPr>
            <a:spLocks xmlns:a="http://schemas.openxmlformats.org/drawingml/2006/main" noGrp="1"/>
          </p:cNvSpPr>
          <p:nvPr/>
        </p:nvSpPr>
        <p:spPr>
          <a:xfrm xmlns:a="http://schemas.openxmlformats.org/drawingml/2006/main">
            <a:off x="552450" y="1581150"/>
            <a:ext cx="114300" cy="3333750"/>
          </a:xfrm>
          <a:prstGeom xmlns:a="http://schemas.openxmlformats.org/drawingml/2006/main" prst="rect">
            <a:avLst/>
          </a:prstGeom>
          <a:solidFill xmlns:a="http://schemas.openxmlformats.org/drawingml/2006/main">
            <a:srgbClr val="126BFF"/>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363DDF1A-147A-46D8-9F66-882089AAB3A4}"/>
              </a:ext>
            </a:extLst>
          </p:cNvPr>
          <p:cNvSpPr>
            <a:spLocks xmlns:a="http://schemas.openxmlformats.org/drawingml/2006/main" noGrp="1"/>
          </p:cNvSpPr>
          <p:nvPr/>
        </p:nvSpPr>
        <p:spPr>
          <a:xfrm xmlns:a="http://schemas.openxmlformats.org/drawingml/2006/main">
            <a:off x="838200" y="17716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26BFF"/>
                </a:solidFill>
              </a:defRPr>
            </a:pPr>
            <a:r>
              <a:rPr sz="1800" b="1">
                <a:solidFill>
                  <a:srgbClr val="126BFF"/>
                </a:solidFill>
              </a:rPr>
              <a:t>CATEGÓRICA</a:t>
            </a:r>
          </a:p>
        </p:txBody>
      </p:sp>
      <p:sp>
        <p:nvSpPr>
          <p:cNvPr id="8" name="text">
            <a:extLst xmlns:a="http://schemas.openxmlformats.org/drawingml/2006/main">
              <a:ext uri="{FF2B5EF4-FFF2-40B4-BE49-F238E27FC236}">
                <a16:creationId xmlns:a16="http://schemas.microsoft.com/office/drawing/2014/main" id="{80E7FBDE-353D-4E92-9B45-0451DB828068}"/>
              </a:ext>
            </a:extLst>
          </p:cNvPr>
          <p:cNvSpPr>
            <a:spLocks xmlns:a="http://schemas.openxmlformats.org/drawingml/2006/main" noGrp="1"/>
          </p:cNvSpPr>
          <p:nvPr/>
        </p:nvSpPr>
        <p:spPr>
          <a:xfrm xmlns:a="http://schemas.openxmlformats.org/drawingml/2006/main">
            <a:off x="838200" y="2295525"/>
            <a:ext cx="2857500" cy="2457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4202B"/>
                </a:solidFill>
              </a:defRPr>
            </a:pPr>
            <a:r>
              <a:rPr sz="1575" b="0">
                <a:solidFill>
                  <a:srgbClr val="14202B"/>
                </a:solidFill>
              </a:rPr>
              <a:t>Perguntas sobre frequência, proporção e comparação entre grupos.</a:t>
            </a:r>
          </a:p>
          <a:p xmlns:a="http://schemas.openxmlformats.org/drawingml/2006/main">
            <a:r>
              <a:t/>
            </a:r>
          </a:p>
          <a:p xmlns:a="http://schemas.openxmlformats.org/drawingml/2006/main">
            <a:pPr algn="l">
              <a:defRPr sz="1575" b="0">
                <a:solidFill>
                  <a:srgbClr val="14202B"/>
                </a:solidFill>
              </a:defRPr>
            </a:pPr>
            <a:r>
              <a:rPr sz="1575" b="0">
                <a:solidFill>
                  <a:srgbClr val="14202B"/>
                </a:solidFill>
              </a:rPr>
              <a:t>Nominal: sem ordem.</a:t>
            </a:r>
          </a:p>
          <a:p xmlns:a="http://schemas.openxmlformats.org/drawingml/2006/main">
            <a:pPr algn="l">
              <a:defRPr sz="1575" b="0">
                <a:solidFill>
                  <a:srgbClr val="14202B"/>
                </a:solidFill>
              </a:defRPr>
            </a:pPr>
            <a:r>
              <a:rPr sz="1575" b="0">
                <a:solidFill>
                  <a:srgbClr val="14202B"/>
                </a:solidFill>
              </a:rPr>
              <a:t>Ordinal: com ordem.</a:t>
            </a:r>
          </a:p>
        </p:txBody>
      </p:sp>
      <p:sp>
        <p:nvSpPr>
          <p:cNvPr id="9" name="shape">
            <a:extLst xmlns:a="http://schemas.openxmlformats.org/drawingml/2006/main">
              <a:ext uri="{FF2B5EF4-FFF2-40B4-BE49-F238E27FC236}">
                <a16:creationId xmlns:a16="http://schemas.microsoft.com/office/drawing/2014/main" id="{932E0FA7-8A97-4855-B831-4CCF3176740C}"/>
              </a:ext>
            </a:extLst>
          </p:cNvPr>
          <p:cNvSpPr>
            <a:spLocks xmlns:a="http://schemas.openxmlformats.org/drawingml/2006/main" noGrp="1"/>
          </p:cNvSpPr>
          <p:nvPr/>
        </p:nvSpPr>
        <p:spPr>
          <a:xfrm xmlns:a="http://schemas.openxmlformats.org/drawingml/2006/main">
            <a:off x="4429125" y="1581150"/>
            <a:ext cx="3333750" cy="3333750"/>
          </a:xfrm>
          <a:prstGeom xmlns:a="http://schemas.openxmlformats.org/drawingml/2006/main" prst="roundRect">
            <a:avLst>
              <a:gd name="adj" fmla="val 2286"/>
            </a:avLst>
          </a:prstGeom>
          <a:solidFill xmlns:a="http://schemas.openxmlformats.org/drawingml/2006/main">
            <a:srgbClr val="F7F9FB"/>
          </a:solidFill>
          <a:ln xmlns:a="http://schemas.openxmlformats.org/drawingml/2006/main" w="9525">
            <a:solidFill>
              <a:srgbClr val="C9D3DC"/>
            </a:solidFill>
            <a:prstDash val="solid"/>
          </a:ln>
        </p:spPr>
      </p:sp>
      <p:sp>
        <p:nvSpPr>
          <p:cNvPr id="10" name="shape">
            <a:extLst xmlns:a="http://schemas.openxmlformats.org/drawingml/2006/main">
              <a:ext uri="{FF2B5EF4-FFF2-40B4-BE49-F238E27FC236}">
                <a16:creationId xmlns:a16="http://schemas.microsoft.com/office/drawing/2014/main" id="{A175BF30-881C-4405-B696-C8C35F40EF3A}"/>
              </a:ext>
            </a:extLst>
          </p:cNvPr>
          <p:cNvSpPr>
            <a:spLocks xmlns:a="http://schemas.openxmlformats.org/drawingml/2006/main" noGrp="1"/>
          </p:cNvSpPr>
          <p:nvPr/>
        </p:nvSpPr>
        <p:spPr>
          <a:xfrm xmlns:a="http://schemas.openxmlformats.org/drawingml/2006/main">
            <a:off x="4429125" y="1581150"/>
            <a:ext cx="114300" cy="3333750"/>
          </a:xfrm>
          <a:prstGeom xmlns:a="http://schemas.openxmlformats.org/drawingml/2006/main" prst="rect">
            <a:avLst/>
          </a:prstGeom>
          <a:solidFill xmlns:a="http://schemas.openxmlformats.org/drawingml/2006/main">
            <a:srgbClr val="12A889"/>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54D9E96B-F99A-41D2-924E-FE5EAAF3C08C}"/>
              </a:ext>
            </a:extLst>
          </p:cNvPr>
          <p:cNvSpPr>
            <a:spLocks xmlns:a="http://schemas.openxmlformats.org/drawingml/2006/main" noGrp="1"/>
          </p:cNvSpPr>
          <p:nvPr/>
        </p:nvSpPr>
        <p:spPr>
          <a:xfrm xmlns:a="http://schemas.openxmlformats.org/drawingml/2006/main">
            <a:off x="4714875" y="17716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2A889"/>
                </a:solidFill>
              </a:defRPr>
            </a:pPr>
            <a:r>
              <a:rPr sz="1800" b="1">
                <a:solidFill>
                  <a:srgbClr val="12A889"/>
                </a:solidFill>
              </a:rPr>
              <a:t>NUMÉRICA</a:t>
            </a:r>
          </a:p>
        </p:txBody>
      </p:sp>
      <p:sp>
        <p:nvSpPr>
          <p:cNvPr id="12" name="text">
            <a:extLst xmlns:a="http://schemas.openxmlformats.org/drawingml/2006/main">
              <a:ext uri="{FF2B5EF4-FFF2-40B4-BE49-F238E27FC236}">
                <a16:creationId xmlns:a16="http://schemas.microsoft.com/office/drawing/2014/main" id="{3C6BC2FD-BAFE-416A-A70F-E01E0A9E5CFA}"/>
              </a:ext>
            </a:extLst>
          </p:cNvPr>
          <p:cNvSpPr>
            <a:spLocks xmlns:a="http://schemas.openxmlformats.org/drawingml/2006/main" noGrp="1"/>
          </p:cNvSpPr>
          <p:nvPr/>
        </p:nvSpPr>
        <p:spPr>
          <a:xfrm xmlns:a="http://schemas.openxmlformats.org/drawingml/2006/main">
            <a:off x="4714875" y="2295525"/>
            <a:ext cx="2857500" cy="2457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4202B"/>
                </a:solidFill>
              </a:defRPr>
            </a:pPr>
            <a:r>
              <a:rPr sz="1575" b="0">
                <a:solidFill>
                  <a:srgbClr val="14202B"/>
                </a:solidFill>
              </a:rPr>
              <a:t>Perguntas sobre magnitude, centro, dispersão e relação.</a:t>
            </a:r>
          </a:p>
          <a:p xmlns:a="http://schemas.openxmlformats.org/drawingml/2006/main">
            <a:r>
              <a:t/>
            </a:r>
          </a:p>
          <a:p xmlns:a="http://schemas.openxmlformats.org/drawingml/2006/main">
            <a:pPr algn="l">
              <a:defRPr sz="1575" b="0">
                <a:solidFill>
                  <a:srgbClr val="14202B"/>
                </a:solidFill>
              </a:defRPr>
            </a:pPr>
            <a:r>
              <a:rPr sz="1575" b="0">
                <a:solidFill>
                  <a:srgbClr val="14202B"/>
                </a:solidFill>
              </a:rPr>
              <a:t>Discreta: contagem.</a:t>
            </a:r>
          </a:p>
          <a:p xmlns:a="http://schemas.openxmlformats.org/drawingml/2006/main">
            <a:pPr algn="l">
              <a:defRPr sz="1575" b="0">
                <a:solidFill>
                  <a:srgbClr val="14202B"/>
                </a:solidFill>
              </a:defRPr>
            </a:pPr>
            <a:r>
              <a:rPr sz="1575" b="0">
                <a:solidFill>
                  <a:srgbClr val="14202B"/>
                </a:solidFill>
              </a:rPr>
              <a:t>Contínua: medição.</a:t>
            </a:r>
          </a:p>
        </p:txBody>
      </p:sp>
      <p:sp>
        <p:nvSpPr>
          <p:cNvPr id="13" name="shape">
            <a:extLst xmlns:a="http://schemas.openxmlformats.org/drawingml/2006/main">
              <a:ext uri="{FF2B5EF4-FFF2-40B4-BE49-F238E27FC236}">
                <a16:creationId xmlns:a16="http://schemas.microsoft.com/office/drawing/2014/main" id="{A1A4B11E-168F-4CC6-9BCB-0B478B8EB4FC}"/>
              </a:ext>
            </a:extLst>
          </p:cNvPr>
          <p:cNvSpPr>
            <a:spLocks xmlns:a="http://schemas.openxmlformats.org/drawingml/2006/main" noGrp="1"/>
          </p:cNvSpPr>
          <p:nvPr/>
        </p:nvSpPr>
        <p:spPr>
          <a:xfrm xmlns:a="http://schemas.openxmlformats.org/drawingml/2006/main">
            <a:off x="8305800" y="1581150"/>
            <a:ext cx="3333750" cy="3333750"/>
          </a:xfrm>
          <a:prstGeom xmlns:a="http://schemas.openxmlformats.org/drawingml/2006/main" prst="roundRect">
            <a:avLst>
              <a:gd name="adj" fmla="val 2286"/>
            </a:avLst>
          </a:prstGeom>
          <a:solidFill xmlns:a="http://schemas.openxmlformats.org/drawingml/2006/main">
            <a:srgbClr val="F7F9FB"/>
          </a:solidFill>
          <a:ln xmlns:a="http://schemas.openxmlformats.org/drawingml/2006/main" w="9525">
            <a:solidFill>
              <a:srgbClr val="C9D3DC"/>
            </a:solidFill>
            <a:prstDash val="solid"/>
          </a:ln>
        </p:spPr>
      </p:sp>
      <p:sp>
        <p:nvSpPr>
          <p:cNvPr id="14" name="shape">
            <a:extLst xmlns:a="http://schemas.openxmlformats.org/drawingml/2006/main">
              <a:ext uri="{FF2B5EF4-FFF2-40B4-BE49-F238E27FC236}">
                <a16:creationId xmlns:a16="http://schemas.microsoft.com/office/drawing/2014/main" id="{5E103E66-F7EF-4C6A-9F2E-C4EAF9D52C29}"/>
              </a:ext>
            </a:extLst>
          </p:cNvPr>
          <p:cNvSpPr>
            <a:spLocks xmlns:a="http://schemas.openxmlformats.org/drawingml/2006/main" noGrp="1"/>
          </p:cNvSpPr>
          <p:nvPr/>
        </p:nvSpPr>
        <p:spPr>
          <a:xfrm xmlns:a="http://schemas.openxmlformats.org/drawingml/2006/main">
            <a:off x="8305800" y="1581150"/>
            <a:ext cx="114300" cy="3333750"/>
          </a:xfrm>
          <a:prstGeom xmlns:a="http://schemas.openxmlformats.org/drawingml/2006/main" prst="rect">
            <a:avLst/>
          </a:prstGeom>
          <a:solidFill xmlns:a="http://schemas.openxmlformats.org/drawingml/2006/main">
            <a:srgbClr val="F2A93B"/>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0BE3BF23-0102-409B-A7B7-58367788372B}"/>
              </a:ext>
            </a:extLst>
          </p:cNvPr>
          <p:cNvSpPr>
            <a:spLocks xmlns:a="http://schemas.openxmlformats.org/drawingml/2006/main" noGrp="1"/>
          </p:cNvSpPr>
          <p:nvPr/>
        </p:nvSpPr>
        <p:spPr>
          <a:xfrm xmlns:a="http://schemas.openxmlformats.org/drawingml/2006/main">
            <a:off x="8591550" y="17716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F2A93B"/>
                </a:solidFill>
              </a:defRPr>
            </a:pPr>
            <a:r>
              <a:rPr sz="1800" b="1">
                <a:solidFill>
                  <a:srgbClr val="F2A93B"/>
                </a:solidFill>
              </a:rPr>
              <a:t>TEMPORAL</a:t>
            </a:r>
          </a:p>
        </p:txBody>
      </p:sp>
      <p:sp>
        <p:nvSpPr>
          <p:cNvPr id="16" name="text">
            <a:extLst xmlns:a="http://schemas.openxmlformats.org/drawingml/2006/main">
              <a:ext uri="{FF2B5EF4-FFF2-40B4-BE49-F238E27FC236}">
                <a16:creationId xmlns:a16="http://schemas.microsoft.com/office/drawing/2014/main" id="{E867DBE7-D6C2-4CC6-B11F-249A5EB61E2F}"/>
              </a:ext>
            </a:extLst>
          </p:cNvPr>
          <p:cNvSpPr>
            <a:spLocks xmlns:a="http://schemas.openxmlformats.org/drawingml/2006/main" noGrp="1"/>
          </p:cNvSpPr>
          <p:nvPr/>
        </p:nvSpPr>
        <p:spPr>
          <a:xfrm xmlns:a="http://schemas.openxmlformats.org/drawingml/2006/main">
            <a:off x="8591550" y="2295525"/>
            <a:ext cx="2857500" cy="2457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4202B"/>
                </a:solidFill>
              </a:defRPr>
            </a:pPr>
            <a:r>
              <a:rPr sz="1575" b="0">
                <a:solidFill>
                  <a:srgbClr val="14202B"/>
                </a:solidFill>
              </a:rPr>
              <a:t>Perguntas sobre sequência, tendência, sazonalidade e mudança.</a:t>
            </a:r>
          </a:p>
          <a:p xmlns:a="http://schemas.openxmlformats.org/drawingml/2006/main">
            <a:r>
              <a:t/>
            </a:r>
          </a:p>
          <a:p xmlns:a="http://schemas.openxmlformats.org/drawingml/2006/main">
            <a:pPr algn="l">
              <a:defRPr sz="1575" b="0">
                <a:solidFill>
                  <a:srgbClr val="14202B"/>
                </a:solidFill>
              </a:defRPr>
            </a:pPr>
            <a:r>
              <a:rPr sz="1575" b="0">
                <a:solidFill>
                  <a:srgbClr val="14202B"/>
                </a:solidFill>
              </a:rPr>
              <a:t>A ordem faz parte da informação.</a:t>
            </a:r>
          </a:p>
        </p:txBody>
      </p:sp>
      <p:sp>
        <p:nvSpPr>
          <p:cNvPr id="17" name="text">
            <a:extLst xmlns:a="http://schemas.openxmlformats.org/drawingml/2006/main">
              <a:ext uri="{FF2B5EF4-FFF2-40B4-BE49-F238E27FC236}">
                <a16:creationId xmlns:a16="http://schemas.microsoft.com/office/drawing/2014/main" id="{61CB2143-0069-469B-BDB5-7E4CFDE85FE5}"/>
              </a:ext>
            </a:extLst>
          </p:cNvPr>
          <p:cNvSpPr>
            <a:spLocks xmlns:a="http://schemas.openxmlformats.org/drawingml/2006/main" noGrp="1"/>
          </p:cNvSpPr>
          <p:nvPr/>
        </p:nvSpPr>
        <p:spPr>
          <a:xfrm xmlns:a="http://schemas.openxmlformats.org/drawingml/2006/main">
            <a:off x="552450" y="542925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071A2B"/>
                </a:solidFill>
              </a:defRPr>
            </a:pPr>
            <a:r>
              <a:rPr sz="1800" b="1">
                <a:solidFill>
                  <a:srgbClr val="071A2B"/>
                </a:solidFill>
              </a:rPr>
              <a:t>Escolher o gráfico antes de classificar a variável costuma produzir visualizações enganosas.</a:t>
            </a:r>
          </a:p>
        </p:txBody>
      </p:sp>
    </p:spTree>
    <p:extLst>
      <p:ext uri="{BB962C8B-B14F-4D97-AF65-F5344CB8AC3E}">
        <p14:creationId xmlns:p14="http://schemas.microsoft.com/office/powerpoint/2010/main" val="31468155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9A573448-2985-45A8-B465-E875D069B747}"/>
              </a:ext>
            </a:extLst>
          </p:cNvPr>
          <p:cNvSpPr>
            <a:spLocks xmlns:a="http://schemas.openxmlformats.org/drawingml/2006/main" noGrp="1"/>
          </p:cNvSpPr>
          <p:nvPr/>
        </p:nvSpPr>
        <p:spPr>
          <a:xfrm xmlns:a="http://schemas.openxmlformats.org/drawingml/2006/main">
            <a:off x="552450" y="20955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26BFF"/>
                </a:solidFill>
              </a:defRPr>
            </a:pPr>
            <a:r>
              <a:rPr sz="1050" b="1">
                <a:solidFill>
                  <a:srgbClr val="126BFF"/>
                </a:solidFill>
              </a:rPr>
              <a:t>ANÁLISE UNIVARIADA</a:t>
            </a:r>
          </a:p>
        </p:txBody>
      </p:sp>
      <p:sp>
        <p:nvSpPr>
          <p:cNvPr id="2" name="text">
            <a:extLst xmlns:a="http://schemas.openxmlformats.org/drawingml/2006/main">
              <a:ext uri="{FF2B5EF4-FFF2-40B4-BE49-F238E27FC236}">
                <a16:creationId xmlns:a16="http://schemas.microsoft.com/office/drawing/2014/main" id="{2DE4C69B-0954-494B-A8FC-AA33EA1A3B68}"/>
              </a:ext>
            </a:extLst>
          </p:cNvPr>
          <p:cNvSpPr>
            <a:spLocks xmlns:a="http://schemas.openxmlformats.org/drawingml/2006/main" noGrp="1"/>
          </p:cNvSpPr>
          <p:nvPr/>
        </p:nvSpPr>
        <p:spPr>
          <a:xfrm xmlns:a="http://schemas.openxmlformats.org/drawingml/2006/main">
            <a:off x="552450" y="45720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4202B"/>
                </a:solidFill>
              </a:defRPr>
            </a:pPr>
            <a:r>
              <a:rPr sz="3600" b="1">
                <a:solidFill>
                  <a:srgbClr val="14202B"/>
                </a:solidFill>
              </a:rPr>
              <a:t>Uma variável categórica pede frequência e proporção</a:t>
            </a:r>
          </a:p>
        </p:txBody>
      </p:sp>
      <p:sp>
        <p:nvSpPr>
          <p:cNvPr id="3" name="">
            <a:extLst xmlns:a="http://schemas.openxmlformats.org/drawingml/2006/main">
              <a:ext uri="{FF2B5EF4-FFF2-40B4-BE49-F238E27FC236}">
                <a16:creationId xmlns:a16="http://schemas.microsoft.com/office/drawing/2014/main" id="{4FDF70EF-6D14-4262-98FA-E3146440C2EC}"/>
              </a:ext>
            </a:extLst>
          </p:cNvPr>
          <p:cNvSpPr>
            <a:spLocks xmlns:a="http://schemas.openxmlformats.org/drawingml/2006/main" noGrp="1"/>
          </p:cNvSpPr>
          <p:nvPr/>
        </p:nvSpPr>
        <p:spPr>
          <a:xfrm xmlns:a="http://schemas.openxmlformats.org/drawingml/2006/main">
            <a:off x="552450" y="1238250"/>
            <a:ext cx="11087100" cy="0"/>
          </a:xfrm>
          <a:prstGeom xmlns:a="http://schemas.openxmlformats.org/drawingml/2006/main" prst="line">
            <a:avLst/>
          </a:prstGeom>
          <a:noFill xmlns:a="http://schemas.openxmlformats.org/drawingml/2006/main"/>
          <a:ln xmlns:a="http://schemas.openxmlformats.org/drawingml/2006/main" w="9525">
            <a:solidFill>
              <a:srgbClr val="C9D3DC"/>
            </a:solidFill>
            <a:prstDash val="solid"/>
          </a:ln>
        </p:spPr>
      </p:sp>
      <p:sp>
        <p:nvSpPr>
          <p:cNvPr id="4" name="text">
            <a:extLst xmlns:a="http://schemas.openxmlformats.org/drawingml/2006/main">
              <a:ext uri="{FF2B5EF4-FFF2-40B4-BE49-F238E27FC236}">
                <a16:creationId xmlns:a16="http://schemas.microsoft.com/office/drawing/2014/main" id="{59F78CFC-0C44-4E1A-AF8D-9D200A605860}"/>
              </a:ext>
            </a:extLst>
          </p:cNvPr>
          <p:cNvSpPr>
            <a:spLocks xmlns:a="http://schemas.openxmlformats.org/drawingml/2006/main" noGrp="1"/>
          </p:cNvSpPr>
          <p:nvPr/>
        </p:nvSpPr>
        <p:spPr>
          <a:xfrm xmlns:a="http://schemas.openxmlformats.org/drawingml/2006/main">
            <a:off x="1118235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536270"/>
                </a:solidFill>
              </a:defRPr>
            </a:pPr>
            <a:r>
              <a:rPr sz="975" b="1">
                <a:solidFill>
                  <a:srgbClr val="536270"/>
                </a:solidFill>
              </a:rPr>
              <a:t>07</a:t>
            </a:r>
          </a:p>
        </p:txBody>
      </p:sp>
      <p:graphicFrame>
        <p:nvGraphicFramePr>
          <p:cNvPr id="21" name="Chart"/>
          <p:cNvGraphicFramePr/>
          <p:nvPr/>
        </p:nvGraphicFramePr>
        <p:xfrm>
          <a:off xmlns:a="http://schemas.openxmlformats.org/drawingml/2006/main" x="552450" y="1666875"/>
          <a:ext xmlns:a="http://schemas.openxmlformats.org/drawingml/2006/main" cx="6477000" cy="3905250"/>
        </p:xfrm>
        <a:graphic xmlns:a="http://schemas.openxmlformats.org/drawingml/2006/main">
          <a:graphicData uri="http://schemas.openxmlformats.org/drawingml/2006/chart">
            <c:chart xmlns:r="http://schemas.openxmlformats.org/officeDocument/2006/relationships" xmlns:c="http://schemas.openxmlformats.org/drawingml/2006/chart" r:id="R7c68a710875c4efe"/>
          </a:graphicData>
        </a:graphic>
      </p:graphicFrame>
      <p:sp>
        <p:nvSpPr>
          <p:cNvPr id="6" name="text">
            <a:extLst xmlns:a="http://schemas.openxmlformats.org/drawingml/2006/main">
              <a:ext uri="{FF2B5EF4-FFF2-40B4-BE49-F238E27FC236}">
                <a16:creationId xmlns:a16="http://schemas.microsoft.com/office/drawing/2014/main" id="{30B9447F-E75B-48AC-A74E-28ADFECFA5BF}"/>
              </a:ext>
            </a:extLst>
          </p:cNvPr>
          <p:cNvSpPr>
            <a:spLocks xmlns:a="http://schemas.openxmlformats.org/drawingml/2006/main" noGrp="1"/>
          </p:cNvSpPr>
          <p:nvPr/>
        </p:nvSpPr>
        <p:spPr>
          <a:xfrm xmlns:a="http://schemas.openxmlformats.org/drawingml/2006/main">
            <a:off x="7524750" y="171450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26BFF"/>
                </a:solidFill>
              </a:defRPr>
            </a:pPr>
            <a:r>
              <a:rPr sz="1800" b="1">
                <a:solidFill>
                  <a:srgbClr val="126BFF"/>
                </a:solidFill>
              </a:rPr>
              <a:t>Perguntas</a:t>
            </a:r>
          </a:p>
        </p:txBody>
      </p:sp>
      <p:sp>
        <p:nvSpPr>
          <p:cNvPr id="7" name="text">
            <a:extLst xmlns:a="http://schemas.openxmlformats.org/drawingml/2006/main">
              <a:ext uri="{FF2B5EF4-FFF2-40B4-BE49-F238E27FC236}">
                <a16:creationId xmlns:a16="http://schemas.microsoft.com/office/drawing/2014/main" id="{3F15BB88-2B00-4757-931F-A932BA66B5F9}"/>
              </a:ext>
            </a:extLst>
          </p:cNvPr>
          <p:cNvSpPr>
            <a:spLocks xmlns:a="http://schemas.openxmlformats.org/drawingml/2006/main" noGrp="1"/>
          </p:cNvSpPr>
          <p:nvPr/>
        </p:nvSpPr>
        <p:spPr>
          <a:xfrm xmlns:a="http://schemas.openxmlformats.org/drawingml/2006/main">
            <a:off x="7524750" y="2333625"/>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26BFF"/>
                </a:solidFill>
              </a:defRPr>
            </a:pPr>
            <a:r>
              <a:rPr sz="1650" b="1">
                <a:solidFill>
                  <a:srgbClr val="126BFF"/>
                </a:solidFill>
              </a:rPr>
              <a:t>→</a:t>
            </a:r>
          </a:p>
        </p:txBody>
      </p:sp>
      <p:sp>
        <p:nvSpPr>
          <p:cNvPr id="8" name="text">
            <a:extLst xmlns:a="http://schemas.openxmlformats.org/drawingml/2006/main">
              <a:ext uri="{FF2B5EF4-FFF2-40B4-BE49-F238E27FC236}">
                <a16:creationId xmlns:a16="http://schemas.microsoft.com/office/drawing/2014/main" id="{58D18501-5013-4FF9-A2D7-CB7162A9A089}"/>
              </a:ext>
            </a:extLst>
          </p:cNvPr>
          <p:cNvSpPr>
            <a:spLocks xmlns:a="http://schemas.openxmlformats.org/drawingml/2006/main" noGrp="1"/>
          </p:cNvSpPr>
          <p:nvPr/>
        </p:nvSpPr>
        <p:spPr>
          <a:xfrm xmlns:a="http://schemas.openxmlformats.org/drawingml/2006/main">
            <a:off x="7953375" y="2276475"/>
            <a:ext cx="3524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4202B"/>
                </a:solidFill>
              </a:defRPr>
            </a:pPr>
            <a:r>
              <a:rPr sz="1575" b="0">
                <a:solidFill>
                  <a:srgbClr val="14202B"/>
                </a:solidFill>
              </a:rPr>
              <a:t>Qual grupo é mais frequente?</a:t>
            </a:r>
          </a:p>
        </p:txBody>
      </p:sp>
      <p:sp>
        <p:nvSpPr>
          <p:cNvPr id="9" name="text">
            <a:extLst xmlns:a="http://schemas.openxmlformats.org/drawingml/2006/main">
              <a:ext uri="{FF2B5EF4-FFF2-40B4-BE49-F238E27FC236}">
                <a16:creationId xmlns:a16="http://schemas.microsoft.com/office/drawing/2014/main" id="{FC389CF2-E0A5-46A6-8599-258C72E6472C}"/>
              </a:ext>
            </a:extLst>
          </p:cNvPr>
          <p:cNvSpPr>
            <a:spLocks xmlns:a="http://schemas.openxmlformats.org/drawingml/2006/main" noGrp="1"/>
          </p:cNvSpPr>
          <p:nvPr/>
        </p:nvSpPr>
        <p:spPr>
          <a:xfrm xmlns:a="http://schemas.openxmlformats.org/drawingml/2006/main">
            <a:off x="7524750" y="3019425"/>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26BFF"/>
                </a:solidFill>
              </a:defRPr>
            </a:pPr>
            <a:r>
              <a:rPr sz="1650" b="1">
                <a:solidFill>
                  <a:srgbClr val="126BFF"/>
                </a:solidFill>
              </a:rPr>
              <a:t>→</a:t>
            </a:r>
          </a:p>
        </p:txBody>
      </p:sp>
      <p:sp>
        <p:nvSpPr>
          <p:cNvPr id="10" name="text">
            <a:extLst xmlns:a="http://schemas.openxmlformats.org/drawingml/2006/main">
              <a:ext uri="{FF2B5EF4-FFF2-40B4-BE49-F238E27FC236}">
                <a16:creationId xmlns:a16="http://schemas.microsoft.com/office/drawing/2014/main" id="{D39A50AC-B257-42FC-9E0D-22475D88D567}"/>
              </a:ext>
            </a:extLst>
          </p:cNvPr>
          <p:cNvSpPr>
            <a:spLocks xmlns:a="http://schemas.openxmlformats.org/drawingml/2006/main" noGrp="1"/>
          </p:cNvSpPr>
          <p:nvPr/>
        </p:nvSpPr>
        <p:spPr>
          <a:xfrm xmlns:a="http://schemas.openxmlformats.org/drawingml/2006/main">
            <a:off x="7953375" y="2962275"/>
            <a:ext cx="3524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4202B"/>
                </a:solidFill>
              </a:defRPr>
            </a:pPr>
            <a:r>
              <a:rPr sz="1575" b="0">
                <a:solidFill>
                  <a:srgbClr val="14202B"/>
                </a:solidFill>
              </a:rPr>
              <a:t>Há categorias raras?</a:t>
            </a:r>
          </a:p>
        </p:txBody>
      </p:sp>
      <p:sp>
        <p:nvSpPr>
          <p:cNvPr id="11" name="text">
            <a:extLst xmlns:a="http://schemas.openxmlformats.org/drawingml/2006/main">
              <a:ext uri="{FF2B5EF4-FFF2-40B4-BE49-F238E27FC236}">
                <a16:creationId xmlns:a16="http://schemas.microsoft.com/office/drawing/2014/main" id="{B8685017-02A8-4DAC-AAE2-DEBECAEED0F5}"/>
              </a:ext>
            </a:extLst>
          </p:cNvPr>
          <p:cNvSpPr>
            <a:spLocks xmlns:a="http://schemas.openxmlformats.org/drawingml/2006/main" noGrp="1"/>
          </p:cNvSpPr>
          <p:nvPr/>
        </p:nvSpPr>
        <p:spPr>
          <a:xfrm xmlns:a="http://schemas.openxmlformats.org/drawingml/2006/main">
            <a:off x="7524750" y="3705225"/>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26BFF"/>
                </a:solidFill>
              </a:defRPr>
            </a:pPr>
            <a:r>
              <a:rPr sz="1650" b="1">
                <a:solidFill>
                  <a:srgbClr val="126BFF"/>
                </a:solidFill>
              </a:rPr>
              <a:t>→</a:t>
            </a:r>
          </a:p>
        </p:txBody>
      </p:sp>
      <p:sp>
        <p:nvSpPr>
          <p:cNvPr id="12" name="text">
            <a:extLst xmlns:a="http://schemas.openxmlformats.org/drawingml/2006/main">
              <a:ext uri="{FF2B5EF4-FFF2-40B4-BE49-F238E27FC236}">
                <a16:creationId xmlns:a16="http://schemas.microsoft.com/office/drawing/2014/main" id="{ACA0D52B-9B63-455D-9D8C-CC1DFB6B4ED4}"/>
              </a:ext>
            </a:extLst>
          </p:cNvPr>
          <p:cNvSpPr>
            <a:spLocks xmlns:a="http://schemas.openxmlformats.org/drawingml/2006/main" noGrp="1"/>
          </p:cNvSpPr>
          <p:nvPr/>
        </p:nvSpPr>
        <p:spPr>
          <a:xfrm xmlns:a="http://schemas.openxmlformats.org/drawingml/2006/main">
            <a:off x="7953375" y="3648075"/>
            <a:ext cx="3524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4202B"/>
                </a:solidFill>
              </a:defRPr>
            </a:pPr>
            <a:r>
              <a:rPr sz="1575" b="0">
                <a:solidFill>
                  <a:srgbClr val="14202B"/>
                </a:solidFill>
              </a:rPr>
              <a:t>A ordem visual facilita a comparação?</a:t>
            </a:r>
          </a:p>
        </p:txBody>
      </p:sp>
      <p:sp>
        <p:nvSpPr>
          <p:cNvPr id="13" name="text">
            <a:extLst xmlns:a="http://schemas.openxmlformats.org/drawingml/2006/main">
              <a:ext uri="{FF2B5EF4-FFF2-40B4-BE49-F238E27FC236}">
                <a16:creationId xmlns:a16="http://schemas.microsoft.com/office/drawing/2014/main" id="{8A42613A-1D27-4B7C-8D27-5369E9114090}"/>
              </a:ext>
            </a:extLst>
          </p:cNvPr>
          <p:cNvSpPr>
            <a:spLocks xmlns:a="http://schemas.openxmlformats.org/drawingml/2006/main" noGrp="1"/>
          </p:cNvSpPr>
          <p:nvPr/>
        </p:nvSpPr>
        <p:spPr>
          <a:xfrm xmlns:a="http://schemas.openxmlformats.org/drawingml/2006/main">
            <a:off x="7524750" y="4391025"/>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26BFF"/>
                </a:solidFill>
              </a:defRPr>
            </a:pPr>
            <a:r>
              <a:rPr sz="1650" b="1">
                <a:solidFill>
                  <a:srgbClr val="126BFF"/>
                </a:solidFill>
              </a:rPr>
              <a:t>→</a:t>
            </a:r>
          </a:p>
        </p:txBody>
      </p:sp>
      <p:sp>
        <p:nvSpPr>
          <p:cNvPr id="14" name="text">
            <a:extLst xmlns:a="http://schemas.openxmlformats.org/drawingml/2006/main">
              <a:ext uri="{FF2B5EF4-FFF2-40B4-BE49-F238E27FC236}">
                <a16:creationId xmlns:a16="http://schemas.microsoft.com/office/drawing/2014/main" id="{3EE495BD-7D05-4537-A696-5E973BA8DA83}"/>
              </a:ext>
            </a:extLst>
          </p:cNvPr>
          <p:cNvSpPr>
            <a:spLocks xmlns:a="http://schemas.openxmlformats.org/drawingml/2006/main" noGrp="1"/>
          </p:cNvSpPr>
          <p:nvPr/>
        </p:nvSpPr>
        <p:spPr>
          <a:xfrm xmlns:a="http://schemas.openxmlformats.org/drawingml/2006/main">
            <a:off x="7953375" y="4333875"/>
            <a:ext cx="3524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4202B"/>
                </a:solidFill>
              </a:defRPr>
            </a:pPr>
            <a:r>
              <a:rPr sz="1575" b="0">
                <a:solidFill>
                  <a:srgbClr val="14202B"/>
                </a:solidFill>
              </a:rPr>
              <a:t>A cor codifica informação real?</a:t>
            </a:r>
          </a:p>
        </p:txBody>
      </p:sp>
      <p:sp>
        <p:nvSpPr>
          <p:cNvPr id="15" name="shape">
            <a:extLst xmlns:a="http://schemas.openxmlformats.org/drawingml/2006/main">
              <a:ext uri="{FF2B5EF4-FFF2-40B4-BE49-F238E27FC236}">
                <a16:creationId xmlns:a16="http://schemas.microsoft.com/office/drawing/2014/main" id="{FFC72AC5-4AF4-4F97-A651-CC285D3CC49D}"/>
              </a:ext>
            </a:extLst>
          </p:cNvPr>
          <p:cNvSpPr>
            <a:spLocks xmlns:a="http://schemas.openxmlformats.org/drawingml/2006/main" noGrp="1"/>
          </p:cNvSpPr>
          <p:nvPr/>
        </p:nvSpPr>
        <p:spPr>
          <a:xfrm xmlns:a="http://schemas.openxmlformats.org/drawingml/2006/main">
            <a:off x="7524750" y="5219700"/>
            <a:ext cx="3810000" cy="552450"/>
          </a:xfrm>
          <a:prstGeom xmlns:a="http://schemas.openxmlformats.org/drawingml/2006/main" prst="roundRect">
            <a:avLst>
              <a:gd name="adj" fmla="val 13793"/>
            </a:avLst>
          </a:prstGeom>
          <a:solidFill xmlns:a="http://schemas.openxmlformats.org/drawingml/2006/main">
            <a:srgbClr val="DDEBFF"/>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9F057B62-7AA8-437E-B882-13F772D8EB76}"/>
              </a:ext>
            </a:extLst>
          </p:cNvPr>
          <p:cNvSpPr>
            <a:spLocks xmlns:a="http://schemas.openxmlformats.org/drawingml/2006/main" noGrp="1"/>
          </p:cNvSpPr>
          <p:nvPr/>
        </p:nvSpPr>
        <p:spPr>
          <a:xfrm xmlns:a="http://schemas.openxmlformats.org/drawingml/2006/main">
            <a:off x="7715250" y="529590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071A2B"/>
                </a:solidFill>
              </a:defRPr>
            </a:pPr>
            <a:r>
              <a:rPr sz="1575" b="1">
                <a:solidFill>
                  <a:srgbClr val="071A2B"/>
                </a:solidFill>
              </a:rPr>
              <a:t>Barras ordenadas revelam o ranking.</a:t>
            </a:r>
          </a:p>
        </p:txBody>
      </p:sp>
    </p:spTree>
    <p:extLst>
      <p:ext uri="{BB962C8B-B14F-4D97-AF65-F5344CB8AC3E}">
        <p14:creationId xmlns:p14="http://schemas.microsoft.com/office/powerpoint/2010/main" val="84321151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
            <a:extLst xmlns:a="http://schemas.openxmlformats.org/drawingml/2006/main">
              <a:ext uri="{FF2B5EF4-FFF2-40B4-BE49-F238E27FC236}">
                <a16:creationId xmlns:a16="http://schemas.microsoft.com/office/drawing/2014/main" id="{206D1078-7E28-4DBD-B843-12B69BBA234B}"/>
              </a:ext>
            </a:extLst>
          </p:cNvPr>
          <p:cNvSpPr>
            <a:spLocks xmlns:a="http://schemas.openxmlformats.org/drawingml/2006/main" noGrp="1"/>
          </p:cNvSpPr>
          <p:nvPr/>
        </p:nvSpPr>
        <p:spPr>
          <a:xfrm xmlns:a="http://schemas.openxmlformats.org/drawingml/2006/main">
            <a:off x="552450" y="20955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26BFF"/>
                </a:solidFill>
              </a:defRPr>
            </a:pPr>
            <a:r>
              <a:rPr sz="1050" b="1">
                <a:solidFill>
                  <a:srgbClr val="126BFF"/>
                </a:solidFill>
              </a:rPr>
              <a:t>ANÁLISE UNIVARIADA</a:t>
            </a:r>
          </a:p>
        </p:txBody>
      </p:sp>
      <p:sp>
        <p:nvSpPr>
          <p:cNvPr id="2" name="text">
            <a:extLst xmlns:a="http://schemas.openxmlformats.org/drawingml/2006/main">
              <a:ext uri="{FF2B5EF4-FFF2-40B4-BE49-F238E27FC236}">
                <a16:creationId xmlns:a16="http://schemas.microsoft.com/office/drawing/2014/main" id="{42E2EEDC-F397-49FB-A9EA-B8DE2662B43D}"/>
              </a:ext>
            </a:extLst>
          </p:cNvPr>
          <p:cNvSpPr>
            <a:spLocks xmlns:a="http://schemas.openxmlformats.org/drawingml/2006/main" noGrp="1"/>
          </p:cNvSpPr>
          <p:nvPr/>
        </p:nvSpPr>
        <p:spPr>
          <a:xfrm xmlns:a="http://schemas.openxmlformats.org/drawingml/2006/main">
            <a:off x="552450" y="45720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4202B"/>
                </a:solidFill>
              </a:defRPr>
            </a:pPr>
            <a:r>
              <a:rPr sz="3600" b="1">
                <a:solidFill>
                  <a:srgbClr val="14202B"/>
                </a:solidFill>
              </a:rPr>
              <a:t>Uma variável numérica exige centro, dispersão e forma</a:t>
            </a:r>
          </a:p>
        </p:txBody>
      </p:sp>
      <p:sp>
        <p:nvSpPr>
          <p:cNvPr id="3" name="">
            <a:extLst xmlns:a="http://schemas.openxmlformats.org/drawingml/2006/main">
              <a:ext uri="{FF2B5EF4-FFF2-40B4-BE49-F238E27FC236}">
                <a16:creationId xmlns:a16="http://schemas.microsoft.com/office/drawing/2014/main" id="{E6E43835-1D76-4973-9298-2E9210097CCF}"/>
              </a:ext>
            </a:extLst>
          </p:cNvPr>
          <p:cNvSpPr>
            <a:spLocks xmlns:a="http://schemas.openxmlformats.org/drawingml/2006/main" noGrp="1"/>
          </p:cNvSpPr>
          <p:nvPr/>
        </p:nvSpPr>
        <p:spPr>
          <a:xfrm xmlns:a="http://schemas.openxmlformats.org/drawingml/2006/main">
            <a:off x="552450" y="1238250"/>
            <a:ext cx="11087100" cy="0"/>
          </a:xfrm>
          <a:prstGeom xmlns:a="http://schemas.openxmlformats.org/drawingml/2006/main" prst="line">
            <a:avLst/>
          </a:prstGeom>
          <a:noFill xmlns:a="http://schemas.openxmlformats.org/drawingml/2006/main"/>
          <a:ln xmlns:a="http://schemas.openxmlformats.org/drawingml/2006/main" w="9525">
            <a:solidFill>
              <a:srgbClr val="C9D3DC"/>
            </a:solidFill>
            <a:prstDash val="solid"/>
          </a:ln>
        </p:spPr>
      </p:sp>
      <p:sp>
        <p:nvSpPr>
          <p:cNvPr id="4" name="text">
            <a:extLst xmlns:a="http://schemas.openxmlformats.org/drawingml/2006/main">
              <a:ext uri="{FF2B5EF4-FFF2-40B4-BE49-F238E27FC236}">
                <a16:creationId xmlns:a16="http://schemas.microsoft.com/office/drawing/2014/main" id="{33C69183-864C-495F-A4EA-00E17B06286B}"/>
              </a:ext>
            </a:extLst>
          </p:cNvPr>
          <p:cNvSpPr>
            <a:spLocks xmlns:a="http://schemas.openxmlformats.org/drawingml/2006/main" noGrp="1"/>
          </p:cNvSpPr>
          <p:nvPr/>
        </p:nvSpPr>
        <p:spPr>
          <a:xfrm xmlns:a="http://schemas.openxmlformats.org/drawingml/2006/main">
            <a:off x="1118235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536270"/>
                </a:solidFill>
              </a:defRPr>
            </a:pPr>
            <a:r>
              <a:rPr sz="975" b="1">
                <a:solidFill>
                  <a:srgbClr val="536270"/>
                </a:solidFill>
              </a:rPr>
              <a:t>08</a:t>
            </a:r>
          </a:p>
        </p:txBody>
      </p:sp>
      <p:sp>
        <p:nvSpPr>
          <p:cNvPr id="6" name="">
            <a:extLst xmlns:a="http://schemas.openxmlformats.org/drawingml/2006/main">
              <a:ext uri="{FF2B5EF4-FFF2-40B4-BE49-F238E27FC236}">
                <a16:creationId xmlns:a16="http://schemas.microsoft.com/office/drawing/2014/main" id="{F958B0E0-6F37-4A67-B745-CEE8113066AD}"/>
              </a:ext>
            </a:extLst>
          </p:cNvPr>
          <p:cNvSpPr>
            <a:spLocks xmlns:a="http://schemas.openxmlformats.org/drawingml/2006/main" noGrp="1"/>
          </p:cNvSpPr>
          <p:nvPr/>
        </p:nvSpPr>
        <p:spPr>
          <a:xfrm xmlns:a="http://schemas.openxmlformats.org/drawingml/2006/main">
            <a:off x="857250" y="5219700"/>
            <a:ext cx="6191250" cy="0"/>
          </a:xfrm>
          <a:prstGeom xmlns:a="http://schemas.openxmlformats.org/drawingml/2006/main" prst="line">
            <a:avLst/>
          </a:prstGeom>
          <a:noFill xmlns:a="http://schemas.openxmlformats.org/drawingml/2006/main"/>
          <a:ln xmlns:a="http://schemas.openxmlformats.org/drawingml/2006/main" w="19050">
            <a:solidFill>
              <a:srgbClr val="C9D3DC"/>
            </a:solidFill>
            <a:prstDash val="solid"/>
          </a:ln>
        </p:spPr>
      </p:sp>
      <p:sp>
        <p:nvSpPr>
          <p:cNvPr id="7" name="shape">
            <a:extLst xmlns:a="http://schemas.openxmlformats.org/drawingml/2006/main">
              <a:ext uri="{FF2B5EF4-FFF2-40B4-BE49-F238E27FC236}">
                <a16:creationId xmlns:a16="http://schemas.microsoft.com/office/drawing/2014/main" id="{FA8EC942-FD90-4BDE-9F65-D2A35B0C9F18}"/>
              </a:ext>
            </a:extLst>
          </p:cNvPr>
          <p:cNvSpPr>
            <a:spLocks xmlns:a="http://schemas.openxmlformats.org/drawingml/2006/main" noGrp="1"/>
          </p:cNvSpPr>
          <p:nvPr/>
        </p:nvSpPr>
        <p:spPr>
          <a:xfrm xmlns:a="http://schemas.openxmlformats.org/drawingml/2006/main">
            <a:off x="1000125" y="4953000"/>
            <a:ext cx="400050" cy="266700"/>
          </a:xfrm>
          <a:prstGeom xmlns:a="http://schemas.openxmlformats.org/drawingml/2006/main" prst="rect">
            <a:avLst/>
          </a:prstGeom>
          <a:solidFill xmlns:a="http://schemas.openxmlformats.org/drawingml/2006/main">
            <a:srgbClr val="12A889"/>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E522656-E302-41BB-A8F9-70451A386F51}"/>
              </a:ext>
            </a:extLst>
          </p:cNvPr>
          <p:cNvSpPr>
            <a:spLocks xmlns:a="http://schemas.openxmlformats.org/drawingml/2006/main" noGrp="1"/>
          </p:cNvSpPr>
          <p:nvPr/>
        </p:nvSpPr>
        <p:spPr>
          <a:xfrm xmlns:a="http://schemas.openxmlformats.org/drawingml/2006/main">
            <a:off x="1581150" y="4667250"/>
            <a:ext cx="400050" cy="552450"/>
          </a:xfrm>
          <a:prstGeom xmlns:a="http://schemas.openxmlformats.org/drawingml/2006/main" prst="rect">
            <a:avLst/>
          </a:prstGeom>
          <a:solidFill xmlns:a="http://schemas.openxmlformats.org/drawingml/2006/main">
            <a:srgbClr val="12A889"/>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1EC8B5E-C934-4F56-AC4A-F72B945B8A30}"/>
              </a:ext>
            </a:extLst>
          </p:cNvPr>
          <p:cNvSpPr>
            <a:spLocks xmlns:a="http://schemas.openxmlformats.org/drawingml/2006/main" noGrp="1"/>
          </p:cNvSpPr>
          <p:nvPr/>
        </p:nvSpPr>
        <p:spPr>
          <a:xfrm xmlns:a="http://schemas.openxmlformats.org/drawingml/2006/main">
            <a:off x="2162175" y="4171950"/>
            <a:ext cx="400050" cy="1047750"/>
          </a:xfrm>
          <a:prstGeom xmlns:a="http://schemas.openxmlformats.org/drawingml/2006/main" prst="rect">
            <a:avLst/>
          </a:prstGeom>
          <a:solidFill xmlns:a="http://schemas.openxmlformats.org/drawingml/2006/main">
            <a:srgbClr val="12A889"/>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E7EE5E7B-E5F5-4D73-BCC0-686A853968FB}"/>
              </a:ext>
            </a:extLst>
          </p:cNvPr>
          <p:cNvSpPr>
            <a:spLocks xmlns:a="http://schemas.openxmlformats.org/drawingml/2006/main" noGrp="1"/>
          </p:cNvSpPr>
          <p:nvPr/>
        </p:nvSpPr>
        <p:spPr>
          <a:xfrm xmlns:a="http://schemas.openxmlformats.org/drawingml/2006/main">
            <a:off x="2743200" y="3409950"/>
            <a:ext cx="400050" cy="1809750"/>
          </a:xfrm>
          <a:prstGeom xmlns:a="http://schemas.openxmlformats.org/drawingml/2006/main" prst="rect">
            <a:avLst/>
          </a:prstGeom>
          <a:solidFill xmlns:a="http://schemas.openxmlformats.org/drawingml/2006/main">
            <a:srgbClr val="12A889"/>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56976BC7-0671-4344-BFAF-8658DDB02A8C}"/>
              </a:ext>
            </a:extLst>
          </p:cNvPr>
          <p:cNvSpPr>
            <a:spLocks xmlns:a="http://schemas.openxmlformats.org/drawingml/2006/main" noGrp="1"/>
          </p:cNvSpPr>
          <p:nvPr/>
        </p:nvSpPr>
        <p:spPr>
          <a:xfrm xmlns:a="http://schemas.openxmlformats.org/drawingml/2006/main">
            <a:off x="3324225" y="2600325"/>
            <a:ext cx="400050" cy="2619375"/>
          </a:xfrm>
          <a:prstGeom xmlns:a="http://schemas.openxmlformats.org/drawingml/2006/main" prst="rect">
            <a:avLst/>
          </a:prstGeom>
          <a:solidFill xmlns:a="http://schemas.openxmlformats.org/drawingml/2006/main">
            <a:srgbClr val="12A889"/>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9AECB13E-B7E3-4003-BE5F-42F3CD89BA22}"/>
              </a:ext>
            </a:extLst>
          </p:cNvPr>
          <p:cNvSpPr>
            <a:spLocks xmlns:a="http://schemas.openxmlformats.org/drawingml/2006/main" noGrp="1"/>
          </p:cNvSpPr>
          <p:nvPr/>
        </p:nvSpPr>
        <p:spPr>
          <a:xfrm xmlns:a="http://schemas.openxmlformats.org/drawingml/2006/main">
            <a:off x="3905250" y="1981200"/>
            <a:ext cx="400050" cy="3238500"/>
          </a:xfrm>
          <a:prstGeom xmlns:a="http://schemas.openxmlformats.org/drawingml/2006/main" prst="rect">
            <a:avLst/>
          </a:prstGeom>
          <a:solidFill xmlns:a="http://schemas.openxmlformats.org/drawingml/2006/main">
            <a:srgbClr val="12A889"/>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EFD31C2C-2677-429A-A70B-FC3174F8F70A}"/>
              </a:ext>
            </a:extLst>
          </p:cNvPr>
          <p:cNvSpPr>
            <a:spLocks xmlns:a="http://schemas.openxmlformats.org/drawingml/2006/main" noGrp="1"/>
          </p:cNvSpPr>
          <p:nvPr/>
        </p:nvSpPr>
        <p:spPr>
          <a:xfrm xmlns:a="http://schemas.openxmlformats.org/drawingml/2006/main">
            <a:off x="4486275" y="2266950"/>
            <a:ext cx="400050" cy="2952750"/>
          </a:xfrm>
          <a:prstGeom xmlns:a="http://schemas.openxmlformats.org/drawingml/2006/main" prst="rect">
            <a:avLst/>
          </a:prstGeom>
          <a:solidFill xmlns:a="http://schemas.openxmlformats.org/drawingml/2006/main">
            <a:srgbClr val="12A889"/>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DB567EDB-36BE-4A33-AC02-DDB23A4880B1}"/>
              </a:ext>
            </a:extLst>
          </p:cNvPr>
          <p:cNvSpPr>
            <a:spLocks xmlns:a="http://schemas.openxmlformats.org/drawingml/2006/main" noGrp="1"/>
          </p:cNvSpPr>
          <p:nvPr/>
        </p:nvSpPr>
        <p:spPr>
          <a:xfrm xmlns:a="http://schemas.openxmlformats.org/drawingml/2006/main">
            <a:off x="5067300" y="3124200"/>
            <a:ext cx="400050" cy="2095500"/>
          </a:xfrm>
          <a:prstGeom xmlns:a="http://schemas.openxmlformats.org/drawingml/2006/main" prst="rect">
            <a:avLst/>
          </a:prstGeom>
          <a:solidFill xmlns:a="http://schemas.openxmlformats.org/drawingml/2006/main">
            <a:srgbClr val="12A889"/>
          </a:solidFill>
          <a:ln xmlns:a="http://schemas.openxmlformats.org/drawingml/2006/main" w="0">
            <a:noFill/>
            <a:prstDash val="solid"/>
          </a:ln>
        </p:spPr>
      </p:sp>
      <p:sp>
        <p:nvSpPr>
          <p:cNvPr id="15" name="shape">
            <a:extLst xmlns:a="http://schemas.openxmlformats.org/drawingml/2006/main">
              <a:ext uri="{FF2B5EF4-FFF2-40B4-BE49-F238E27FC236}">
                <a16:creationId xmlns:a16="http://schemas.microsoft.com/office/drawing/2014/main" id="{37D214C5-0F81-4A1D-853C-14A81329B3C0}"/>
              </a:ext>
            </a:extLst>
          </p:cNvPr>
          <p:cNvSpPr>
            <a:spLocks xmlns:a="http://schemas.openxmlformats.org/drawingml/2006/main" noGrp="1"/>
          </p:cNvSpPr>
          <p:nvPr/>
        </p:nvSpPr>
        <p:spPr>
          <a:xfrm xmlns:a="http://schemas.openxmlformats.org/drawingml/2006/main">
            <a:off x="5648325" y="4029075"/>
            <a:ext cx="400050" cy="1190625"/>
          </a:xfrm>
          <a:prstGeom xmlns:a="http://schemas.openxmlformats.org/drawingml/2006/main" prst="rect">
            <a:avLst/>
          </a:prstGeom>
          <a:solidFill xmlns:a="http://schemas.openxmlformats.org/drawingml/2006/main">
            <a:srgbClr val="12A889"/>
          </a:solidFill>
          <a:ln xmlns:a="http://schemas.openxmlformats.org/drawingml/2006/main" w="0">
            <a:noFill/>
            <a:prstDash val="solid"/>
          </a:ln>
        </p:spPr>
      </p:sp>
      <p:sp>
        <p:nvSpPr>
          <p:cNvPr id="16" name="shape">
            <a:extLst xmlns:a="http://schemas.openxmlformats.org/drawingml/2006/main">
              <a:ext uri="{FF2B5EF4-FFF2-40B4-BE49-F238E27FC236}">
                <a16:creationId xmlns:a16="http://schemas.microsoft.com/office/drawing/2014/main" id="{982C9D1C-FBF0-4ECB-B267-F8E3932F4FF1}"/>
              </a:ext>
            </a:extLst>
          </p:cNvPr>
          <p:cNvSpPr>
            <a:spLocks xmlns:a="http://schemas.openxmlformats.org/drawingml/2006/main" noGrp="1"/>
          </p:cNvSpPr>
          <p:nvPr/>
        </p:nvSpPr>
        <p:spPr>
          <a:xfrm xmlns:a="http://schemas.openxmlformats.org/drawingml/2006/main">
            <a:off x="6229350" y="4686300"/>
            <a:ext cx="400050" cy="533400"/>
          </a:xfrm>
          <a:prstGeom xmlns:a="http://schemas.openxmlformats.org/drawingml/2006/main" prst="rect">
            <a:avLst/>
          </a:prstGeom>
          <a:solidFill xmlns:a="http://schemas.openxmlformats.org/drawingml/2006/main">
            <a:srgbClr val="12A889"/>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E43802F3-AE6E-447B-9644-94D3BE714A83}"/>
              </a:ext>
            </a:extLst>
          </p:cNvPr>
          <p:cNvSpPr>
            <a:spLocks xmlns:a="http://schemas.openxmlformats.org/drawingml/2006/main" noGrp="1"/>
          </p:cNvSpPr>
          <p:nvPr/>
        </p:nvSpPr>
        <p:spPr>
          <a:xfrm xmlns:a="http://schemas.openxmlformats.org/drawingml/2006/main">
            <a:off x="7905750" y="176212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26BFF"/>
                </a:solidFill>
              </a:defRPr>
            </a:pPr>
            <a:r>
              <a:rPr sz="1350" b="1">
                <a:solidFill>
                  <a:srgbClr val="126BFF"/>
                </a:solidFill>
              </a:rPr>
              <a:t>CENTRO</a:t>
            </a:r>
          </a:p>
        </p:txBody>
      </p:sp>
      <p:sp>
        <p:nvSpPr>
          <p:cNvPr id="18" name="text">
            <a:extLst xmlns:a="http://schemas.openxmlformats.org/drawingml/2006/main">
              <a:ext uri="{FF2B5EF4-FFF2-40B4-BE49-F238E27FC236}">
                <a16:creationId xmlns:a16="http://schemas.microsoft.com/office/drawing/2014/main" id="{828F114C-0044-41EC-8238-3A378F4F8210}"/>
              </a:ext>
            </a:extLst>
          </p:cNvPr>
          <p:cNvSpPr>
            <a:spLocks xmlns:a="http://schemas.openxmlformats.org/drawingml/2006/main" noGrp="1"/>
          </p:cNvSpPr>
          <p:nvPr/>
        </p:nvSpPr>
        <p:spPr>
          <a:xfrm xmlns:a="http://schemas.openxmlformats.org/drawingml/2006/main">
            <a:off x="7905750" y="211455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4202B"/>
                </a:solidFill>
              </a:defRPr>
            </a:pPr>
            <a:r>
              <a:rPr sz="1725" b="1">
                <a:solidFill>
                  <a:srgbClr val="14202B"/>
                </a:solidFill>
              </a:rPr>
              <a:t>média • mediana • moda</a:t>
            </a:r>
          </a:p>
        </p:txBody>
      </p:sp>
      <p:sp>
        <p:nvSpPr>
          <p:cNvPr id="19" name="text">
            <a:extLst xmlns:a="http://schemas.openxmlformats.org/drawingml/2006/main">
              <a:ext uri="{FF2B5EF4-FFF2-40B4-BE49-F238E27FC236}">
                <a16:creationId xmlns:a16="http://schemas.microsoft.com/office/drawing/2014/main" id="{932416C9-ADCD-4BD1-A805-899F460ECAC6}"/>
              </a:ext>
            </a:extLst>
          </p:cNvPr>
          <p:cNvSpPr>
            <a:spLocks xmlns:a="http://schemas.openxmlformats.org/drawingml/2006/main" noGrp="1"/>
          </p:cNvSpPr>
          <p:nvPr/>
        </p:nvSpPr>
        <p:spPr>
          <a:xfrm xmlns:a="http://schemas.openxmlformats.org/drawingml/2006/main">
            <a:off x="7905750" y="290512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2A889"/>
                </a:solidFill>
              </a:defRPr>
            </a:pPr>
            <a:r>
              <a:rPr sz="1350" b="1">
                <a:solidFill>
                  <a:srgbClr val="12A889"/>
                </a:solidFill>
              </a:rPr>
              <a:t>DISPERSÃO</a:t>
            </a:r>
          </a:p>
        </p:txBody>
      </p:sp>
      <p:sp>
        <p:nvSpPr>
          <p:cNvPr id="20" name="text">
            <a:extLst xmlns:a="http://schemas.openxmlformats.org/drawingml/2006/main">
              <a:ext uri="{FF2B5EF4-FFF2-40B4-BE49-F238E27FC236}">
                <a16:creationId xmlns:a16="http://schemas.microsoft.com/office/drawing/2014/main" id="{8DDCA5E0-0A6B-4B1E-AC24-C64F4712724F}"/>
              </a:ext>
            </a:extLst>
          </p:cNvPr>
          <p:cNvSpPr>
            <a:spLocks xmlns:a="http://schemas.openxmlformats.org/drawingml/2006/main" noGrp="1"/>
          </p:cNvSpPr>
          <p:nvPr/>
        </p:nvSpPr>
        <p:spPr>
          <a:xfrm xmlns:a="http://schemas.openxmlformats.org/drawingml/2006/main">
            <a:off x="7905750" y="325755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4202B"/>
                </a:solidFill>
              </a:defRPr>
            </a:pPr>
            <a:r>
              <a:rPr sz="1725" b="1">
                <a:solidFill>
                  <a:srgbClr val="14202B"/>
                </a:solidFill>
              </a:rPr>
              <a:t>amplitude • IQR • desvio padrão</a:t>
            </a:r>
          </a:p>
        </p:txBody>
      </p:sp>
      <p:sp>
        <p:nvSpPr>
          <p:cNvPr id="21" name="text">
            <a:extLst xmlns:a="http://schemas.openxmlformats.org/drawingml/2006/main">
              <a:ext uri="{FF2B5EF4-FFF2-40B4-BE49-F238E27FC236}">
                <a16:creationId xmlns:a16="http://schemas.microsoft.com/office/drawing/2014/main" id="{4D7EDDD7-1EF9-4941-83E3-29F417875D44}"/>
              </a:ext>
            </a:extLst>
          </p:cNvPr>
          <p:cNvSpPr>
            <a:spLocks xmlns:a="http://schemas.openxmlformats.org/drawingml/2006/main" noGrp="1"/>
          </p:cNvSpPr>
          <p:nvPr/>
        </p:nvSpPr>
        <p:spPr>
          <a:xfrm xmlns:a="http://schemas.openxmlformats.org/drawingml/2006/main">
            <a:off x="7905750" y="420052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2A93B"/>
                </a:solidFill>
              </a:defRPr>
            </a:pPr>
            <a:r>
              <a:rPr sz="1350" b="1">
                <a:solidFill>
                  <a:srgbClr val="F2A93B"/>
                </a:solidFill>
              </a:rPr>
              <a:t>FORMA</a:t>
            </a:r>
          </a:p>
        </p:txBody>
      </p:sp>
      <p:sp>
        <p:nvSpPr>
          <p:cNvPr id="22" name="text">
            <a:extLst xmlns:a="http://schemas.openxmlformats.org/drawingml/2006/main">
              <a:ext uri="{FF2B5EF4-FFF2-40B4-BE49-F238E27FC236}">
                <a16:creationId xmlns:a16="http://schemas.microsoft.com/office/drawing/2014/main" id="{3DB587CA-E2B8-43E3-9F8E-7B7B0AB17C43}"/>
              </a:ext>
            </a:extLst>
          </p:cNvPr>
          <p:cNvSpPr>
            <a:spLocks xmlns:a="http://schemas.openxmlformats.org/drawingml/2006/main" noGrp="1"/>
          </p:cNvSpPr>
          <p:nvPr/>
        </p:nvSpPr>
        <p:spPr>
          <a:xfrm xmlns:a="http://schemas.openxmlformats.org/drawingml/2006/main">
            <a:off x="7905750" y="455295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4202B"/>
                </a:solidFill>
              </a:defRPr>
            </a:pPr>
            <a:r>
              <a:rPr sz="1725" b="1">
                <a:solidFill>
                  <a:srgbClr val="14202B"/>
                </a:solidFill>
              </a:rPr>
              <a:t>simetria • caudas • picos</a:t>
            </a:r>
          </a:p>
        </p:txBody>
      </p:sp>
    </p:spTree>
    <p:extLst>
      <p:ext uri="{BB962C8B-B14F-4D97-AF65-F5344CB8AC3E}">
        <p14:creationId xmlns:p14="http://schemas.microsoft.com/office/powerpoint/2010/main" val="13109508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602B05D0-F136-4B30-B33A-E6CFA23C4CC5}"/>
              </a:ext>
            </a:extLst>
          </p:cNvPr>
          <p:cNvSpPr>
            <a:spLocks xmlns:a="http://schemas.openxmlformats.org/drawingml/2006/main" noGrp="1"/>
          </p:cNvSpPr>
          <p:nvPr/>
        </p:nvSpPr>
        <p:spPr>
          <a:xfrm xmlns:a="http://schemas.openxmlformats.org/drawingml/2006/main">
            <a:off x="552450" y="20955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26BFF"/>
                </a:solidFill>
              </a:defRPr>
            </a:pPr>
            <a:r>
              <a:rPr sz="1050" b="1">
                <a:solidFill>
                  <a:srgbClr val="126BFF"/>
                </a:solidFill>
              </a:rPr>
              <a:t>TENDÊNCIA CENTRAL</a:t>
            </a:r>
          </a:p>
        </p:txBody>
      </p:sp>
      <p:sp>
        <p:nvSpPr>
          <p:cNvPr id="2" name="text">
            <a:extLst xmlns:a="http://schemas.openxmlformats.org/drawingml/2006/main">
              <a:ext uri="{FF2B5EF4-FFF2-40B4-BE49-F238E27FC236}">
                <a16:creationId xmlns:a16="http://schemas.microsoft.com/office/drawing/2014/main" id="{43EF0FCE-B3CF-4F69-A26B-D97383AC4BC3}"/>
              </a:ext>
            </a:extLst>
          </p:cNvPr>
          <p:cNvSpPr>
            <a:spLocks xmlns:a="http://schemas.openxmlformats.org/drawingml/2006/main" noGrp="1"/>
          </p:cNvSpPr>
          <p:nvPr/>
        </p:nvSpPr>
        <p:spPr>
          <a:xfrm xmlns:a="http://schemas.openxmlformats.org/drawingml/2006/main">
            <a:off x="552450" y="45720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4202B"/>
                </a:solidFill>
              </a:defRPr>
            </a:pPr>
            <a:r>
              <a:rPr sz="3600" b="1">
                <a:solidFill>
                  <a:srgbClr val="14202B"/>
                </a:solidFill>
              </a:rPr>
              <a:t>Média e mediana respondem a perguntas diferentes</a:t>
            </a:r>
          </a:p>
        </p:txBody>
      </p:sp>
      <p:sp>
        <p:nvSpPr>
          <p:cNvPr id="3" name="">
            <a:extLst xmlns:a="http://schemas.openxmlformats.org/drawingml/2006/main">
              <a:ext uri="{FF2B5EF4-FFF2-40B4-BE49-F238E27FC236}">
                <a16:creationId xmlns:a16="http://schemas.microsoft.com/office/drawing/2014/main" id="{46FDB213-CF8E-43F8-989D-6727E7C857E9}"/>
              </a:ext>
            </a:extLst>
          </p:cNvPr>
          <p:cNvSpPr>
            <a:spLocks xmlns:a="http://schemas.openxmlformats.org/drawingml/2006/main" noGrp="1"/>
          </p:cNvSpPr>
          <p:nvPr/>
        </p:nvSpPr>
        <p:spPr>
          <a:xfrm xmlns:a="http://schemas.openxmlformats.org/drawingml/2006/main">
            <a:off x="552450" y="1238250"/>
            <a:ext cx="11087100" cy="0"/>
          </a:xfrm>
          <a:prstGeom xmlns:a="http://schemas.openxmlformats.org/drawingml/2006/main" prst="line">
            <a:avLst/>
          </a:prstGeom>
          <a:noFill xmlns:a="http://schemas.openxmlformats.org/drawingml/2006/main"/>
          <a:ln xmlns:a="http://schemas.openxmlformats.org/drawingml/2006/main" w="9525">
            <a:solidFill>
              <a:srgbClr val="C9D3DC"/>
            </a:solidFill>
            <a:prstDash val="solid"/>
          </a:ln>
        </p:spPr>
      </p:sp>
      <p:sp>
        <p:nvSpPr>
          <p:cNvPr id="4" name="text">
            <a:extLst xmlns:a="http://schemas.openxmlformats.org/drawingml/2006/main">
              <a:ext uri="{FF2B5EF4-FFF2-40B4-BE49-F238E27FC236}">
                <a16:creationId xmlns:a16="http://schemas.microsoft.com/office/drawing/2014/main" id="{39E56BD7-61CB-4AE5-9948-65BDB670758F}"/>
              </a:ext>
            </a:extLst>
          </p:cNvPr>
          <p:cNvSpPr>
            <a:spLocks xmlns:a="http://schemas.openxmlformats.org/drawingml/2006/main" noGrp="1"/>
          </p:cNvSpPr>
          <p:nvPr/>
        </p:nvSpPr>
        <p:spPr>
          <a:xfrm xmlns:a="http://schemas.openxmlformats.org/drawingml/2006/main">
            <a:off x="1118235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536270"/>
                </a:solidFill>
              </a:defRPr>
            </a:pPr>
            <a:r>
              <a:rPr sz="975" b="1">
                <a:solidFill>
                  <a:srgbClr val="536270"/>
                </a:solidFill>
              </a:rPr>
              <a:t>09</a:t>
            </a:r>
          </a:p>
        </p:txBody>
      </p:sp>
      <p:sp>
        <p:nvSpPr>
          <p:cNvPr id="5" name="text">
            <a:extLst xmlns:a="http://schemas.openxmlformats.org/drawingml/2006/main">
              <a:ext uri="{FF2B5EF4-FFF2-40B4-BE49-F238E27FC236}">
                <a16:creationId xmlns:a16="http://schemas.microsoft.com/office/drawing/2014/main" id="{C900882E-19BF-4A61-8AC5-7EB816A06048}"/>
              </a:ext>
            </a:extLst>
          </p:cNvPr>
          <p:cNvSpPr>
            <a:spLocks xmlns:a="http://schemas.openxmlformats.org/drawingml/2006/main" noGrp="1"/>
          </p:cNvSpPr>
          <p:nvPr/>
        </p:nvSpPr>
        <p:spPr>
          <a:xfrm xmlns:a="http://schemas.openxmlformats.org/drawingml/2006/main">
            <a:off x="552450" y="17145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26BFF"/>
                </a:solidFill>
              </a:defRPr>
            </a:pPr>
            <a:r>
              <a:rPr sz="2250" b="1">
                <a:solidFill>
                  <a:srgbClr val="126BFF"/>
                </a:solidFill>
              </a:rPr>
              <a:t>MÉDIA</a:t>
            </a:r>
          </a:p>
        </p:txBody>
      </p:sp>
      <p:sp>
        <p:nvSpPr>
          <p:cNvPr id="6" name="text">
            <a:extLst xmlns:a="http://schemas.openxmlformats.org/drawingml/2006/main">
              <a:ext uri="{FF2B5EF4-FFF2-40B4-BE49-F238E27FC236}">
                <a16:creationId xmlns:a16="http://schemas.microsoft.com/office/drawing/2014/main" id="{3859F54C-3896-4D2D-88D4-13D88ECE41AB}"/>
              </a:ext>
            </a:extLst>
          </p:cNvPr>
          <p:cNvSpPr>
            <a:spLocks xmlns:a="http://schemas.openxmlformats.org/drawingml/2006/main" noGrp="1"/>
          </p:cNvSpPr>
          <p:nvPr/>
        </p:nvSpPr>
        <p:spPr>
          <a:xfrm xmlns:a="http://schemas.openxmlformats.org/drawingml/2006/main">
            <a:off x="6477000" y="17145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2A889"/>
                </a:solidFill>
              </a:defRPr>
            </a:pPr>
            <a:r>
              <a:rPr sz="2250" b="1">
                <a:solidFill>
                  <a:srgbClr val="12A889"/>
                </a:solidFill>
              </a:rPr>
              <a:t>MEDIANA</a:t>
            </a:r>
          </a:p>
        </p:txBody>
      </p:sp>
      <p:sp>
        <p:nvSpPr>
          <p:cNvPr id="7" name="text">
            <a:extLst xmlns:a="http://schemas.openxmlformats.org/drawingml/2006/main">
              <a:ext uri="{FF2B5EF4-FFF2-40B4-BE49-F238E27FC236}">
                <a16:creationId xmlns:a16="http://schemas.microsoft.com/office/drawing/2014/main" id="{0FB9BB81-2C9F-4CA5-B5B2-A51C543FA2BF}"/>
              </a:ext>
            </a:extLst>
          </p:cNvPr>
          <p:cNvSpPr>
            <a:spLocks xmlns:a="http://schemas.openxmlformats.org/drawingml/2006/main" noGrp="1"/>
          </p:cNvSpPr>
          <p:nvPr/>
        </p:nvSpPr>
        <p:spPr>
          <a:xfrm xmlns:a="http://schemas.openxmlformats.org/drawingml/2006/main">
            <a:off x="552450" y="23812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0">
                <a:solidFill>
                  <a:srgbClr val="14202B"/>
                </a:solidFill>
              </a:defRPr>
            </a:pPr>
            <a:r>
              <a:rPr sz="1800" b="0">
                <a:solidFill>
                  <a:srgbClr val="14202B"/>
                </a:solidFill>
              </a:rPr>
              <a:t>equilibra todos os valores</a:t>
            </a:r>
          </a:p>
        </p:txBody>
      </p:sp>
      <p:sp>
        <p:nvSpPr>
          <p:cNvPr id="8" name="text">
            <a:extLst xmlns:a="http://schemas.openxmlformats.org/drawingml/2006/main">
              <a:ext uri="{FF2B5EF4-FFF2-40B4-BE49-F238E27FC236}">
                <a16:creationId xmlns:a16="http://schemas.microsoft.com/office/drawing/2014/main" id="{50EC5FC6-F4F9-4A50-ACA0-C23CEEA793AF}"/>
              </a:ext>
            </a:extLst>
          </p:cNvPr>
          <p:cNvSpPr>
            <a:spLocks xmlns:a="http://schemas.openxmlformats.org/drawingml/2006/main" noGrp="1"/>
          </p:cNvSpPr>
          <p:nvPr/>
        </p:nvSpPr>
        <p:spPr>
          <a:xfrm xmlns:a="http://schemas.openxmlformats.org/drawingml/2006/main">
            <a:off x="6477000" y="23812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0">
                <a:solidFill>
                  <a:srgbClr val="14202B"/>
                </a:solidFill>
              </a:defRPr>
            </a:pPr>
            <a:r>
              <a:rPr sz="1800" b="0">
                <a:solidFill>
                  <a:srgbClr val="14202B"/>
                </a:solidFill>
              </a:rPr>
              <a:t>divide os dados ordenados ao meio</a:t>
            </a:r>
          </a:p>
        </p:txBody>
      </p:sp>
      <p:sp>
        <p:nvSpPr>
          <p:cNvPr id="9" name="shape">
            <a:extLst xmlns:a="http://schemas.openxmlformats.org/drawingml/2006/main">
              <a:ext uri="{FF2B5EF4-FFF2-40B4-BE49-F238E27FC236}">
                <a16:creationId xmlns:a16="http://schemas.microsoft.com/office/drawing/2014/main" id="{4955CF2B-0BFE-437A-998E-E4AFD263CAB2}"/>
              </a:ext>
            </a:extLst>
          </p:cNvPr>
          <p:cNvSpPr>
            <a:spLocks xmlns:a="http://schemas.openxmlformats.org/drawingml/2006/main" noGrp="1"/>
          </p:cNvSpPr>
          <p:nvPr/>
        </p:nvSpPr>
        <p:spPr>
          <a:xfrm xmlns:a="http://schemas.openxmlformats.org/drawingml/2006/main">
            <a:off x="552450" y="3181350"/>
            <a:ext cx="4762500" cy="1352550"/>
          </a:xfrm>
          <a:prstGeom xmlns:a="http://schemas.openxmlformats.org/drawingml/2006/main" prst="roundRect">
            <a:avLst>
              <a:gd name="adj" fmla="val 5634"/>
            </a:avLst>
          </a:prstGeom>
          <a:solidFill xmlns:a="http://schemas.openxmlformats.org/drawingml/2006/main">
            <a:srgbClr val="F7F9FB"/>
          </a:solidFill>
          <a:ln xmlns:a="http://schemas.openxmlformats.org/drawingml/2006/main" w="9525">
            <a:solidFill>
              <a:srgbClr val="C9D3DC"/>
            </a:solidFill>
            <a:prstDash val="solid"/>
          </a:ln>
        </p:spPr>
      </p:sp>
      <p:sp>
        <p:nvSpPr>
          <p:cNvPr id="10" name="text">
            <a:extLst xmlns:a="http://schemas.openxmlformats.org/drawingml/2006/main">
              <a:ext uri="{FF2B5EF4-FFF2-40B4-BE49-F238E27FC236}">
                <a16:creationId xmlns:a16="http://schemas.microsoft.com/office/drawing/2014/main" id="{4D2A7707-E92F-4C15-B885-77592FE1ED76}"/>
              </a:ext>
            </a:extLst>
          </p:cNvPr>
          <p:cNvSpPr>
            <a:spLocks xmlns:a="http://schemas.openxmlformats.org/drawingml/2006/main" noGrp="1"/>
          </p:cNvSpPr>
          <p:nvPr/>
        </p:nvSpPr>
        <p:spPr>
          <a:xfrm xmlns:a="http://schemas.openxmlformats.org/drawingml/2006/main">
            <a:off x="819150" y="3409950"/>
            <a:ext cx="422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E34F55"/>
                </a:solidFill>
              </a:defRPr>
            </a:pPr>
            <a:r>
              <a:rPr sz="1950" b="1">
                <a:solidFill>
                  <a:srgbClr val="E34F55"/>
                </a:solidFill>
              </a:rPr>
              <a:t>Sensível a valores extremos</a:t>
            </a:r>
          </a:p>
        </p:txBody>
      </p:sp>
      <p:sp>
        <p:nvSpPr>
          <p:cNvPr id="11" name="text">
            <a:extLst xmlns:a="http://schemas.openxmlformats.org/drawingml/2006/main">
              <a:ext uri="{FF2B5EF4-FFF2-40B4-BE49-F238E27FC236}">
                <a16:creationId xmlns:a16="http://schemas.microsoft.com/office/drawing/2014/main" id="{CEC17DE5-ECDF-457F-88AE-8B47B1495E98}"/>
              </a:ext>
            </a:extLst>
          </p:cNvPr>
          <p:cNvSpPr>
            <a:spLocks xmlns:a="http://schemas.openxmlformats.org/drawingml/2006/main" noGrp="1"/>
          </p:cNvSpPr>
          <p:nvPr/>
        </p:nvSpPr>
        <p:spPr>
          <a:xfrm xmlns:a="http://schemas.openxmlformats.org/drawingml/2006/main">
            <a:off x="819150" y="3962400"/>
            <a:ext cx="422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0">
                <a:solidFill>
                  <a:srgbClr val="536270"/>
                </a:solidFill>
              </a:defRPr>
            </a:pPr>
            <a:r>
              <a:rPr sz="1500" b="0">
                <a:solidFill>
                  <a:srgbClr val="536270"/>
                </a:solidFill>
              </a:rPr>
              <a:t>útil quando a magnitude importa</a:t>
            </a:r>
          </a:p>
        </p:txBody>
      </p:sp>
      <p:sp>
        <p:nvSpPr>
          <p:cNvPr id="12" name="shape">
            <a:extLst xmlns:a="http://schemas.openxmlformats.org/drawingml/2006/main">
              <a:ext uri="{FF2B5EF4-FFF2-40B4-BE49-F238E27FC236}">
                <a16:creationId xmlns:a16="http://schemas.microsoft.com/office/drawing/2014/main" id="{BA11542A-DB4A-4B7B-8FF2-F2CE06721689}"/>
              </a:ext>
            </a:extLst>
          </p:cNvPr>
          <p:cNvSpPr>
            <a:spLocks xmlns:a="http://schemas.openxmlformats.org/drawingml/2006/main" noGrp="1"/>
          </p:cNvSpPr>
          <p:nvPr/>
        </p:nvSpPr>
        <p:spPr>
          <a:xfrm xmlns:a="http://schemas.openxmlformats.org/drawingml/2006/main">
            <a:off x="6477000" y="3181350"/>
            <a:ext cx="4762500" cy="1352550"/>
          </a:xfrm>
          <a:prstGeom xmlns:a="http://schemas.openxmlformats.org/drawingml/2006/main" prst="roundRect">
            <a:avLst>
              <a:gd name="adj" fmla="val 5634"/>
            </a:avLst>
          </a:prstGeom>
          <a:solidFill xmlns:a="http://schemas.openxmlformats.org/drawingml/2006/main">
            <a:srgbClr val="F7F9FB"/>
          </a:solidFill>
          <a:ln xmlns:a="http://schemas.openxmlformats.org/drawingml/2006/main" w="9525">
            <a:solidFill>
              <a:srgbClr val="C9D3DC"/>
            </a:solidFill>
            <a:prstDash val="solid"/>
          </a:ln>
        </p:spPr>
      </p:sp>
      <p:sp>
        <p:nvSpPr>
          <p:cNvPr id="13" name="text">
            <a:extLst xmlns:a="http://schemas.openxmlformats.org/drawingml/2006/main">
              <a:ext uri="{FF2B5EF4-FFF2-40B4-BE49-F238E27FC236}">
                <a16:creationId xmlns:a16="http://schemas.microsoft.com/office/drawing/2014/main" id="{D9E5FA7A-8C35-4EBE-99FE-CC398744898B}"/>
              </a:ext>
            </a:extLst>
          </p:cNvPr>
          <p:cNvSpPr>
            <a:spLocks xmlns:a="http://schemas.openxmlformats.org/drawingml/2006/main" noGrp="1"/>
          </p:cNvSpPr>
          <p:nvPr/>
        </p:nvSpPr>
        <p:spPr>
          <a:xfrm xmlns:a="http://schemas.openxmlformats.org/drawingml/2006/main">
            <a:off x="6743700" y="3409950"/>
            <a:ext cx="422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12A889"/>
                </a:solidFill>
              </a:defRPr>
            </a:pPr>
            <a:r>
              <a:rPr sz="1950" b="1">
                <a:solidFill>
                  <a:srgbClr val="12A889"/>
                </a:solidFill>
              </a:rPr>
              <a:t>Robusta a valores extremos</a:t>
            </a:r>
          </a:p>
        </p:txBody>
      </p:sp>
      <p:sp>
        <p:nvSpPr>
          <p:cNvPr id="14" name="text">
            <a:extLst xmlns:a="http://schemas.openxmlformats.org/drawingml/2006/main">
              <a:ext uri="{FF2B5EF4-FFF2-40B4-BE49-F238E27FC236}">
                <a16:creationId xmlns:a16="http://schemas.microsoft.com/office/drawing/2014/main" id="{39BF3B8C-9BEC-471D-AAFA-30F0CF0BBB00}"/>
              </a:ext>
            </a:extLst>
          </p:cNvPr>
          <p:cNvSpPr>
            <a:spLocks xmlns:a="http://schemas.openxmlformats.org/drawingml/2006/main" noGrp="1"/>
          </p:cNvSpPr>
          <p:nvPr/>
        </p:nvSpPr>
        <p:spPr>
          <a:xfrm xmlns:a="http://schemas.openxmlformats.org/drawingml/2006/main">
            <a:off x="6743700" y="3962400"/>
            <a:ext cx="422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0">
                <a:solidFill>
                  <a:srgbClr val="536270"/>
                </a:solidFill>
              </a:defRPr>
            </a:pPr>
            <a:r>
              <a:rPr sz="1500" b="0">
                <a:solidFill>
                  <a:srgbClr val="536270"/>
                </a:solidFill>
              </a:rPr>
              <a:t>útil em distribuições assimétricas</a:t>
            </a:r>
          </a:p>
        </p:txBody>
      </p:sp>
      <p:sp>
        <p:nvSpPr>
          <p:cNvPr id="15" name="shape">
            <a:extLst xmlns:a="http://schemas.openxmlformats.org/drawingml/2006/main">
              <a:ext uri="{FF2B5EF4-FFF2-40B4-BE49-F238E27FC236}">
                <a16:creationId xmlns:a16="http://schemas.microsoft.com/office/drawing/2014/main" id="{928CBBAE-E826-428E-B556-251F5B65C590}"/>
              </a:ext>
            </a:extLst>
          </p:cNvPr>
          <p:cNvSpPr>
            <a:spLocks xmlns:a="http://schemas.openxmlformats.org/drawingml/2006/main" noGrp="1"/>
          </p:cNvSpPr>
          <p:nvPr/>
        </p:nvSpPr>
        <p:spPr>
          <a:xfrm xmlns:a="http://schemas.openxmlformats.org/drawingml/2006/main">
            <a:off x="552450" y="5105400"/>
            <a:ext cx="10687050" cy="704850"/>
          </a:xfrm>
          <a:prstGeom xmlns:a="http://schemas.openxmlformats.org/drawingml/2006/main" prst="roundRect">
            <a:avLst>
              <a:gd name="adj" fmla="val 10811"/>
            </a:avLst>
          </a:prstGeom>
          <a:solidFill xmlns:a="http://schemas.openxmlformats.org/drawingml/2006/main">
            <a:srgbClr val="071A2B"/>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F8696A85-52AD-4F32-9DB6-C431563E4F70}"/>
              </a:ext>
            </a:extLst>
          </p:cNvPr>
          <p:cNvSpPr>
            <a:spLocks xmlns:a="http://schemas.openxmlformats.org/drawingml/2006/main" noGrp="1"/>
          </p:cNvSpPr>
          <p:nvPr/>
        </p:nvSpPr>
        <p:spPr>
          <a:xfrm xmlns:a="http://schemas.openxmlformats.org/drawingml/2006/main">
            <a:off x="800100" y="5210175"/>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FFFFFF"/>
                </a:solidFill>
              </a:defRPr>
            </a:pPr>
            <a:r>
              <a:rPr sz="1950" b="1">
                <a:solidFill>
                  <a:srgbClr val="FFFFFF"/>
                </a:solidFill>
              </a:rPr>
              <a:t>Se média e mediana divergem, investigue a forma da distribuição.</a:t>
            </a:r>
          </a:p>
        </p:txBody>
      </p:sp>
    </p:spTree>
    <p:extLst>
      <p:ext uri="{BB962C8B-B14F-4D97-AF65-F5344CB8AC3E}">
        <p14:creationId xmlns:p14="http://schemas.microsoft.com/office/powerpoint/2010/main" val="47155884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text">
            <a:extLst xmlns:a="http://schemas.openxmlformats.org/drawingml/2006/main">
              <a:ext uri="{FF2B5EF4-FFF2-40B4-BE49-F238E27FC236}">
                <a16:creationId xmlns:a16="http://schemas.microsoft.com/office/drawing/2014/main" id="{D29B6265-422C-4906-A35D-8CA23D1A9EC0}"/>
              </a:ext>
            </a:extLst>
          </p:cNvPr>
          <p:cNvSpPr>
            <a:spLocks xmlns:a="http://schemas.openxmlformats.org/drawingml/2006/main" noGrp="1"/>
          </p:cNvSpPr>
          <p:nvPr/>
        </p:nvSpPr>
        <p:spPr>
          <a:xfrm xmlns:a="http://schemas.openxmlformats.org/drawingml/2006/main">
            <a:off x="552450" y="20955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26BFF"/>
                </a:solidFill>
              </a:defRPr>
            </a:pPr>
            <a:r>
              <a:rPr sz="1050" b="1">
                <a:solidFill>
                  <a:srgbClr val="126BFF"/>
                </a:solidFill>
              </a:rPr>
              <a:t>DISPERSÃO</a:t>
            </a:r>
          </a:p>
        </p:txBody>
      </p:sp>
      <p:sp>
        <p:nvSpPr>
          <p:cNvPr id="2" name="text">
            <a:extLst xmlns:a="http://schemas.openxmlformats.org/drawingml/2006/main">
              <a:ext uri="{FF2B5EF4-FFF2-40B4-BE49-F238E27FC236}">
                <a16:creationId xmlns:a16="http://schemas.microsoft.com/office/drawing/2014/main" id="{2D6C6FC0-5C26-4CD8-9B68-4E10AA9C641B}"/>
              </a:ext>
            </a:extLst>
          </p:cNvPr>
          <p:cNvSpPr>
            <a:spLocks xmlns:a="http://schemas.openxmlformats.org/drawingml/2006/main" noGrp="1"/>
          </p:cNvSpPr>
          <p:nvPr/>
        </p:nvSpPr>
        <p:spPr>
          <a:xfrm xmlns:a="http://schemas.openxmlformats.org/drawingml/2006/main">
            <a:off x="552450" y="45720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4202B"/>
                </a:solidFill>
              </a:defRPr>
            </a:pPr>
            <a:r>
              <a:rPr sz="3600" b="1">
                <a:solidFill>
                  <a:srgbClr val="14202B"/>
                </a:solidFill>
              </a:rPr>
              <a:t>Dispersão mostra o que o centro esconde</a:t>
            </a:r>
          </a:p>
        </p:txBody>
      </p:sp>
      <p:sp>
        <p:nvSpPr>
          <p:cNvPr id="3" name="">
            <a:extLst xmlns:a="http://schemas.openxmlformats.org/drawingml/2006/main">
              <a:ext uri="{FF2B5EF4-FFF2-40B4-BE49-F238E27FC236}">
                <a16:creationId xmlns:a16="http://schemas.microsoft.com/office/drawing/2014/main" id="{4C946623-EC99-4713-8045-52D0FD4ADD1E}"/>
              </a:ext>
            </a:extLst>
          </p:cNvPr>
          <p:cNvSpPr>
            <a:spLocks xmlns:a="http://schemas.openxmlformats.org/drawingml/2006/main" noGrp="1"/>
          </p:cNvSpPr>
          <p:nvPr/>
        </p:nvSpPr>
        <p:spPr>
          <a:xfrm xmlns:a="http://schemas.openxmlformats.org/drawingml/2006/main">
            <a:off x="552450" y="1238250"/>
            <a:ext cx="11087100" cy="0"/>
          </a:xfrm>
          <a:prstGeom xmlns:a="http://schemas.openxmlformats.org/drawingml/2006/main" prst="line">
            <a:avLst/>
          </a:prstGeom>
          <a:noFill xmlns:a="http://schemas.openxmlformats.org/drawingml/2006/main"/>
          <a:ln xmlns:a="http://schemas.openxmlformats.org/drawingml/2006/main" w="9525">
            <a:solidFill>
              <a:srgbClr val="C9D3DC"/>
            </a:solidFill>
            <a:prstDash val="solid"/>
          </a:ln>
        </p:spPr>
      </p:sp>
      <p:sp>
        <p:nvSpPr>
          <p:cNvPr id="4" name="text">
            <a:extLst xmlns:a="http://schemas.openxmlformats.org/drawingml/2006/main">
              <a:ext uri="{FF2B5EF4-FFF2-40B4-BE49-F238E27FC236}">
                <a16:creationId xmlns:a16="http://schemas.microsoft.com/office/drawing/2014/main" id="{4C9E840B-4FC8-4E6F-8826-9533025CC3AE}"/>
              </a:ext>
            </a:extLst>
          </p:cNvPr>
          <p:cNvSpPr>
            <a:spLocks xmlns:a="http://schemas.openxmlformats.org/drawingml/2006/main" noGrp="1"/>
          </p:cNvSpPr>
          <p:nvPr/>
        </p:nvSpPr>
        <p:spPr>
          <a:xfrm xmlns:a="http://schemas.openxmlformats.org/drawingml/2006/main">
            <a:off x="1118235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536270"/>
                </a:solidFill>
              </a:defRPr>
            </a:pPr>
            <a:r>
              <a:rPr sz="975" b="1">
                <a:solidFill>
                  <a:srgbClr val="536270"/>
                </a:solidFill>
              </a:rPr>
              <a:t>10</a:t>
            </a:r>
          </a:p>
        </p:txBody>
      </p:sp>
      <p:sp>
        <p:nvSpPr>
          <p:cNvPr id="5" name="text">
            <a:extLst xmlns:a="http://schemas.openxmlformats.org/drawingml/2006/main">
              <a:ext uri="{FF2B5EF4-FFF2-40B4-BE49-F238E27FC236}">
                <a16:creationId xmlns:a16="http://schemas.microsoft.com/office/drawing/2014/main" id="{234C0278-5281-4B71-8CAB-DF18561DD1AB}"/>
              </a:ext>
            </a:extLst>
          </p:cNvPr>
          <p:cNvSpPr>
            <a:spLocks xmlns:a="http://schemas.openxmlformats.org/drawingml/2006/main" noGrp="1"/>
          </p:cNvSpPr>
          <p:nvPr/>
        </p:nvSpPr>
        <p:spPr>
          <a:xfrm xmlns:a="http://schemas.openxmlformats.org/drawingml/2006/main">
            <a:off x="552450" y="160020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26BFF"/>
                </a:solidFill>
              </a:defRPr>
            </a:pPr>
            <a:r>
              <a:rPr sz="1950" b="1">
                <a:solidFill>
                  <a:srgbClr val="126BFF"/>
                </a:solidFill>
              </a:rPr>
              <a:t>Mesma média</a:t>
            </a:r>
          </a:p>
        </p:txBody>
      </p:sp>
      <p:sp>
        <p:nvSpPr>
          <p:cNvPr id="6" name="text">
            <a:extLst xmlns:a="http://schemas.openxmlformats.org/drawingml/2006/main">
              <a:ext uri="{FF2B5EF4-FFF2-40B4-BE49-F238E27FC236}">
                <a16:creationId xmlns:a16="http://schemas.microsoft.com/office/drawing/2014/main" id="{74A1B1F6-27BD-491A-9F10-BE32BFD1633B}"/>
              </a:ext>
            </a:extLst>
          </p:cNvPr>
          <p:cNvSpPr>
            <a:spLocks xmlns:a="http://schemas.openxmlformats.org/drawingml/2006/main" noGrp="1"/>
          </p:cNvSpPr>
          <p:nvPr/>
        </p:nvSpPr>
        <p:spPr>
          <a:xfrm xmlns:a="http://schemas.openxmlformats.org/drawingml/2006/main">
            <a:off x="3714750" y="1600200"/>
            <a:ext cx="552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4202B"/>
                </a:solidFill>
              </a:defRPr>
            </a:pPr>
            <a:r>
              <a:rPr sz="1950" b="1">
                <a:solidFill>
                  <a:srgbClr val="14202B"/>
                </a:solidFill>
              </a:rPr>
              <a:t>distribuições diferentes</a:t>
            </a:r>
          </a:p>
        </p:txBody>
      </p:sp>
      <p:sp>
        <p:nvSpPr>
          <p:cNvPr id="7" name="">
            <a:extLst xmlns:a="http://schemas.openxmlformats.org/drawingml/2006/main">
              <a:ext uri="{FF2B5EF4-FFF2-40B4-BE49-F238E27FC236}">
                <a16:creationId xmlns:a16="http://schemas.microsoft.com/office/drawing/2014/main" id="{41673627-5CD0-4AD7-9949-75EC5A7985BB}"/>
              </a:ext>
            </a:extLst>
          </p:cNvPr>
          <p:cNvSpPr>
            <a:spLocks xmlns:a="http://schemas.openxmlformats.org/drawingml/2006/main" noGrp="1"/>
          </p:cNvSpPr>
          <p:nvPr/>
        </p:nvSpPr>
        <p:spPr>
          <a:xfrm xmlns:a="http://schemas.openxmlformats.org/drawingml/2006/main">
            <a:off x="857250" y="3143250"/>
            <a:ext cx="4286250" cy="0"/>
          </a:xfrm>
          <a:prstGeom xmlns:a="http://schemas.openxmlformats.org/drawingml/2006/main" prst="line">
            <a:avLst/>
          </a:prstGeom>
          <a:noFill xmlns:a="http://schemas.openxmlformats.org/drawingml/2006/main"/>
          <a:ln xmlns:a="http://schemas.openxmlformats.org/drawingml/2006/main" w="19050">
            <a:solidFill>
              <a:srgbClr val="C9D3DC"/>
            </a:solidFill>
            <a:prstDash val="solid"/>
          </a:ln>
        </p:spPr>
      </p:sp>
      <p:sp>
        <p:nvSpPr>
          <p:cNvPr id="8" name="shape">
            <a:extLst xmlns:a="http://schemas.openxmlformats.org/drawingml/2006/main">
              <a:ext uri="{FF2B5EF4-FFF2-40B4-BE49-F238E27FC236}">
                <a16:creationId xmlns:a16="http://schemas.microsoft.com/office/drawing/2014/main" id="{DB4F6166-F7A0-4A2E-846B-942D302358D0}"/>
              </a:ext>
            </a:extLst>
          </p:cNvPr>
          <p:cNvSpPr>
            <a:spLocks xmlns:a="http://schemas.openxmlformats.org/drawingml/2006/main" noGrp="1"/>
          </p:cNvSpPr>
          <p:nvPr/>
        </p:nvSpPr>
        <p:spPr>
          <a:xfrm xmlns:a="http://schemas.openxmlformats.org/drawingml/2006/main">
            <a:off x="1714500" y="2990850"/>
            <a:ext cx="209550" cy="209550"/>
          </a:xfrm>
          <a:prstGeom xmlns:a="http://schemas.openxmlformats.org/drawingml/2006/main" prst="ellipse">
            <a:avLst/>
          </a:prstGeom>
          <a:solidFill xmlns:a="http://schemas.openxmlformats.org/drawingml/2006/main">
            <a:srgbClr val="126BFF"/>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D440646-1C65-4150-B85A-92A27EEFF861}"/>
              </a:ext>
            </a:extLst>
          </p:cNvPr>
          <p:cNvSpPr>
            <a:spLocks xmlns:a="http://schemas.openxmlformats.org/drawingml/2006/main" noGrp="1"/>
          </p:cNvSpPr>
          <p:nvPr/>
        </p:nvSpPr>
        <p:spPr>
          <a:xfrm xmlns:a="http://schemas.openxmlformats.org/drawingml/2006/main">
            <a:off x="2095500" y="2990850"/>
            <a:ext cx="209550" cy="209550"/>
          </a:xfrm>
          <a:prstGeom xmlns:a="http://schemas.openxmlformats.org/drawingml/2006/main" prst="ellipse">
            <a:avLst/>
          </a:prstGeom>
          <a:solidFill xmlns:a="http://schemas.openxmlformats.org/drawingml/2006/main">
            <a:srgbClr val="126BFF"/>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772AB7FE-0749-421A-8755-E1E1A6AC833E}"/>
              </a:ext>
            </a:extLst>
          </p:cNvPr>
          <p:cNvSpPr>
            <a:spLocks xmlns:a="http://schemas.openxmlformats.org/drawingml/2006/main" noGrp="1"/>
          </p:cNvSpPr>
          <p:nvPr/>
        </p:nvSpPr>
        <p:spPr>
          <a:xfrm xmlns:a="http://schemas.openxmlformats.org/drawingml/2006/main">
            <a:off x="2381250" y="2990850"/>
            <a:ext cx="209550" cy="209550"/>
          </a:xfrm>
          <a:prstGeom xmlns:a="http://schemas.openxmlformats.org/drawingml/2006/main" prst="ellipse">
            <a:avLst/>
          </a:prstGeom>
          <a:solidFill xmlns:a="http://schemas.openxmlformats.org/drawingml/2006/main">
            <a:srgbClr val="126BFF"/>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6D69B875-0288-4CD6-9E01-E586F17F5BB9}"/>
              </a:ext>
            </a:extLst>
          </p:cNvPr>
          <p:cNvSpPr>
            <a:spLocks xmlns:a="http://schemas.openxmlformats.org/drawingml/2006/main" noGrp="1"/>
          </p:cNvSpPr>
          <p:nvPr/>
        </p:nvSpPr>
        <p:spPr>
          <a:xfrm xmlns:a="http://schemas.openxmlformats.org/drawingml/2006/main">
            <a:off x="2667000" y="2990850"/>
            <a:ext cx="209550" cy="209550"/>
          </a:xfrm>
          <a:prstGeom xmlns:a="http://schemas.openxmlformats.org/drawingml/2006/main" prst="ellipse">
            <a:avLst/>
          </a:prstGeom>
          <a:solidFill xmlns:a="http://schemas.openxmlformats.org/drawingml/2006/main">
            <a:srgbClr val="126BFF"/>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C4C7C8E4-0112-49F0-A132-0612B73175D1}"/>
              </a:ext>
            </a:extLst>
          </p:cNvPr>
          <p:cNvSpPr>
            <a:spLocks xmlns:a="http://schemas.openxmlformats.org/drawingml/2006/main" noGrp="1"/>
          </p:cNvSpPr>
          <p:nvPr/>
        </p:nvSpPr>
        <p:spPr>
          <a:xfrm xmlns:a="http://schemas.openxmlformats.org/drawingml/2006/main">
            <a:off x="2952750" y="2990850"/>
            <a:ext cx="209550" cy="209550"/>
          </a:xfrm>
          <a:prstGeom xmlns:a="http://schemas.openxmlformats.org/drawingml/2006/main" prst="ellipse">
            <a:avLst/>
          </a:prstGeom>
          <a:solidFill xmlns:a="http://schemas.openxmlformats.org/drawingml/2006/main">
            <a:srgbClr val="126BFF"/>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E9E6D2E3-9F47-4153-8BB8-E9EB3DDDE514}"/>
              </a:ext>
            </a:extLst>
          </p:cNvPr>
          <p:cNvSpPr>
            <a:spLocks xmlns:a="http://schemas.openxmlformats.org/drawingml/2006/main" noGrp="1"/>
          </p:cNvSpPr>
          <p:nvPr/>
        </p:nvSpPr>
        <p:spPr>
          <a:xfrm xmlns:a="http://schemas.openxmlformats.org/drawingml/2006/main">
            <a:off x="3238500" y="2990850"/>
            <a:ext cx="209550" cy="209550"/>
          </a:xfrm>
          <a:prstGeom xmlns:a="http://schemas.openxmlformats.org/drawingml/2006/main" prst="ellipse">
            <a:avLst/>
          </a:prstGeom>
          <a:solidFill xmlns:a="http://schemas.openxmlformats.org/drawingml/2006/main">
            <a:srgbClr val="126BFF"/>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DE96D36C-8B28-4FC0-95EF-5D70F9939F60}"/>
              </a:ext>
            </a:extLst>
          </p:cNvPr>
          <p:cNvSpPr>
            <a:spLocks xmlns:a="http://schemas.openxmlformats.org/drawingml/2006/main" noGrp="1"/>
          </p:cNvSpPr>
          <p:nvPr/>
        </p:nvSpPr>
        <p:spPr>
          <a:xfrm xmlns:a="http://schemas.openxmlformats.org/drawingml/2006/main">
            <a:off x="3524250" y="2990850"/>
            <a:ext cx="209550" cy="209550"/>
          </a:xfrm>
          <a:prstGeom xmlns:a="http://schemas.openxmlformats.org/drawingml/2006/main" prst="ellipse">
            <a:avLst/>
          </a:prstGeom>
          <a:solidFill xmlns:a="http://schemas.openxmlformats.org/drawingml/2006/main">
            <a:srgbClr val="126BFF"/>
          </a:solidFill>
          <a:ln xmlns:a="http://schemas.openxmlformats.org/drawingml/2006/main" w="0">
            <a:noFill/>
            <a:prstDash val="solid"/>
          </a:ln>
        </p:spPr>
      </p:sp>
      <p:sp>
        <p:nvSpPr>
          <p:cNvPr id="15" name="shape">
            <a:extLst xmlns:a="http://schemas.openxmlformats.org/drawingml/2006/main">
              <a:ext uri="{FF2B5EF4-FFF2-40B4-BE49-F238E27FC236}">
                <a16:creationId xmlns:a16="http://schemas.microsoft.com/office/drawing/2014/main" id="{323E780B-523D-4959-8537-D04767547149}"/>
              </a:ext>
            </a:extLst>
          </p:cNvPr>
          <p:cNvSpPr>
            <a:spLocks xmlns:a="http://schemas.openxmlformats.org/drawingml/2006/main" noGrp="1"/>
          </p:cNvSpPr>
          <p:nvPr/>
        </p:nvSpPr>
        <p:spPr>
          <a:xfrm xmlns:a="http://schemas.openxmlformats.org/drawingml/2006/main">
            <a:off x="3810000" y="2990850"/>
            <a:ext cx="209550" cy="209550"/>
          </a:xfrm>
          <a:prstGeom xmlns:a="http://schemas.openxmlformats.org/drawingml/2006/main" prst="ellipse">
            <a:avLst/>
          </a:prstGeom>
          <a:solidFill xmlns:a="http://schemas.openxmlformats.org/drawingml/2006/main">
            <a:srgbClr val="126BFF"/>
          </a:solidFill>
          <a:ln xmlns:a="http://schemas.openxmlformats.org/drawingml/2006/main" w="0">
            <a:noFill/>
            <a:prstDash val="solid"/>
          </a:ln>
        </p:spPr>
      </p:sp>
      <p:sp>
        <p:nvSpPr>
          <p:cNvPr id="16" name="shape">
            <a:extLst xmlns:a="http://schemas.openxmlformats.org/drawingml/2006/main">
              <a:ext uri="{FF2B5EF4-FFF2-40B4-BE49-F238E27FC236}">
                <a16:creationId xmlns:a16="http://schemas.microsoft.com/office/drawing/2014/main" id="{52FF08A9-C0A2-4489-A197-E0832817F5FC}"/>
              </a:ext>
            </a:extLst>
          </p:cNvPr>
          <p:cNvSpPr>
            <a:spLocks xmlns:a="http://schemas.openxmlformats.org/drawingml/2006/main" noGrp="1"/>
          </p:cNvSpPr>
          <p:nvPr/>
        </p:nvSpPr>
        <p:spPr>
          <a:xfrm xmlns:a="http://schemas.openxmlformats.org/drawingml/2006/main">
            <a:off x="4095750" y="2990850"/>
            <a:ext cx="209550" cy="209550"/>
          </a:xfrm>
          <a:prstGeom xmlns:a="http://schemas.openxmlformats.org/drawingml/2006/main" prst="ellipse">
            <a:avLst/>
          </a:prstGeom>
          <a:solidFill xmlns:a="http://schemas.openxmlformats.org/drawingml/2006/main">
            <a:srgbClr val="126B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3D5FCA5-A5CE-4E03-B81A-59CB60D2D1DA}"/>
              </a:ext>
            </a:extLst>
          </p:cNvPr>
          <p:cNvSpPr>
            <a:spLocks xmlns:a="http://schemas.openxmlformats.org/drawingml/2006/main" noGrp="1"/>
          </p:cNvSpPr>
          <p:nvPr/>
        </p:nvSpPr>
        <p:spPr>
          <a:xfrm xmlns:a="http://schemas.openxmlformats.org/drawingml/2006/main">
            <a:off x="6477000" y="3143250"/>
            <a:ext cx="4286250" cy="0"/>
          </a:xfrm>
          <a:prstGeom xmlns:a="http://schemas.openxmlformats.org/drawingml/2006/main" prst="line">
            <a:avLst/>
          </a:prstGeom>
          <a:noFill xmlns:a="http://schemas.openxmlformats.org/drawingml/2006/main"/>
          <a:ln xmlns:a="http://schemas.openxmlformats.org/drawingml/2006/main" w="19050">
            <a:solidFill>
              <a:srgbClr val="C9D3DC"/>
            </a:solidFill>
            <a:prstDash val="solid"/>
          </a:ln>
        </p:spPr>
      </p:sp>
      <p:sp>
        <p:nvSpPr>
          <p:cNvPr id="18" name="shape">
            <a:extLst xmlns:a="http://schemas.openxmlformats.org/drawingml/2006/main">
              <a:ext uri="{FF2B5EF4-FFF2-40B4-BE49-F238E27FC236}">
                <a16:creationId xmlns:a16="http://schemas.microsoft.com/office/drawing/2014/main" id="{AAEC9D4E-F6DB-4169-A9B0-222BD938CED1}"/>
              </a:ext>
            </a:extLst>
          </p:cNvPr>
          <p:cNvSpPr>
            <a:spLocks xmlns:a="http://schemas.openxmlformats.org/drawingml/2006/main" noGrp="1"/>
          </p:cNvSpPr>
          <p:nvPr/>
        </p:nvSpPr>
        <p:spPr>
          <a:xfrm xmlns:a="http://schemas.openxmlformats.org/drawingml/2006/main">
            <a:off x="6572250" y="2990850"/>
            <a:ext cx="209550" cy="209550"/>
          </a:xfrm>
          <a:prstGeom xmlns:a="http://schemas.openxmlformats.org/drawingml/2006/main" prst="ellipse">
            <a:avLst/>
          </a:prstGeom>
          <a:solidFill xmlns:a="http://schemas.openxmlformats.org/drawingml/2006/main">
            <a:srgbClr val="12A889"/>
          </a:solidFill>
          <a:ln xmlns:a="http://schemas.openxmlformats.org/drawingml/2006/main" w="0">
            <a:noFill/>
            <a:prstDash val="solid"/>
          </a:ln>
        </p:spPr>
      </p:sp>
      <p:sp>
        <p:nvSpPr>
          <p:cNvPr id="19" name="shape">
            <a:extLst xmlns:a="http://schemas.openxmlformats.org/drawingml/2006/main">
              <a:ext uri="{FF2B5EF4-FFF2-40B4-BE49-F238E27FC236}">
                <a16:creationId xmlns:a16="http://schemas.microsoft.com/office/drawing/2014/main" id="{3FD9C822-AC4B-4812-B343-E11DA1972DA4}"/>
              </a:ext>
            </a:extLst>
          </p:cNvPr>
          <p:cNvSpPr>
            <a:spLocks xmlns:a="http://schemas.openxmlformats.org/drawingml/2006/main" noGrp="1"/>
          </p:cNvSpPr>
          <p:nvPr/>
        </p:nvSpPr>
        <p:spPr>
          <a:xfrm xmlns:a="http://schemas.openxmlformats.org/drawingml/2006/main">
            <a:off x="6810375" y="2990850"/>
            <a:ext cx="209550" cy="209550"/>
          </a:xfrm>
          <a:prstGeom xmlns:a="http://schemas.openxmlformats.org/drawingml/2006/main" prst="ellipse">
            <a:avLst/>
          </a:prstGeom>
          <a:solidFill xmlns:a="http://schemas.openxmlformats.org/drawingml/2006/main">
            <a:srgbClr val="12A889"/>
          </a:solidFill>
          <a:ln xmlns:a="http://schemas.openxmlformats.org/drawingml/2006/main" w="0">
            <a:noFill/>
            <a:prstDash val="solid"/>
          </a:ln>
        </p:spPr>
      </p:sp>
      <p:sp>
        <p:nvSpPr>
          <p:cNvPr id="20" name="shape">
            <a:extLst xmlns:a="http://schemas.openxmlformats.org/drawingml/2006/main">
              <a:ext uri="{FF2B5EF4-FFF2-40B4-BE49-F238E27FC236}">
                <a16:creationId xmlns:a16="http://schemas.microsoft.com/office/drawing/2014/main" id="{0CCF7DA2-DB2D-47DD-9B2B-CC3DB99C76E2}"/>
              </a:ext>
            </a:extLst>
          </p:cNvPr>
          <p:cNvSpPr>
            <a:spLocks xmlns:a="http://schemas.openxmlformats.org/drawingml/2006/main" noGrp="1"/>
          </p:cNvSpPr>
          <p:nvPr/>
        </p:nvSpPr>
        <p:spPr>
          <a:xfrm xmlns:a="http://schemas.openxmlformats.org/drawingml/2006/main">
            <a:off x="7239000" y="2990850"/>
            <a:ext cx="209550" cy="209550"/>
          </a:xfrm>
          <a:prstGeom xmlns:a="http://schemas.openxmlformats.org/drawingml/2006/main" prst="ellipse">
            <a:avLst/>
          </a:prstGeom>
          <a:solidFill xmlns:a="http://schemas.openxmlformats.org/drawingml/2006/main">
            <a:srgbClr val="12A889"/>
          </a:solidFill>
          <a:ln xmlns:a="http://schemas.openxmlformats.org/drawingml/2006/main" w="0">
            <a:noFill/>
            <a:prstDash val="solid"/>
          </a:ln>
        </p:spPr>
      </p:sp>
      <p:sp>
        <p:nvSpPr>
          <p:cNvPr id="21" name="shape">
            <a:extLst xmlns:a="http://schemas.openxmlformats.org/drawingml/2006/main">
              <a:ext uri="{FF2B5EF4-FFF2-40B4-BE49-F238E27FC236}">
                <a16:creationId xmlns:a16="http://schemas.microsoft.com/office/drawing/2014/main" id="{E18121DD-7738-4753-9075-5258EEEAF523}"/>
              </a:ext>
            </a:extLst>
          </p:cNvPr>
          <p:cNvSpPr>
            <a:spLocks xmlns:a="http://schemas.openxmlformats.org/drawingml/2006/main" noGrp="1"/>
          </p:cNvSpPr>
          <p:nvPr/>
        </p:nvSpPr>
        <p:spPr>
          <a:xfrm xmlns:a="http://schemas.openxmlformats.org/drawingml/2006/main">
            <a:off x="7858125" y="2990850"/>
            <a:ext cx="209550" cy="209550"/>
          </a:xfrm>
          <a:prstGeom xmlns:a="http://schemas.openxmlformats.org/drawingml/2006/main" prst="ellipse">
            <a:avLst/>
          </a:prstGeom>
          <a:solidFill xmlns:a="http://schemas.openxmlformats.org/drawingml/2006/main">
            <a:srgbClr val="12A889"/>
          </a:solidFill>
          <a:ln xmlns:a="http://schemas.openxmlformats.org/drawingml/2006/main" w="0">
            <a:noFill/>
            <a:prstDash val="solid"/>
          </a:ln>
        </p:spPr>
      </p:sp>
      <p:sp>
        <p:nvSpPr>
          <p:cNvPr id="22" name="shape">
            <a:extLst xmlns:a="http://schemas.openxmlformats.org/drawingml/2006/main">
              <a:ext uri="{FF2B5EF4-FFF2-40B4-BE49-F238E27FC236}">
                <a16:creationId xmlns:a16="http://schemas.microsoft.com/office/drawing/2014/main" id="{220E19DE-B49C-45C8-8663-C6B988582FCE}"/>
              </a:ext>
            </a:extLst>
          </p:cNvPr>
          <p:cNvSpPr>
            <a:spLocks xmlns:a="http://schemas.openxmlformats.org/drawingml/2006/main" noGrp="1"/>
          </p:cNvSpPr>
          <p:nvPr/>
        </p:nvSpPr>
        <p:spPr>
          <a:xfrm xmlns:a="http://schemas.openxmlformats.org/drawingml/2006/main">
            <a:off x="8572500" y="2990850"/>
            <a:ext cx="209550" cy="209550"/>
          </a:xfrm>
          <a:prstGeom xmlns:a="http://schemas.openxmlformats.org/drawingml/2006/main" prst="ellipse">
            <a:avLst/>
          </a:prstGeom>
          <a:solidFill xmlns:a="http://schemas.openxmlformats.org/drawingml/2006/main">
            <a:srgbClr val="12A889"/>
          </a:solidFill>
          <a:ln xmlns:a="http://schemas.openxmlformats.org/drawingml/2006/main" w="0">
            <a:noFill/>
            <a:prstDash val="solid"/>
          </a:ln>
        </p:spPr>
      </p:sp>
      <p:sp>
        <p:nvSpPr>
          <p:cNvPr id="23" name="shape">
            <a:extLst xmlns:a="http://schemas.openxmlformats.org/drawingml/2006/main">
              <a:ext uri="{FF2B5EF4-FFF2-40B4-BE49-F238E27FC236}">
                <a16:creationId xmlns:a16="http://schemas.microsoft.com/office/drawing/2014/main" id="{7D139AD5-EF15-4465-A777-40726837794D}"/>
              </a:ext>
            </a:extLst>
          </p:cNvPr>
          <p:cNvSpPr>
            <a:spLocks xmlns:a="http://schemas.openxmlformats.org/drawingml/2006/main" noGrp="1"/>
          </p:cNvSpPr>
          <p:nvPr/>
        </p:nvSpPr>
        <p:spPr>
          <a:xfrm xmlns:a="http://schemas.openxmlformats.org/drawingml/2006/main">
            <a:off x="9429750" y="2990850"/>
            <a:ext cx="209550" cy="209550"/>
          </a:xfrm>
          <a:prstGeom xmlns:a="http://schemas.openxmlformats.org/drawingml/2006/main" prst="ellipse">
            <a:avLst/>
          </a:prstGeom>
          <a:solidFill xmlns:a="http://schemas.openxmlformats.org/drawingml/2006/main">
            <a:srgbClr val="12A889"/>
          </a:solidFill>
          <a:ln xmlns:a="http://schemas.openxmlformats.org/drawingml/2006/main" w="0">
            <a:noFill/>
            <a:prstDash val="solid"/>
          </a:ln>
        </p:spPr>
      </p:sp>
      <p:sp>
        <p:nvSpPr>
          <p:cNvPr id="24" name="shape">
            <a:extLst xmlns:a="http://schemas.openxmlformats.org/drawingml/2006/main">
              <a:ext uri="{FF2B5EF4-FFF2-40B4-BE49-F238E27FC236}">
                <a16:creationId xmlns:a16="http://schemas.microsoft.com/office/drawing/2014/main" id="{8DA4F6A0-FC58-4A3C-8E43-A0FCF63AC9B8}"/>
              </a:ext>
            </a:extLst>
          </p:cNvPr>
          <p:cNvSpPr>
            <a:spLocks xmlns:a="http://schemas.openxmlformats.org/drawingml/2006/main" noGrp="1"/>
          </p:cNvSpPr>
          <p:nvPr/>
        </p:nvSpPr>
        <p:spPr>
          <a:xfrm xmlns:a="http://schemas.openxmlformats.org/drawingml/2006/main">
            <a:off x="10096500" y="2990850"/>
            <a:ext cx="209550" cy="209550"/>
          </a:xfrm>
          <a:prstGeom xmlns:a="http://schemas.openxmlformats.org/drawingml/2006/main" prst="ellipse">
            <a:avLst/>
          </a:prstGeom>
          <a:solidFill xmlns:a="http://schemas.openxmlformats.org/drawingml/2006/main">
            <a:srgbClr val="12A889"/>
          </a:solidFill>
          <a:ln xmlns:a="http://schemas.openxmlformats.org/drawingml/2006/main" w="0">
            <a:noFill/>
            <a:prstDash val="solid"/>
          </a:ln>
        </p:spPr>
      </p:sp>
      <p:sp>
        <p:nvSpPr>
          <p:cNvPr id="25" name="shape">
            <a:extLst xmlns:a="http://schemas.openxmlformats.org/drawingml/2006/main">
              <a:ext uri="{FF2B5EF4-FFF2-40B4-BE49-F238E27FC236}">
                <a16:creationId xmlns:a16="http://schemas.microsoft.com/office/drawing/2014/main" id="{2A21B855-4DE1-4F9A-BF3B-19D324F278F4}"/>
              </a:ext>
            </a:extLst>
          </p:cNvPr>
          <p:cNvSpPr>
            <a:spLocks xmlns:a="http://schemas.openxmlformats.org/drawingml/2006/main" noGrp="1"/>
          </p:cNvSpPr>
          <p:nvPr/>
        </p:nvSpPr>
        <p:spPr>
          <a:xfrm xmlns:a="http://schemas.openxmlformats.org/drawingml/2006/main">
            <a:off x="10477500" y="2990850"/>
            <a:ext cx="209550" cy="209550"/>
          </a:xfrm>
          <a:prstGeom xmlns:a="http://schemas.openxmlformats.org/drawingml/2006/main" prst="ellipse">
            <a:avLst/>
          </a:prstGeom>
          <a:solidFill xmlns:a="http://schemas.openxmlformats.org/drawingml/2006/main">
            <a:srgbClr val="12A889"/>
          </a:solidFill>
          <a:ln xmlns:a="http://schemas.openxmlformats.org/drawingml/2006/main" w="0">
            <a:noFill/>
            <a:prstDash val="solid"/>
          </a:ln>
        </p:spPr>
      </p:sp>
      <p:sp>
        <p:nvSpPr>
          <p:cNvPr id="26" name="shape">
            <a:extLst xmlns:a="http://schemas.openxmlformats.org/drawingml/2006/main">
              <a:ext uri="{FF2B5EF4-FFF2-40B4-BE49-F238E27FC236}">
                <a16:creationId xmlns:a16="http://schemas.microsoft.com/office/drawing/2014/main" id="{E127D167-2648-4511-8C17-71534782E402}"/>
              </a:ext>
            </a:extLst>
          </p:cNvPr>
          <p:cNvSpPr>
            <a:spLocks xmlns:a="http://schemas.openxmlformats.org/drawingml/2006/main" noGrp="1"/>
          </p:cNvSpPr>
          <p:nvPr/>
        </p:nvSpPr>
        <p:spPr>
          <a:xfrm xmlns:a="http://schemas.openxmlformats.org/drawingml/2006/main">
            <a:off x="10715625" y="2990850"/>
            <a:ext cx="209550" cy="209550"/>
          </a:xfrm>
          <a:prstGeom xmlns:a="http://schemas.openxmlformats.org/drawingml/2006/main" prst="ellipse">
            <a:avLst/>
          </a:prstGeom>
          <a:solidFill xmlns:a="http://schemas.openxmlformats.org/drawingml/2006/main">
            <a:srgbClr val="12A889"/>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4FB2FA2E-D7A8-41E7-AB2C-3B62D7E79991}"/>
              </a:ext>
            </a:extLst>
          </p:cNvPr>
          <p:cNvSpPr>
            <a:spLocks xmlns:a="http://schemas.openxmlformats.org/drawingml/2006/main" noGrp="1"/>
          </p:cNvSpPr>
          <p:nvPr/>
        </p:nvSpPr>
        <p:spPr>
          <a:xfrm xmlns:a="http://schemas.openxmlformats.org/drawingml/2006/main">
            <a:off x="857250" y="3571875"/>
            <a:ext cx="428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26BFF"/>
                </a:solidFill>
              </a:defRPr>
            </a:pPr>
            <a:r>
              <a:rPr sz="1650" b="1">
                <a:solidFill>
                  <a:srgbClr val="126BFF"/>
                </a:solidFill>
              </a:rPr>
              <a:t>baixa dispersão</a:t>
            </a:r>
          </a:p>
        </p:txBody>
      </p:sp>
      <p:sp>
        <p:nvSpPr>
          <p:cNvPr id="28" name="text">
            <a:extLst xmlns:a="http://schemas.openxmlformats.org/drawingml/2006/main">
              <a:ext uri="{FF2B5EF4-FFF2-40B4-BE49-F238E27FC236}">
                <a16:creationId xmlns:a16="http://schemas.microsoft.com/office/drawing/2014/main" id="{6D22812B-BD07-43EA-A0F6-0066AB1E6466}"/>
              </a:ext>
            </a:extLst>
          </p:cNvPr>
          <p:cNvSpPr>
            <a:spLocks xmlns:a="http://schemas.openxmlformats.org/drawingml/2006/main" noGrp="1"/>
          </p:cNvSpPr>
          <p:nvPr/>
        </p:nvSpPr>
        <p:spPr>
          <a:xfrm xmlns:a="http://schemas.openxmlformats.org/drawingml/2006/main">
            <a:off x="6477000" y="3571875"/>
            <a:ext cx="428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2A889"/>
                </a:solidFill>
              </a:defRPr>
            </a:pPr>
            <a:r>
              <a:rPr sz="1650" b="1">
                <a:solidFill>
                  <a:srgbClr val="12A889"/>
                </a:solidFill>
              </a:rPr>
              <a:t>alta dispersão</a:t>
            </a:r>
          </a:p>
        </p:txBody>
      </p:sp>
      <p:sp>
        <p:nvSpPr>
          <p:cNvPr id="29" name="text">
            <a:extLst xmlns:a="http://schemas.openxmlformats.org/drawingml/2006/main">
              <a:ext uri="{FF2B5EF4-FFF2-40B4-BE49-F238E27FC236}">
                <a16:creationId xmlns:a16="http://schemas.microsoft.com/office/drawing/2014/main" id="{FA754E7F-5758-4BC9-B7FB-1C515A04DDB3}"/>
              </a:ext>
            </a:extLst>
          </p:cNvPr>
          <p:cNvSpPr>
            <a:spLocks xmlns:a="http://schemas.openxmlformats.org/drawingml/2006/main" noGrp="1"/>
          </p:cNvSpPr>
          <p:nvPr/>
        </p:nvSpPr>
        <p:spPr>
          <a:xfrm xmlns:a="http://schemas.openxmlformats.org/drawingml/2006/main">
            <a:off x="552450" y="46672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536270"/>
                </a:solidFill>
              </a:defRPr>
            </a:pPr>
            <a:r>
              <a:rPr sz="1200" b="1">
                <a:solidFill>
                  <a:srgbClr val="536270"/>
                </a:solidFill>
              </a:rPr>
              <a:t>AMPLITUDE</a:t>
            </a:r>
          </a:p>
        </p:txBody>
      </p:sp>
      <p:sp>
        <p:nvSpPr>
          <p:cNvPr id="30" name="text">
            <a:extLst xmlns:a="http://schemas.openxmlformats.org/drawingml/2006/main">
              <a:ext uri="{FF2B5EF4-FFF2-40B4-BE49-F238E27FC236}">
                <a16:creationId xmlns:a16="http://schemas.microsoft.com/office/drawing/2014/main" id="{98F499AF-D8A1-4C76-9483-90023E8CECF0}"/>
              </a:ext>
            </a:extLst>
          </p:cNvPr>
          <p:cNvSpPr>
            <a:spLocks xmlns:a="http://schemas.openxmlformats.org/drawingml/2006/main" noGrp="1"/>
          </p:cNvSpPr>
          <p:nvPr/>
        </p:nvSpPr>
        <p:spPr>
          <a:xfrm xmlns:a="http://schemas.openxmlformats.org/drawingml/2006/main">
            <a:off x="552450" y="50292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4202B"/>
                </a:solidFill>
              </a:defRPr>
            </a:pPr>
            <a:r>
              <a:rPr sz="1650" b="1">
                <a:solidFill>
                  <a:srgbClr val="14202B"/>
                </a:solidFill>
              </a:rPr>
              <a:t>máximo − mínimo</a:t>
            </a:r>
          </a:p>
        </p:txBody>
      </p:sp>
      <p:sp>
        <p:nvSpPr>
          <p:cNvPr id="31" name="text">
            <a:extLst xmlns:a="http://schemas.openxmlformats.org/drawingml/2006/main">
              <a:ext uri="{FF2B5EF4-FFF2-40B4-BE49-F238E27FC236}">
                <a16:creationId xmlns:a16="http://schemas.microsoft.com/office/drawing/2014/main" id="{9C12D826-0145-4A21-A843-E58DEDE798B7}"/>
              </a:ext>
            </a:extLst>
          </p:cNvPr>
          <p:cNvSpPr>
            <a:spLocks xmlns:a="http://schemas.openxmlformats.org/drawingml/2006/main" noGrp="1"/>
          </p:cNvSpPr>
          <p:nvPr/>
        </p:nvSpPr>
        <p:spPr>
          <a:xfrm xmlns:a="http://schemas.openxmlformats.org/drawingml/2006/main">
            <a:off x="4267200" y="46672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536270"/>
                </a:solidFill>
              </a:defRPr>
            </a:pPr>
            <a:r>
              <a:rPr sz="1200" b="1">
                <a:solidFill>
                  <a:srgbClr val="536270"/>
                </a:solidFill>
              </a:rPr>
              <a:t>IQR</a:t>
            </a:r>
          </a:p>
        </p:txBody>
      </p:sp>
      <p:sp>
        <p:nvSpPr>
          <p:cNvPr id="32" name="text">
            <a:extLst xmlns:a="http://schemas.openxmlformats.org/drawingml/2006/main">
              <a:ext uri="{FF2B5EF4-FFF2-40B4-BE49-F238E27FC236}">
                <a16:creationId xmlns:a16="http://schemas.microsoft.com/office/drawing/2014/main" id="{1C25BC55-C71B-4164-B0D0-3167EA0DAF7F}"/>
              </a:ext>
            </a:extLst>
          </p:cNvPr>
          <p:cNvSpPr>
            <a:spLocks xmlns:a="http://schemas.openxmlformats.org/drawingml/2006/main" noGrp="1"/>
          </p:cNvSpPr>
          <p:nvPr/>
        </p:nvSpPr>
        <p:spPr>
          <a:xfrm xmlns:a="http://schemas.openxmlformats.org/drawingml/2006/main">
            <a:off x="4267200" y="50292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4202B"/>
                </a:solidFill>
              </a:defRPr>
            </a:pPr>
            <a:r>
              <a:rPr sz="1650" b="1">
                <a:solidFill>
                  <a:srgbClr val="14202B"/>
                </a:solidFill>
              </a:rPr>
              <a:t>Q3 − Q1</a:t>
            </a:r>
          </a:p>
        </p:txBody>
      </p:sp>
      <p:sp>
        <p:nvSpPr>
          <p:cNvPr id="33" name="text">
            <a:extLst xmlns:a="http://schemas.openxmlformats.org/drawingml/2006/main">
              <a:ext uri="{FF2B5EF4-FFF2-40B4-BE49-F238E27FC236}">
                <a16:creationId xmlns:a16="http://schemas.microsoft.com/office/drawing/2014/main" id="{DBC40887-AC49-4875-97B7-82D792FE475A}"/>
              </a:ext>
            </a:extLst>
          </p:cNvPr>
          <p:cNvSpPr>
            <a:spLocks xmlns:a="http://schemas.openxmlformats.org/drawingml/2006/main" noGrp="1"/>
          </p:cNvSpPr>
          <p:nvPr/>
        </p:nvSpPr>
        <p:spPr>
          <a:xfrm xmlns:a="http://schemas.openxmlformats.org/drawingml/2006/main">
            <a:off x="7981950" y="46672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536270"/>
                </a:solidFill>
              </a:defRPr>
            </a:pPr>
            <a:r>
              <a:rPr sz="1200" b="1">
                <a:solidFill>
                  <a:srgbClr val="536270"/>
                </a:solidFill>
              </a:rPr>
              <a:t>DESVIO PADRÃO</a:t>
            </a:r>
          </a:p>
        </p:txBody>
      </p:sp>
      <p:sp>
        <p:nvSpPr>
          <p:cNvPr id="34" name="text">
            <a:extLst xmlns:a="http://schemas.openxmlformats.org/drawingml/2006/main">
              <a:ext uri="{FF2B5EF4-FFF2-40B4-BE49-F238E27FC236}">
                <a16:creationId xmlns:a16="http://schemas.microsoft.com/office/drawing/2014/main" id="{EDFE5F39-5D05-4DC7-B12F-1092AC935229}"/>
              </a:ext>
            </a:extLst>
          </p:cNvPr>
          <p:cNvSpPr>
            <a:spLocks xmlns:a="http://schemas.openxmlformats.org/drawingml/2006/main" noGrp="1"/>
          </p:cNvSpPr>
          <p:nvPr/>
        </p:nvSpPr>
        <p:spPr>
          <a:xfrm xmlns:a="http://schemas.openxmlformats.org/drawingml/2006/main">
            <a:off x="7981950" y="50292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4202B"/>
                </a:solidFill>
              </a:defRPr>
            </a:pPr>
            <a:r>
              <a:rPr sz="1650" b="1">
                <a:solidFill>
                  <a:srgbClr val="14202B"/>
                </a:solidFill>
              </a:rPr>
              <a:t>distância típica da média</a:t>
            </a:r>
          </a:p>
        </p:txBody>
      </p:sp>
    </p:spTree>
    <p:extLst>
      <p:ext uri="{BB962C8B-B14F-4D97-AF65-F5344CB8AC3E}">
        <p14:creationId xmlns:p14="http://schemas.microsoft.com/office/powerpoint/2010/main" val="43851124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
            <a:extLst xmlns:a="http://schemas.openxmlformats.org/drawingml/2006/main">
              <a:ext uri="{FF2B5EF4-FFF2-40B4-BE49-F238E27FC236}">
                <a16:creationId xmlns:a16="http://schemas.microsoft.com/office/drawing/2014/main" id="{79FF6A05-6DA6-49B1-9134-431C65331342}"/>
              </a:ext>
            </a:extLst>
          </p:cNvPr>
          <p:cNvSpPr>
            <a:spLocks xmlns:a="http://schemas.openxmlformats.org/drawingml/2006/main" noGrp="1"/>
          </p:cNvSpPr>
          <p:nvPr/>
        </p:nvSpPr>
        <p:spPr>
          <a:xfrm xmlns:a="http://schemas.openxmlformats.org/drawingml/2006/main">
            <a:off x="552450" y="20955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26BFF"/>
                </a:solidFill>
              </a:defRPr>
            </a:pPr>
            <a:r>
              <a:rPr sz="1050" b="1">
                <a:solidFill>
                  <a:srgbClr val="126BFF"/>
                </a:solidFill>
              </a:rPr>
              <a:t>VALORES EXTREMOS</a:t>
            </a:r>
          </a:p>
        </p:txBody>
      </p:sp>
      <p:sp>
        <p:nvSpPr>
          <p:cNvPr id="2" name="text">
            <a:extLst xmlns:a="http://schemas.openxmlformats.org/drawingml/2006/main">
              <a:ext uri="{FF2B5EF4-FFF2-40B4-BE49-F238E27FC236}">
                <a16:creationId xmlns:a16="http://schemas.microsoft.com/office/drawing/2014/main" id="{C29F7AD1-5094-4CD1-8059-116AC1282E09}"/>
              </a:ext>
            </a:extLst>
          </p:cNvPr>
          <p:cNvSpPr>
            <a:spLocks xmlns:a="http://schemas.openxmlformats.org/drawingml/2006/main" noGrp="1"/>
          </p:cNvSpPr>
          <p:nvPr/>
        </p:nvSpPr>
        <p:spPr>
          <a:xfrm xmlns:a="http://schemas.openxmlformats.org/drawingml/2006/main">
            <a:off x="552450" y="45720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4202B"/>
                </a:solidFill>
              </a:defRPr>
            </a:pPr>
            <a:r>
              <a:rPr sz="3600" b="1">
                <a:solidFill>
                  <a:srgbClr val="14202B"/>
                </a:solidFill>
              </a:rPr>
              <a:t>Outlier é um sinal para investigar, não uma ordem para excluir</a:t>
            </a:r>
          </a:p>
        </p:txBody>
      </p:sp>
      <p:sp>
        <p:nvSpPr>
          <p:cNvPr id="3" name="">
            <a:extLst xmlns:a="http://schemas.openxmlformats.org/drawingml/2006/main">
              <a:ext uri="{FF2B5EF4-FFF2-40B4-BE49-F238E27FC236}">
                <a16:creationId xmlns:a16="http://schemas.microsoft.com/office/drawing/2014/main" id="{87030585-6FFC-4214-9B7A-6AA79CB3517D}"/>
              </a:ext>
            </a:extLst>
          </p:cNvPr>
          <p:cNvSpPr>
            <a:spLocks xmlns:a="http://schemas.openxmlformats.org/drawingml/2006/main" noGrp="1"/>
          </p:cNvSpPr>
          <p:nvPr/>
        </p:nvSpPr>
        <p:spPr>
          <a:xfrm xmlns:a="http://schemas.openxmlformats.org/drawingml/2006/main">
            <a:off x="552450" y="1238250"/>
            <a:ext cx="11087100" cy="0"/>
          </a:xfrm>
          <a:prstGeom xmlns:a="http://schemas.openxmlformats.org/drawingml/2006/main" prst="line">
            <a:avLst/>
          </a:prstGeom>
          <a:noFill xmlns:a="http://schemas.openxmlformats.org/drawingml/2006/main"/>
          <a:ln xmlns:a="http://schemas.openxmlformats.org/drawingml/2006/main" w="9525">
            <a:solidFill>
              <a:srgbClr val="C9D3DC"/>
            </a:solidFill>
            <a:prstDash val="solid"/>
          </a:ln>
        </p:spPr>
      </p:sp>
      <p:sp>
        <p:nvSpPr>
          <p:cNvPr id="4" name="text">
            <a:extLst xmlns:a="http://schemas.openxmlformats.org/drawingml/2006/main">
              <a:ext uri="{FF2B5EF4-FFF2-40B4-BE49-F238E27FC236}">
                <a16:creationId xmlns:a16="http://schemas.microsoft.com/office/drawing/2014/main" id="{643C3A23-AB22-43A1-8062-0C7A7D2480C9}"/>
              </a:ext>
            </a:extLst>
          </p:cNvPr>
          <p:cNvSpPr>
            <a:spLocks xmlns:a="http://schemas.openxmlformats.org/drawingml/2006/main" noGrp="1"/>
          </p:cNvSpPr>
          <p:nvPr/>
        </p:nvSpPr>
        <p:spPr>
          <a:xfrm xmlns:a="http://schemas.openxmlformats.org/drawingml/2006/main">
            <a:off x="1118235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536270"/>
                </a:solidFill>
              </a:defRPr>
            </a:pPr>
            <a:r>
              <a:rPr sz="975" b="1">
                <a:solidFill>
                  <a:srgbClr val="536270"/>
                </a:solidFill>
              </a:rPr>
              <a:t>11</a:t>
            </a:r>
          </a:p>
        </p:txBody>
      </p:sp>
      <p:sp>
        <p:nvSpPr>
          <p:cNvPr id="5" name="shape">
            <a:extLst xmlns:a="http://schemas.openxmlformats.org/drawingml/2006/main">
              <a:ext uri="{FF2B5EF4-FFF2-40B4-BE49-F238E27FC236}">
                <a16:creationId xmlns:a16="http://schemas.microsoft.com/office/drawing/2014/main" id="{E04C7B99-B675-493B-AEC2-8A857BF339D5}"/>
              </a:ext>
            </a:extLst>
          </p:cNvPr>
          <p:cNvSpPr>
            <a:spLocks xmlns:a="http://schemas.openxmlformats.org/drawingml/2006/main" noGrp="1"/>
          </p:cNvSpPr>
          <p:nvPr/>
        </p:nvSpPr>
        <p:spPr>
          <a:xfrm xmlns:a="http://schemas.openxmlformats.org/drawingml/2006/main">
            <a:off x="552450" y="1695450"/>
            <a:ext cx="10687050" cy="1028700"/>
          </a:xfrm>
          <a:prstGeom xmlns:a="http://schemas.openxmlformats.org/drawingml/2006/main" prst="roundRect">
            <a:avLst>
              <a:gd name="adj" fmla="val 7407"/>
            </a:avLst>
          </a:prstGeom>
          <a:solidFill xmlns:a="http://schemas.openxmlformats.org/drawingml/2006/main">
            <a:srgbClr val="071A2B"/>
          </a:solidFill>
          <a:ln xmlns:a="http://schemas.openxmlformats.org/drawingml/2006/main" w="0">
            <a:noFill/>
            <a:prstDash val="solid"/>
          </a:ln>
        </p:spPr>
      </p:sp>
      <p:sp>
        <p:nvSpPr>
          <p:cNvPr id="6" name="text">
            <a:extLst xmlns:a="http://schemas.openxmlformats.org/drawingml/2006/main">
              <a:ext uri="{FF2B5EF4-FFF2-40B4-BE49-F238E27FC236}">
                <a16:creationId xmlns:a16="http://schemas.microsoft.com/office/drawing/2014/main" id="{694CC13C-C980-49FA-975C-168C172D6473}"/>
              </a:ext>
            </a:extLst>
          </p:cNvPr>
          <p:cNvSpPr>
            <a:spLocks xmlns:a="http://schemas.openxmlformats.org/drawingml/2006/main" noGrp="1"/>
          </p:cNvSpPr>
          <p:nvPr/>
        </p:nvSpPr>
        <p:spPr>
          <a:xfrm xmlns:a="http://schemas.openxmlformats.org/drawingml/2006/main">
            <a:off x="857250" y="1876425"/>
            <a:ext cx="10077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FFFFFF"/>
                </a:solidFill>
              </a:defRPr>
            </a:pPr>
            <a:r>
              <a:rPr sz="2550" b="1">
                <a:solidFill>
                  <a:srgbClr val="FFFFFF"/>
                </a:solidFill>
              </a:rPr>
              <a:t>Valor incomum  ≠  valor incorreto</a:t>
            </a:r>
          </a:p>
        </p:txBody>
      </p:sp>
      <p:sp>
        <p:nvSpPr>
          <p:cNvPr id="7" name="shape">
            <a:extLst xmlns:a="http://schemas.openxmlformats.org/drawingml/2006/main">
              <a:ext uri="{FF2B5EF4-FFF2-40B4-BE49-F238E27FC236}">
                <a16:creationId xmlns:a16="http://schemas.microsoft.com/office/drawing/2014/main" id="{5DC7C6B7-CE60-4E1F-8C06-0E852E2B864D}"/>
              </a:ext>
            </a:extLst>
          </p:cNvPr>
          <p:cNvSpPr>
            <a:spLocks xmlns:a="http://schemas.openxmlformats.org/drawingml/2006/main" noGrp="1"/>
          </p:cNvSpPr>
          <p:nvPr/>
        </p:nvSpPr>
        <p:spPr>
          <a:xfrm xmlns:a="http://schemas.openxmlformats.org/drawingml/2006/main">
            <a:off x="552450" y="3333750"/>
            <a:ext cx="2476500" cy="1809750"/>
          </a:xfrm>
          <a:prstGeom xmlns:a="http://schemas.openxmlformats.org/drawingml/2006/main" prst="roundRect">
            <a:avLst>
              <a:gd name="adj" fmla="val 4211"/>
            </a:avLst>
          </a:prstGeom>
          <a:solidFill xmlns:a="http://schemas.openxmlformats.org/drawingml/2006/main">
            <a:srgbClr val="F7F9FB"/>
          </a:solidFill>
          <a:ln xmlns:a="http://schemas.openxmlformats.org/drawingml/2006/main" w="9525">
            <a:solidFill>
              <a:srgbClr val="C9D3DC"/>
            </a:solidFill>
            <a:prstDash val="solid"/>
          </a:ln>
        </p:spPr>
      </p:sp>
      <p:sp>
        <p:nvSpPr>
          <p:cNvPr id="8" name="text">
            <a:extLst xmlns:a="http://schemas.openxmlformats.org/drawingml/2006/main">
              <a:ext uri="{FF2B5EF4-FFF2-40B4-BE49-F238E27FC236}">
                <a16:creationId xmlns:a16="http://schemas.microsoft.com/office/drawing/2014/main" id="{53EAB373-6423-47FF-B657-A8614CDBBD07}"/>
              </a:ext>
            </a:extLst>
          </p:cNvPr>
          <p:cNvSpPr>
            <a:spLocks xmlns:a="http://schemas.openxmlformats.org/drawingml/2006/main" noGrp="1"/>
          </p:cNvSpPr>
          <p:nvPr/>
        </p:nvSpPr>
        <p:spPr>
          <a:xfrm xmlns:a="http://schemas.openxmlformats.org/drawingml/2006/main">
            <a:off x="723900" y="35052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26BFF"/>
                </a:solidFill>
              </a:defRPr>
            </a:pPr>
            <a:r>
              <a:rPr sz="1200" b="1">
                <a:solidFill>
                  <a:srgbClr val="126BFF"/>
                </a:solidFill>
              </a:rPr>
              <a:t>1</a:t>
            </a:r>
          </a:p>
        </p:txBody>
      </p:sp>
      <p:sp>
        <p:nvSpPr>
          <p:cNvPr id="9" name="text">
            <a:extLst xmlns:a="http://schemas.openxmlformats.org/drawingml/2006/main">
              <a:ext uri="{FF2B5EF4-FFF2-40B4-BE49-F238E27FC236}">
                <a16:creationId xmlns:a16="http://schemas.microsoft.com/office/drawing/2014/main" id="{CC501504-36F6-416B-A80A-7F87D22018AD}"/>
              </a:ext>
            </a:extLst>
          </p:cNvPr>
          <p:cNvSpPr>
            <a:spLocks xmlns:a="http://schemas.openxmlformats.org/drawingml/2006/main" noGrp="1"/>
          </p:cNvSpPr>
          <p:nvPr/>
        </p:nvSpPr>
        <p:spPr>
          <a:xfrm xmlns:a="http://schemas.openxmlformats.org/drawingml/2006/main">
            <a:off x="723900" y="3943350"/>
            <a:ext cx="2133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4202B"/>
                </a:solidFill>
              </a:defRPr>
            </a:pPr>
            <a:r>
              <a:rPr sz="1575" b="1">
                <a:solidFill>
                  <a:srgbClr val="14202B"/>
                </a:solidFill>
              </a:rPr>
              <a:t>DETECTAR</a:t>
            </a:r>
          </a:p>
        </p:txBody>
      </p:sp>
      <p:sp>
        <p:nvSpPr>
          <p:cNvPr id="10" name="text">
            <a:extLst xmlns:a="http://schemas.openxmlformats.org/drawingml/2006/main">
              <a:ext uri="{FF2B5EF4-FFF2-40B4-BE49-F238E27FC236}">
                <a16:creationId xmlns:a16="http://schemas.microsoft.com/office/drawing/2014/main" id="{36C4FB76-4BA9-4014-9E68-44E4A0488590}"/>
              </a:ext>
            </a:extLst>
          </p:cNvPr>
          <p:cNvSpPr>
            <a:spLocks xmlns:a="http://schemas.openxmlformats.org/drawingml/2006/main" noGrp="1"/>
          </p:cNvSpPr>
          <p:nvPr/>
        </p:nvSpPr>
        <p:spPr>
          <a:xfrm xmlns:a="http://schemas.openxmlformats.org/drawingml/2006/main">
            <a:off x="723900" y="4410075"/>
            <a:ext cx="2133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536270"/>
                </a:solidFill>
              </a:defRPr>
            </a:pPr>
            <a:r>
              <a:rPr sz="1425" b="0">
                <a:solidFill>
                  <a:srgbClr val="536270"/>
                </a:solidFill>
              </a:rPr>
              <a:t>IQR, gráfico ou regra de domínio</a:t>
            </a:r>
          </a:p>
        </p:txBody>
      </p:sp>
      <p:sp>
        <p:nvSpPr>
          <p:cNvPr id="11" name="shape">
            <a:extLst xmlns:a="http://schemas.openxmlformats.org/drawingml/2006/main">
              <a:ext uri="{FF2B5EF4-FFF2-40B4-BE49-F238E27FC236}">
                <a16:creationId xmlns:a16="http://schemas.microsoft.com/office/drawing/2014/main" id="{B2A186D1-F0AD-465C-AFDF-C8E056C61DD1}"/>
              </a:ext>
            </a:extLst>
          </p:cNvPr>
          <p:cNvSpPr>
            <a:spLocks xmlns:a="http://schemas.openxmlformats.org/drawingml/2006/main" noGrp="1"/>
          </p:cNvSpPr>
          <p:nvPr/>
        </p:nvSpPr>
        <p:spPr>
          <a:xfrm xmlns:a="http://schemas.openxmlformats.org/drawingml/2006/main">
            <a:off x="3314700" y="3333750"/>
            <a:ext cx="2476500" cy="1809750"/>
          </a:xfrm>
          <a:prstGeom xmlns:a="http://schemas.openxmlformats.org/drawingml/2006/main" prst="roundRect">
            <a:avLst>
              <a:gd name="adj" fmla="val 4211"/>
            </a:avLst>
          </a:prstGeom>
          <a:solidFill xmlns:a="http://schemas.openxmlformats.org/drawingml/2006/main">
            <a:srgbClr val="F7F9FB"/>
          </a:solidFill>
          <a:ln xmlns:a="http://schemas.openxmlformats.org/drawingml/2006/main" w="9525">
            <a:solidFill>
              <a:srgbClr val="C9D3DC"/>
            </a:solidFill>
            <a:prstDash val="solid"/>
          </a:ln>
        </p:spPr>
      </p:sp>
      <p:sp>
        <p:nvSpPr>
          <p:cNvPr id="12" name="text">
            <a:extLst xmlns:a="http://schemas.openxmlformats.org/drawingml/2006/main">
              <a:ext uri="{FF2B5EF4-FFF2-40B4-BE49-F238E27FC236}">
                <a16:creationId xmlns:a16="http://schemas.microsoft.com/office/drawing/2014/main" id="{CB4A26BB-0FB4-480E-89D4-C3F7871F1923}"/>
              </a:ext>
            </a:extLst>
          </p:cNvPr>
          <p:cNvSpPr>
            <a:spLocks xmlns:a="http://schemas.openxmlformats.org/drawingml/2006/main" noGrp="1"/>
          </p:cNvSpPr>
          <p:nvPr/>
        </p:nvSpPr>
        <p:spPr>
          <a:xfrm xmlns:a="http://schemas.openxmlformats.org/drawingml/2006/main">
            <a:off x="3486150" y="35052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26BFF"/>
                </a:solidFill>
              </a:defRPr>
            </a:pPr>
            <a:r>
              <a:rPr sz="1200" b="1">
                <a:solidFill>
                  <a:srgbClr val="126BFF"/>
                </a:solidFill>
              </a:rPr>
              <a:t>2</a:t>
            </a:r>
          </a:p>
        </p:txBody>
      </p:sp>
      <p:sp>
        <p:nvSpPr>
          <p:cNvPr id="13" name="text">
            <a:extLst xmlns:a="http://schemas.openxmlformats.org/drawingml/2006/main">
              <a:ext uri="{FF2B5EF4-FFF2-40B4-BE49-F238E27FC236}">
                <a16:creationId xmlns:a16="http://schemas.microsoft.com/office/drawing/2014/main" id="{EB43C409-C43E-4046-B112-01EE93119757}"/>
              </a:ext>
            </a:extLst>
          </p:cNvPr>
          <p:cNvSpPr>
            <a:spLocks xmlns:a="http://schemas.openxmlformats.org/drawingml/2006/main" noGrp="1"/>
          </p:cNvSpPr>
          <p:nvPr/>
        </p:nvSpPr>
        <p:spPr>
          <a:xfrm xmlns:a="http://schemas.openxmlformats.org/drawingml/2006/main">
            <a:off x="3486150" y="3943350"/>
            <a:ext cx="2133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4202B"/>
                </a:solidFill>
              </a:defRPr>
            </a:pPr>
            <a:r>
              <a:rPr sz="1575" b="1">
                <a:solidFill>
                  <a:srgbClr val="14202B"/>
                </a:solidFill>
              </a:rPr>
              <a:t>CONTEXTUALIZAR</a:t>
            </a:r>
          </a:p>
        </p:txBody>
      </p:sp>
      <p:sp>
        <p:nvSpPr>
          <p:cNvPr id="14" name="text">
            <a:extLst xmlns:a="http://schemas.openxmlformats.org/drawingml/2006/main">
              <a:ext uri="{FF2B5EF4-FFF2-40B4-BE49-F238E27FC236}">
                <a16:creationId xmlns:a16="http://schemas.microsoft.com/office/drawing/2014/main" id="{C29CD7AB-8704-47B7-B2EA-162CD95B5413}"/>
              </a:ext>
            </a:extLst>
          </p:cNvPr>
          <p:cNvSpPr>
            <a:spLocks xmlns:a="http://schemas.openxmlformats.org/drawingml/2006/main" noGrp="1"/>
          </p:cNvSpPr>
          <p:nvPr/>
        </p:nvSpPr>
        <p:spPr>
          <a:xfrm xmlns:a="http://schemas.openxmlformats.org/drawingml/2006/main">
            <a:off x="3486150" y="4410075"/>
            <a:ext cx="2133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536270"/>
                </a:solidFill>
              </a:defRPr>
            </a:pPr>
            <a:r>
              <a:rPr sz="1425" b="0">
                <a:solidFill>
                  <a:srgbClr val="536270"/>
                </a:solidFill>
              </a:rPr>
              <a:t>erro, caso raro ou fenômeno real?</a:t>
            </a:r>
          </a:p>
        </p:txBody>
      </p:sp>
      <p:sp>
        <p:nvSpPr>
          <p:cNvPr id="15" name="shape">
            <a:extLst xmlns:a="http://schemas.openxmlformats.org/drawingml/2006/main">
              <a:ext uri="{FF2B5EF4-FFF2-40B4-BE49-F238E27FC236}">
                <a16:creationId xmlns:a16="http://schemas.microsoft.com/office/drawing/2014/main" id="{D8855681-B04A-4C4C-AF55-57D21FFD254D}"/>
              </a:ext>
            </a:extLst>
          </p:cNvPr>
          <p:cNvSpPr>
            <a:spLocks xmlns:a="http://schemas.openxmlformats.org/drawingml/2006/main" noGrp="1"/>
          </p:cNvSpPr>
          <p:nvPr/>
        </p:nvSpPr>
        <p:spPr>
          <a:xfrm xmlns:a="http://schemas.openxmlformats.org/drawingml/2006/main">
            <a:off x="6076950" y="3333750"/>
            <a:ext cx="2476500" cy="1809750"/>
          </a:xfrm>
          <a:prstGeom xmlns:a="http://schemas.openxmlformats.org/drawingml/2006/main" prst="roundRect">
            <a:avLst>
              <a:gd name="adj" fmla="val 4211"/>
            </a:avLst>
          </a:prstGeom>
          <a:solidFill xmlns:a="http://schemas.openxmlformats.org/drawingml/2006/main">
            <a:srgbClr val="F7F9FB"/>
          </a:solidFill>
          <a:ln xmlns:a="http://schemas.openxmlformats.org/drawingml/2006/main" w="9525">
            <a:solidFill>
              <a:srgbClr val="C9D3DC"/>
            </a:solidFill>
            <a:prstDash val="solid"/>
          </a:ln>
        </p:spPr>
      </p:sp>
      <p:sp>
        <p:nvSpPr>
          <p:cNvPr id="16" name="text">
            <a:extLst xmlns:a="http://schemas.openxmlformats.org/drawingml/2006/main">
              <a:ext uri="{FF2B5EF4-FFF2-40B4-BE49-F238E27FC236}">
                <a16:creationId xmlns:a16="http://schemas.microsoft.com/office/drawing/2014/main" id="{AD2F3E0F-9FB8-44EF-873E-254F42B4E936}"/>
              </a:ext>
            </a:extLst>
          </p:cNvPr>
          <p:cNvSpPr>
            <a:spLocks xmlns:a="http://schemas.openxmlformats.org/drawingml/2006/main" noGrp="1"/>
          </p:cNvSpPr>
          <p:nvPr/>
        </p:nvSpPr>
        <p:spPr>
          <a:xfrm xmlns:a="http://schemas.openxmlformats.org/drawingml/2006/main">
            <a:off x="6248400" y="35052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26BFF"/>
                </a:solidFill>
              </a:defRPr>
            </a:pPr>
            <a:r>
              <a:rPr sz="1200" b="1">
                <a:solidFill>
                  <a:srgbClr val="126BFF"/>
                </a:solidFill>
              </a:rPr>
              <a:t>3</a:t>
            </a:r>
          </a:p>
        </p:txBody>
      </p:sp>
      <p:sp>
        <p:nvSpPr>
          <p:cNvPr id="17" name="text">
            <a:extLst xmlns:a="http://schemas.openxmlformats.org/drawingml/2006/main">
              <a:ext uri="{FF2B5EF4-FFF2-40B4-BE49-F238E27FC236}">
                <a16:creationId xmlns:a16="http://schemas.microsoft.com/office/drawing/2014/main" id="{6FB390B5-2A22-471D-AB78-90CBA8B7E492}"/>
              </a:ext>
            </a:extLst>
          </p:cNvPr>
          <p:cNvSpPr>
            <a:spLocks xmlns:a="http://schemas.openxmlformats.org/drawingml/2006/main" noGrp="1"/>
          </p:cNvSpPr>
          <p:nvPr/>
        </p:nvSpPr>
        <p:spPr>
          <a:xfrm xmlns:a="http://schemas.openxmlformats.org/drawingml/2006/main">
            <a:off x="6248400" y="3943350"/>
            <a:ext cx="2133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4202B"/>
                </a:solidFill>
              </a:defRPr>
            </a:pPr>
            <a:r>
              <a:rPr sz="1575" b="1">
                <a:solidFill>
                  <a:srgbClr val="14202B"/>
                </a:solidFill>
              </a:rPr>
              <a:t>DECIDIR</a:t>
            </a:r>
          </a:p>
        </p:txBody>
      </p:sp>
      <p:sp>
        <p:nvSpPr>
          <p:cNvPr id="18" name="text">
            <a:extLst xmlns:a="http://schemas.openxmlformats.org/drawingml/2006/main">
              <a:ext uri="{FF2B5EF4-FFF2-40B4-BE49-F238E27FC236}">
                <a16:creationId xmlns:a16="http://schemas.microsoft.com/office/drawing/2014/main" id="{46A75167-1DD7-44E3-8083-8CBFAEB12B41}"/>
              </a:ext>
            </a:extLst>
          </p:cNvPr>
          <p:cNvSpPr>
            <a:spLocks xmlns:a="http://schemas.openxmlformats.org/drawingml/2006/main" noGrp="1"/>
          </p:cNvSpPr>
          <p:nvPr/>
        </p:nvSpPr>
        <p:spPr>
          <a:xfrm xmlns:a="http://schemas.openxmlformats.org/drawingml/2006/main">
            <a:off x="6248400" y="4410075"/>
            <a:ext cx="2133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536270"/>
                </a:solidFill>
              </a:defRPr>
            </a:pPr>
            <a:r>
              <a:rPr sz="1425" b="0">
                <a:solidFill>
                  <a:srgbClr val="536270"/>
                </a:solidFill>
              </a:rPr>
              <a:t>manter, corrigir, segmentar ou excluir</a:t>
            </a:r>
          </a:p>
        </p:txBody>
      </p:sp>
      <p:sp>
        <p:nvSpPr>
          <p:cNvPr id="19" name="shape">
            <a:extLst xmlns:a="http://schemas.openxmlformats.org/drawingml/2006/main">
              <a:ext uri="{FF2B5EF4-FFF2-40B4-BE49-F238E27FC236}">
                <a16:creationId xmlns:a16="http://schemas.microsoft.com/office/drawing/2014/main" id="{75BDF4D3-E5B5-4308-AAD5-BB77084D6BCE}"/>
              </a:ext>
            </a:extLst>
          </p:cNvPr>
          <p:cNvSpPr>
            <a:spLocks xmlns:a="http://schemas.openxmlformats.org/drawingml/2006/main" noGrp="1"/>
          </p:cNvSpPr>
          <p:nvPr/>
        </p:nvSpPr>
        <p:spPr>
          <a:xfrm xmlns:a="http://schemas.openxmlformats.org/drawingml/2006/main">
            <a:off x="8839200" y="3333750"/>
            <a:ext cx="2476500" cy="1809750"/>
          </a:xfrm>
          <a:prstGeom xmlns:a="http://schemas.openxmlformats.org/drawingml/2006/main" prst="roundRect">
            <a:avLst>
              <a:gd name="adj" fmla="val 4211"/>
            </a:avLst>
          </a:prstGeom>
          <a:solidFill xmlns:a="http://schemas.openxmlformats.org/drawingml/2006/main">
            <a:srgbClr val="F7F9FB"/>
          </a:solidFill>
          <a:ln xmlns:a="http://schemas.openxmlformats.org/drawingml/2006/main" w="9525">
            <a:solidFill>
              <a:srgbClr val="C9D3DC"/>
            </a:solidFill>
            <a:prstDash val="solid"/>
          </a:ln>
        </p:spPr>
      </p:sp>
      <p:sp>
        <p:nvSpPr>
          <p:cNvPr id="20" name="text">
            <a:extLst xmlns:a="http://schemas.openxmlformats.org/drawingml/2006/main">
              <a:ext uri="{FF2B5EF4-FFF2-40B4-BE49-F238E27FC236}">
                <a16:creationId xmlns:a16="http://schemas.microsoft.com/office/drawing/2014/main" id="{593FA62B-2CEB-48E6-9A75-60328C8772D2}"/>
              </a:ext>
            </a:extLst>
          </p:cNvPr>
          <p:cNvSpPr>
            <a:spLocks xmlns:a="http://schemas.openxmlformats.org/drawingml/2006/main" noGrp="1"/>
          </p:cNvSpPr>
          <p:nvPr/>
        </p:nvSpPr>
        <p:spPr>
          <a:xfrm xmlns:a="http://schemas.openxmlformats.org/drawingml/2006/main">
            <a:off x="9010650" y="35052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26BFF"/>
                </a:solidFill>
              </a:defRPr>
            </a:pPr>
            <a:r>
              <a:rPr sz="1200" b="1">
                <a:solidFill>
                  <a:srgbClr val="126BFF"/>
                </a:solidFill>
              </a:rPr>
              <a:t>4</a:t>
            </a:r>
          </a:p>
        </p:txBody>
      </p:sp>
      <p:sp>
        <p:nvSpPr>
          <p:cNvPr id="21" name="text">
            <a:extLst xmlns:a="http://schemas.openxmlformats.org/drawingml/2006/main">
              <a:ext uri="{FF2B5EF4-FFF2-40B4-BE49-F238E27FC236}">
                <a16:creationId xmlns:a16="http://schemas.microsoft.com/office/drawing/2014/main" id="{4D60CD52-BD97-4A32-8B4C-7D2F8ADED071}"/>
              </a:ext>
            </a:extLst>
          </p:cNvPr>
          <p:cNvSpPr>
            <a:spLocks xmlns:a="http://schemas.openxmlformats.org/drawingml/2006/main" noGrp="1"/>
          </p:cNvSpPr>
          <p:nvPr/>
        </p:nvSpPr>
        <p:spPr>
          <a:xfrm xmlns:a="http://schemas.openxmlformats.org/drawingml/2006/main">
            <a:off x="9010650" y="3943350"/>
            <a:ext cx="2133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4202B"/>
                </a:solidFill>
              </a:defRPr>
            </a:pPr>
            <a:r>
              <a:rPr sz="1575" b="1">
                <a:solidFill>
                  <a:srgbClr val="14202B"/>
                </a:solidFill>
              </a:rPr>
              <a:t>DOCUMENTAR</a:t>
            </a:r>
          </a:p>
        </p:txBody>
      </p:sp>
      <p:sp>
        <p:nvSpPr>
          <p:cNvPr id="22" name="text">
            <a:extLst xmlns:a="http://schemas.openxmlformats.org/drawingml/2006/main">
              <a:ext uri="{FF2B5EF4-FFF2-40B4-BE49-F238E27FC236}">
                <a16:creationId xmlns:a16="http://schemas.microsoft.com/office/drawing/2014/main" id="{9ADBF766-2CCE-462D-BFDF-7D765BCAF19A}"/>
              </a:ext>
            </a:extLst>
          </p:cNvPr>
          <p:cNvSpPr>
            <a:spLocks xmlns:a="http://schemas.openxmlformats.org/drawingml/2006/main" noGrp="1"/>
          </p:cNvSpPr>
          <p:nvPr/>
        </p:nvSpPr>
        <p:spPr>
          <a:xfrm xmlns:a="http://schemas.openxmlformats.org/drawingml/2006/main">
            <a:off x="9010650" y="4410075"/>
            <a:ext cx="2133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536270"/>
                </a:solidFill>
              </a:defRPr>
            </a:pPr>
            <a:r>
              <a:rPr sz="1425" b="0">
                <a:solidFill>
                  <a:srgbClr val="536270"/>
                </a:solidFill>
              </a:rPr>
              <a:t>impacto e justificativa</a:t>
            </a:r>
          </a:p>
        </p:txBody>
      </p:sp>
    </p:spTree>
    <p:extLst>
      <p:ext uri="{BB962C8B-B14F-4D97-AF65-F5344CB8AC3E}">
        <p14:creationId xmlns:p14="http://schemas.microsoft.com/office/powerpoint/2010/main" val="77644040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D759B03B-FF2B-43FD-BC6E-5E46C8682E75}"/>
              </a:ext>
            </a:extLst>
          </p:cNvPr>
          <p:cNvSpPr>
            <a:spLocks xmlns:a="http://schemas.openxmlformats.org/drawingml/2006/main" noGrp="1"/>
          </p:cNvSpPr>
          <p:nvPr/>
        </p:nvSpPr>
        <p:spPr>
          <a:xfrm xmlns:a="http://schemas.openxmlformats.org/drawingml/2006/main">
            <a:off x="552450" y="20955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26BFF"/>
                </a:solidFill>
              </a:defRPr>
            </a:pPr>
            <a:r>
              <a:rPr sz="1050" b="1">
                <a:solidFill>
                  <a:srgbClr val="126BFF"/>
                </a:solidFill>
              </a:rPr>
              <a:t>ANÁLISE BIVARIADA</a:t>
            </a:r>
          </a:p>
        </p:txBody>
      </p:sp>
      <p:sp>
        <p:nvSpPr>
          <p:cNvPr id="2" name="text">
            <a:extLst xmlns:a="http://schemas.openxmlformats.org/drawingml/2006/main">
              <a:ext uri="{FF2B5EF4-FFF2-40B4-BE49-F238E27FC236}">
                <a16:creationId xmlns:a16="http://schemas.microsoft.com/office/drawing/2014/main" id="{CF8D3A0B-CA32-46E0-A984-682903159D92}"/>
              </a:ext>
            </a:extLst>
          </p:cNvPr>
          <p:cNvSpPr>
            <a:spLocks xmlns:a="http://schemas.openxmlformats.org/drawingml/2006/main" noGrp="1"/>
          </p:cNvSpPr>
          <p:nvPr/>
        </p:nvSpPr>
        <p:spPr>
          <a:xfrm xmlns:a="http://schemas.openxmlformats.org/drawingml/2006/main">
            <a:off x="552450" y="45720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4202B"/>
                </a:solidFill>
              </a:defRPr>
            </a:pPr>
            <a:r>
              <a:rPr sz="3600" b="1">
                <a:solidFill>
                  <a:srgbClr val="14202B"/>
                </a:solidFill>
              </a:rPr>
              <a:t>Comparar grupos exige olhar além das médias</a:t>
            </a:r>
          </a:p>
        </p:txBody>
      </p:sp>
      <p:sp>
        <p:nvSpPr>
          <p:cNvPr id="3" name="">
            <a:extLst xmlns:a="http://schemas.openxmlformats.org/drawingml/2006/main">
              <a:ext uri="{FF2B5EF4-FFF2-40B4-BE49-F238E27FC236}">
                <a16:creationId xmlns:a16="http://schemas.microsoft.com/office/drawing/2014/main" id="{FBA17AF9-02DD-49E1-A9D2-EAB89AE25D10}"/>
              </a:ext>
            </a:extLst>
          </p:cNvPr>
          <p:cNvSpPr>
            <a:spLocks xmlns:a="http://schemas.openxmlformats.org/drawingml/2006/main" noGrp="1"/>
          </p:cNvSpPr>
          <p:nvPr/>
        </p:nvSpPr>
        <p:spPr>
          <a:xfrm xmlns:a="http://schemas.openxmlformats.org/drawingml/2006/main">
            <a:off x="552450" y="1238250"/>
            <a:ext cx="11087100" cy="0"/>
          </a:xfrm>
          <a:prstGeom xmlns:a="http://schemas.openxmlformats.org/drawingml/2006/main" prst="line">
            <a:avLst/>
          </a:prstGeom>
          <a:noFill xmlns:a="http://schemas.openxmlformats.org/drawingml/2006/main"/>
          <a:ln xmlns:a="http://schemas.openxmlformats.org/drawingml/2006/main" w="9525">
            <a:solidFill>
              <a:srgbClr val="C9D3DC"/>
            </a:solidFill>
            <a:prstDash val="solid"/>
          </a:ln>
        </p:spPr>
      </p:sp>
      <p:sp>
        <p:nvSpPr>
          <p:cNvPr id="4" name="text">
            <a:extLst xmlns:a="http://schemas.openxmlformats.org/drawingml/2006/main">
              <a:ext uri="{FF2B5EF4-FFF2-40B4-BE49-F238E27FC236}">
                <a16:creationId xmlns:a16="http://schemas.microsoft.com/office/drawing/2014/main" id="{0BF1C171-7165-4AC6-9E18-2E63B9FD5233}"/>
              </a:ext>
            </a:extLst>
          </p:cNvPr>
          <p:cNvSpPr>
            <a:spLocks xmlns:a="http://schemas.openxmlformats.org/drawingml/2006/main" noGrp="1"/>
          </p:cNvSpPr>
          <p:nvPr/>
        </p:nvSpPr>
        <p:spPr>
          <a:xfrm xmlns:a="http://schemas.openxmlformats.org/drawingml/2006/main">
            <a:off x="1118235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536270"/>
                </a:solidFill>
              </a:defRPr>
            </a:pPr>
            <a:r>
              <a:rPr sz="975" b="1">
                <a:solidFill>
                  <a:srgbClr val="536270"/>
                </a:solidFill>
              </a:rPr>
              <a:t>12</a:t>
            </a:r>
          </a:p>
        </p:txBody>
      </p:sp>
      <p:sp>
        <p:nvSpPr>
          <p:cNvPr id="5" name="shape">
            <a:extLst xmlns:a="http://schemas.openxmlformats.org/drawingml/2006/main">
              <a:ext uri="{FF2B5EF4-FFF2-40B4-BE49-F238E27FC236}">
                <a16:creationId xmlns:a16="http://schemas.microsoft.com/office/drawing/2014/main" id="{2AF5FCD5-EFD5-4AA0-BA96-63A133ADD9C9}"/>
              </a:ext>
            </a:extLst>
          </p:cNvPr>
          <p:cNvSpPr>
            <a:spLocks xmlns:a="http://schemas.openxmlformats.org/drawingml/2006/main" noGrp="1"/>
          </p:cNvSpPr>
          <p:nvPr/>
        </p:nvSpPr>
        <p:spPr>
          <a:xfrm xmlns:a="http://schemas.openxmlformats.org/drawingml/2006/main">
            <a:off x="552450" y="1619250"/>
            <a:ext cx="3333750" cy="3381375"/>
          </a:xfrm>
          <a:prstGeom xmlns:a="http://schemas.openxmlformats.org/drawingml/2006/main" prst="roundRect">
            <a:avLst>
              <a:gd name="adj" fmla="val 2286"/>
            </a:avLst>
          </a:prstGeom>
          <a:solidFill xmlns:a="http://schemas.openxmlformats.org/drawingml/2006/main">
            <a:srgbClr val="F7F9FB"/>
          </a:solidFill>
          <a:ln xmlns:a="http://schemas.openxmlformats.org/drawingml/2006/main" w="9525">
            <a:solidFill>
              <a:srgbClr val="C9D3DC"/>
            </a:solidFill>
            <a:prstDash val="solid"/>
          </a:ln>
        </p:spPr>
      </p:sp>
      <p:sp>
        <p:nvSpPr>
          <p:cNvPr id="6" name="shape">
            <a:extLst xmlns:a="http://schemas.openxmlformats.org/drawingml/2006/main">
              <a:ext uri="{FF2B5EF4-FFF2-40B4-BE49-F238E27FC236}">
                <a16:creationId xmlns:a16="http://schemas.microsoft.com/office/drawing/2014/main" id="{3001614A-DE77-405B-9FE7-9CC0758B1076}"/>
              </a:ext>
            </a:extLst>
          </p:cNvPr>
          <p:cNvSpPr>
            <a:spLocks xmlns:a="http://schemas.openxmlformats.org/drawingml/2006/main" noGrp="1"/>
          </p:cNvSpPr>
          <p:nvPr/>
        </p:nvSpPr>
        <p:spPr>
          <a:xfrm xmlns:a="http://schemas.openxmlformats.org/drawingml/2006/main">
            <a:off x="552450" y="1619250"/>
            <a:ext cx="114300" cy="3381375"/>
          </a:xfrm>
          <a:prstGeom xmlns:a="http://schemas.openxmlformats.org/drawingml/2006/main" prst="rect">
            <a:avLst/>
          </a:prstGeom>
          <a:solidFill xmlns:a="http://schemas.openxmlformats.org/drawingml/2006/main">
            <a:srgbClr val="126BFF"/>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EDA932BF-9344-403F-9C2E-509F56A3A275}"/>
              </a:ext>
            </a:extLst>
          </p:cNvPr>
          <p:cNvSpPr>
            <a:spLocks xmlns:a="http://schemas.openxmlformats.org/drawingml/2006/main" noGrp="1"/>
          </p:cNvSpPr>
          <p:nvPr/>
        </p:nvSpPr>
        <p:spPr>
          <a:xfrm xmlns:a="http://schemas.openxmlformats.org/drawingml/2006/main">
            <a:off x="838200" y="18097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26BFF"/>
                </a:solidFill>
              </a:defRPr>
            </a:pPr>
            <a:r>
              <a:rPr sz="1800" b="1">
                <a:solidFill>
                  <a:srgbClr val="126BFF"/>
                </a:solidFill>
              </a:rPr>
              <a:t>NUMÉRICA × CATEGÓRICA</a:t>
            </a:r>
          </a:p>
        </p:txBody>
      </p:sp>
      <p:sp>
        <p:nvSpPr>
          <p:cNvPr id="8" name="text">
            <a:extLst xmlns:a="http://schemas.openxmlformats.org/drawingml/2006/main">
              <a:ext uri="{FF2B5EF4-FFF2-40B4-BE49-F238E27FC236}">
                <a16:creationId xmlns:a16="http://schemas.microsoft.com/office/drawing/2014/main" id="{52F75F15-BE2B-4B22-BE1E-44ED5E554D29}"/>
              </a:ext>
            </a:extLst>
          </p:cNvPr>
          <p:cNvSpPr>
            <a:spLocks xmlns:a="http://schemas.openxmlformats.org/drawingml/2006/main" noGrp="1"/>
          </p:cNvSpPr>
          <p:nvPr/>
        </p:nvSpPr>
        <p:spPr>
          <a:xfrm xmlns:a="http://schemas.openxmlformats.org/drawingml/2006/main">
            <a:off x="838200" y="2333625"/>
            <a:ext cx="2857500" cy="2505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4202B"/>
                </a:solidFill>
              </a:defRPr>
            </a:pPr>
            <a:r>
              <a:rPr sz="1575" b="0">
                <a:solidFill>
                  <a:srgbClr val="14202B"/>
                </a:solidFill>
              </a:rPr>
              <a:t>Compare centro, dispersão, tamanho dos grupos e forma das distribuições.</a:t>
            </a:r>
          </a:p>
          <a:p xmlns:a="http://schemas.openxmlformats.org/drawingml/2006/main">
            <a:r>
              <a:t/>
            </a:r>
          </a:p>
          <a:p xmlns:a="http://schemas.openxmlformats.org/drawingml/2006/main">
            <a:pPr algn="l">
              <a:defRPr sz="1575" b="0">
                <a:solidFill>
                  <a:srgbClr val="14202B"/>
                </a:solidFill>
              </a:defRPr>
            </a:pPr>
            <a:r>
              <a:rPr sz="1575" b="0">
                <a:solidFill>
                  <a:srgbClr val="14202B"/>
                </a:solidFill>
              </a:rPr>
              <a:t>Ex.: avaliação por categoria.</a:t>
            </a:r>
          </a:p>
        </p:txBody>
      </p:sp>
      <p:sp>
        <p:nvSpPr>
          <p:cNvPr id="9" name="shape">
            <a:extLst xmlns:a="http://schemas.openxmlformats.org/drawingml/2006/main">
              <a:ext uri="{FF2B5EF4-FFF2-40B4-BE49-F238E27FC236}">
                <a16:creationId xmlns:a16="http://schemas.microsoft.com/office/drawing/2014/main" id="{42D6293E-148B-42A6-9D49-80D0760D93EA}"/>
              </a:ext>
            </a:extLst>
          </p:cNvPr>
          <p:cNvSpPr>
            <a:spLocks xmlns:a="http://schemas.openxmlformats.org/drawingml/2006/main" noGrp="1"/>
          </p:cNvSpPr>
          <p:nvPr/>
        </p:nvSpPr>
        <p:spPr>
          <a:xfrm xmlns:a="http://schemas.openxmlformats.org/drawingml/2006/main">
            <a:off x="4429125" y="1619250"/>
            <a:ext cx="3333750" cy="3381375"/>
          </a:xfrm>
          <a:prstGeom xmlns:a="http://schemas.openxmlformats.org/drawingml/2006/main" prst="roundRect">
            <a:avLst>
              <a:gd name="adj" fmla="val 2286"/>
            </a:avLst>
          </a:prstGeom>
          <a:solidFill xmlns:a="http://schemas.openxmlformats.org/drawingml/2006/main">
            <a:srgbClr val="F7F9FB"/>
          </a:solidFill>
          <a:ln xmlns:a="http://schemas.openxmlformats.org/drawingml/2006/main" w="9525">
            <a:solidFill>
              <a:srgbClr val="C9D3DC"/>
            </a:solidFill>
            <a:prstDash val="solid"/>
          </a:ln>
        </p:spPr>
      </p:sp>
      <p:sp>
        <p:nvSpPr>
          <p:cNvPr id="10" name="shape">
            <a:extLst xmlns:a="http://schemas.openxmlformats.org/drawingml/2006/main">
              <a:ext uri="{FF2B5EF4-FFF2-40B4-BE49-F238E27FC236}">
                <a16:creationId xmlns:a16="http://schemas.microsoft.com/office/drawing/2014/main" id="{B9E7B338-1E89-4F9F-82D3-D017E4542198}"/>
              </a:ext>
            </a:extLst>
          </p:cNvPr>
          <p:cNvSpPr>
            <a:spLocks xmlns:a="http://schemas.openxmlformats.org/drawingml/2006/main" noGrp="1"/>
          </p:cNvSpPr>
          <p:nvPr/>
        </p:nvSpPr>
        <p:spPr>
          <a:xfrm xmlns:a="http://schemas.openxmlformats.org/drawingml/2006/main">
            <a:off x="4429125" y="1619250"/>
            <a:ext cx="114300" cy="3381375"/>
          </a:xfrm>
          <a:prstGeom xmlns:a="http://schemas.openxmlformats.org/drawingml/2006/main" prst="rect">
            <a:avLst/>
          </a:prstGeom>
          <a:solidFill xmlns:a="http://schemas.openxmlformats.org/drawingml/2006/main">
            <a:srgbClr val="12A889"/>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6049BCCE-8222-4F39-AF05-E65DA4F6F4C1}"/>
              </a:ext>
            </a:extLst>
          </p:cNvPr>
          <p:cNvSpPr>
            <a:spLocks xmlns:a="http://schemas.openxmlformats.org/drawingml/2006/main" noGrp="1"/>
          </p:cNvSpPr>
          <p:nvPr/>
        </p:nvSpPr>
        <p:spPr>
          <a:xfrm xmlns:a="http://schemas.openxmlformats.org/drawingml/2006/main">
            <a:off x="4714875" y="18097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2A889"/>
                </a:solidFill>
              </a:defRPr>
            </a:pPr>
            <a:r>
              <a:rPr sz="1800" b="1">
                <a:solidFill>
                  <a:srgbClr val="12A889"/>
                </a:solidFill>
              </a:rPr>
              <a:t>CATEGÓRICA × CATEGÓRICA</a:t>
            </a:r>
          </a:p>
        </p:txBody>
      </p:sp>
      <p:sp>
        <p:nvSpPr>
          <p:cNvPr id="12" name="text">
            <a:extLst xmlns:a="http://schemas.openxmlformats.org/drawingml/2006/main">
              <a:ext uri="{FF2B5EF4-FFF2-40B4-BE49-F238E27FC236}">
                <a16:creationId xmlns:a16="http://schemas.microsoft.com/office/drawing/2014/main" id="{3798FB64-ED51-4FAA-8337-8A3FCDE8731E}"/>
              </a:ext>
            </a:extLst>
          </p:cNvPr>
          <p:cNvSpPr>
            <a:spLocks xmlns:a="http://schemas.openxmlformats.org/drawingml/2006/main" noGrp="1"/>
          </p:cNvSpPr>
          <p:nvPr/>
        </p:nvSpPr>
        <p:spPr>
          <a:xfrm xmlns:a="http://schemas.openxmlformats.org/drawingml/2006/main">
            <a:off x="4714875" y="2333625"/>
            <a:ext cx="2857500" cy="2505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4202B"/>
                </a:solidFill>
              </a:defRPr>
            </a:pPr>
            <a:r>
              <a:rPr sz="1575" b="0">
                <a:solidFill>
                  <a:srgbClr val="14202B"/>
                </a:solidFill>
              </a:rPr>
              <a:t>Compare frequências conjuntas e proporções condicionais.</a:t>
            </a:r>
          </a:p>
          <a:p xmlns:a="http://schemas.openxmlformats.org/drawingml/2006/main">
            <a:r>
              <a:t/>
            </a:r>
          </a:p>
          <a:p xmlns:a="http://schemas.openxmlformats.org/drawingml/2006/main">
            <a:pPr algn="l">
              <a:defRPr sz="1575" b="0">
                <a:solidFill>
                  <a:srgbClr val="14202B"/>
                </a:solidFill>
              </a:defRPr>
            </a:pPr>
            <a:r>
              <a:rPr sz="1575" b="0">
                <a:solidFill>
                  <a:srgbClr val="14202B"/>
                </a:solidFill>
              </a:rPr>
              <a:t>Ex.: tipo por faixa de instalações.</a:t>
            </a:r>
          </a:p>
        </p:txBody>
      </p:sp>
      <p:sp>
        <p:nvSpPr>
          <p:cNvPr id="13" name="shape">
            <a:extLst xmlns:a="http://schemas.openxmlformats.org/drawingml/2006/main">
              <a:ext uri="{FF2B5EF4-FFF2-40B4-BE49-F238E27FC236}">
                <a16:creationId xmlns:a16="http://schemas.microsoft.com/office/drawing/2014/main" id="{41FF1C83-13B8-44B1-B71A-9266DEB0B2A6}"/>
              </a:ext>
            </a:extLst>
          </p:cNvPr>
          <p:cNvSpPr>
            <a:spLocks xmlns:a="http://schemas.openxmlformats.org/drawingml/2006/main" noGrp="1"/>
          </p:cNvSpPr>
          <p:nvPr/>
        </p:nvSpPr>
        <p:spPr>
          <a:xfrm xmlns:a="http://schemas.openxmlformats.org/drawingml/2006/main">
            <a:off x="8305800" y="1619250"/>
            <a:ext cx="3333750" cy="3381375"/>
          </a:xfrm>
          <a:prstGeom xmlns:a="http://schemas.openxmlformats.org/drawingml/2006/main" prst="roundRect">
            <a:avLst>
              <a:gd name="adj" fmla="val 2286"/>
            </a:avLst>
          </a:prstGeom>
          <a:solidFill xmlns:a="http://schemas.openxmlformats.org/drawingml/2006/main">
            <a:srgbClr val="F7F9FB"/>
          </a:solidFill>
          <a:ln xmlns:a="http://schemas.openxmlformats.org/drawingml/2006/main" w="9525">
            <a:solidFill>
              <a:srgbClr val="C9D3DC"/>
            </a:solidFill>
            <a:prstDash val="solid"/>
          </a:ln>
        </p:spPr>
      </p:sp>
      <p:sp>
        <p:nvSpPr>
          <p:cNvPr id="14" name="shape">
            <a:extLst xmlns:a="http://schemas.openxmlformats.org/drawingml/2006/main">
              <a:ext uri="{FF2B5EF4-FFF2-40B4-BE49-F238E27FC236}">
                <a16:creationId xmlns:a16="http://schemas.microsoft.com/office/drawing/2014/main" id="{3FC4E789-2058-40F9-AD39-4B4A2A355591}"/>
              </a:ext>
            </a:extLst>
          </p:cNvPr>
          <p:cNvSpPr>
            <a:spLocks xmlns:a="http://schemas.openxmlformats.org/drawingml/2006/main" noGrp="1"/>
          </p:cNvSpPr>
          <p:nvPr/>
        </p:nvSpPr>
        <p:spPr>
          <a:xfrm xmlns:a="http://schemas.openxmlformats.org/drawingml/2006/main">
            <a:off x="8305800" y="1619250"/>
            <a:ext cx="114300" cy="3381375"/>
          </a:xfrm>
          <a:prstGeom xmlns:a="http://schemas.openxmlformats.org/drawingml/2006/main" prst="rect">
            <a:avLst/>
          </a:prstGeom>
          <a:solidFill xmlns:a="http://schemas.openxmlformats.org/drawingml/2006/main">
            <a:srgbClr val="F2A93B"/>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2C43ECFD-F09E-4812-A79F-C34D088B100D}"/>
              </a:ext>
            </a:extLst>
          </p:cNvPr>
          <p:cNvSpPr>
            <a:spLocks xmlns:a="http://schemas.openxmlformats.org/drawingml/2006/main" noGrp="1"/>
          </p:cNvSpPr>
          <p:nvPr/>
        </p:nvSpPr>
        <p:spPr>
          <a:xfrm xmlns:a="http://schemas.openxmlformats.org/drawingml/2006/main">
            <a:off x="8591550" y="18097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F2A93B"/>
                </a:solidFill>
              </a:defRPr>
            </a:pPr>
            <a:r>
              <a:rPr sz="1800" b="1">
                <a:solidFill>
                  <a:srgbClr val="F2A93B"/>
                </a:solidFill>
              </a:rPr>
              <a:t>NUMÉRICA × NUMÉRICA</a:t>
            </a:r>
          </a:p>
        </p:txBody>
      </p:sp>
      <p:sp>
        <p:nvSpPr>
          <p:cNvPr id="16" name="text">
            <a:extLst xmlns:a="http://schemas.openxmlformats.org/drawingml/2006/main">
              <a:ext uri="{FF2B5EF4-FFF2-40B4-BE49-F238E27FC236}">
                <a16:creationId xmlns:a16="http://schemas.microsoft.com/office/drawing/2014/main" id="{B28AC4D2-706C-4EF7-BDC3-E0FC4842E1B5}"/>
              </a:ext>
            </a:extLst>
          </p:cNvPr>
          <p:cNvSpPr>
            <a:spLocks xmlns:a="http://schemas.openxmlformats.org/drawingml/2006/main" noGrp="1"/>
          </p:cNvSpPr>
          <p:nvPr/>
        </p:nvSpPr>
        <p:spPr>
          <a:xfrm xmlns:a="http://schemas.openxmlformats.org/drawingml/2006/main">
            <a:off x="8591550" y="2333625"/>
            <a:ext cx="2857500" cy="2505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4202B"/>
                </a:solidFill>
              </a:defRPr>
            </a:pPr>
            <a:r>
              <a:rPr sz="1575" b="0">
                <a:solidFill>
                  <a:srgbClr val="14202B"/>
                </a:solidFill>
              </a:rPr>
              <a:t>Observe direção, forma, intensidade e valores influentes.</a:t>
            </a:r>
          </a:p>
          <a:p xmlns:a="http://schemas.openxmlformats.org/drawingml/2006/main">
            <a:r>
              <a:t/>
            </a:r>
          </a:p>
          <a:p xmlns:a="http://schemas.openxmlformats.org/drawingml/2006/main">
            <a:pPr algn="l">
              <a:defRPr sz="1575" b="0">
                <a:solidFill>
                  <a:srgbClr val="14202B"/>
                </a:solidFill>
              </a:defRPr>
            </a:pPr>
            <a:r>
              <a:rPr sz="1575" b="0">
                <a:solidFill>
                  <a:srgbClr val="14202B"/>
                </a:solidFill>
              </a:rPr>
              <a:t>Ex.: preço e avaliação.</a:t>
            </a:r>
          </a:p>
        </p:txBody>
      </p:sp>
      <p:sp>
        <p:nvSpPr>
          <p:cNvPr id="17" name="text">
            <a:extLst xmlns:a="http://schemas.openxmlformats.org/drawingml/2006/main">
              <a:ext uri="{FF2B5EF4-FFF2-40B4-BE49-F238E27FC236}">
                <a16:creationId xmlns:a16="http://schemas.microsoft.com/office/drawing/2014/main" id="{F5E52D16-19C3-4541-A99D-AA4821B36FE2}"/>
              </a:ext>
            </a:extLst>
          </p:cNvPr>
          <p:cNvSpPr>
            <a:spLocks xmlns:a="http://schemas.openxmlformats.org/drawingml/2006/main" noGrp="1"/>
          </p:cNvSpPr>
          <p:nvPr/>
        </p:nvSpPr>
        <p:spPr>
          <a:xfrm xmlns:a="http://schemas.openxmlformats.org/drawingml/2006/main">
            <a:off x="552450" y="5476875"/>
            <a:ext cx="1104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071A2B"/>
                </a:solidFill>
              </a:defRPr>
            </a:pPr>
            <a:r>
              <a:rPr sz="1875" b="1">
                <a:solidFill>
                  <a:srgbClr val="071A2B"/>
                </a:solidFill>
              </a:rPr>
              <a:t>A pergunta define a comparação — não o contrário.</a:t>
            </a:r>
          </a:p>
        </p:txBody>
      </p:sp>
    </p:spTree>
    <p:extLst>
      <p:ext uri="{BB962C8B-B14F-4D97-AF65-F5344CB8AC3E}">
        <p14:creationId xmlns:p14="http://schemas.microsoft.com/office/powerpoint/2010/main" val="19361702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text">
            <a:extLst xmlns:a="http://schemas.openxmlformats.org/drawingml/2006/main">
              <a:ext uri="{FF2B5EF4-FFF2-40B4-BE49-F238E27FC236}">
                <a16:creationId xmlns:a16="http://schemas.microsoft.com/office/drawing/2014/main" id="{5E59E646-FC0A-4E15-B753-04BEE159B0C2}"/>
              </a:ext>
            </a:extLst>
          </p:cNvPr>
          <p:cNvSpPr>
            <a:spLocks xmlns:a="http://schemas.openxmlformats.org/drawingml/2006/main" noGrp="1"/>
          </p:cNvSpPr>
          <p:nvPr/>
        </p:nvSpPr>
        <p:spPr>
          <a:xfrm xmlns:a="http://schemas.openxmlformats.org/drawingml/2006/main">
            <a:off x="552450" y="20955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26BFF"/>
                </a:solidFill>
              </a:defRPr>
            </a:pPr>
            <a:r>
              <a:rPr sz="1050" b="1">
                <a:solidFill>
                  <a:srgbClr val="126BFF"/>
                </a:solidFill>
              </a:rPr>
              <a:t>CORRELAÇÃO</a:t>
            </a:r>
          </a:p>
        </p:txBody>
      </p:sp>
      <p:sp>
        <p:nvSpPr>
          <p:cNvPr id="2" name="text">
            <a:extLst xmlns:a="http://schemas.openxmlformats.org/drawingml/2006/main">
              <a:ext uri="{FF2B5EF4-FFF2-40B4-BE49-F238E27FC236}">
                <a16:creationId xmlns:a16="http://schemas.microsoft.com/office/drawing/2014/main" id="{E0FD19E4-7629-460E-A8FA-AAD0AB88D8DD}"/>
              </a:ext>
            </a:extLst>
          </p:cNvPr>
          <p:cNvSpPr>
            <a:spLocks xmlns:a="http://schemas.openxmlformats.org/drawingml/2006/main" noGrp="1"/>
          </p:cNvSpPr>
          <p:nvPr/>
        </p:nvSpPr>
        <p:spPr>
          <a:xfrm xmlns:a="http://schemas.openxmlformats.org/drawingml/2006/main">
            <a:off x="552450" y="45720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4202B"/>
                </a:solidFill>
              </a:defRPr>
            </a:pPr>
            <a:r>
              <a:rPr sz="3600" b="1">
                <a:solidFill>
                  <a:srgbClr val="14202B"/>
                </a:solidFill>
              </a:rPr>
              <a:t>Correlação mede associação — não explica a causa</a:t>
            </a:r>
          </a:p>
        </p:txBody>
      </p:sp>
      <p:sp>
        <p:nvSpPr>
          <p:cNvPr id="3" name="">
            <a:extLst xmlns:a="http://schemas.openxmlformats.org/drawingml/2006/main">
              <a:ext uri="{FF2B5EF4-FFF2-40B4-BE49-F238E27FC236}">
                <a16:creationId xmlns:a16="http://schemas.microsoft.com/office/drawing/2014/main" id="{98681F1B-5C9D-4741-B115-312AF335A327}"/>
              </a:ext>
            </a:extLst>
          </p:cNvPr>
          <p:cNvSpPr>
            <a:spLocks xmlns:a="http://schemas.openxmlformats.org/drawingml/2006/main" noGrp="1"/>
          </p:cNvSpPr>
          <p:nvPr/>
        </p:nvSpPr>
        <p:spPr>
          <a:xfrm xmlns:a="http://schemas.openxmlformats.org/drawingml/2006/main">
            <a:off x="552450" y="1238250"/>
            <a:ext cx="11087100" cy="0"/>
          </a:xfrm>
          <a:prstGeom xmlns:a="http://schemas.openxmlformats.org/drawingml/2006/main" prst="line">
            <a:avLst/>
          </a:prstGeom>
          <a:noFill xmlns:a="http://schemas.openxmlformats.org/drawingml/2006/main"/>
          <a:ln xmlns:a="http://schemas.openxmlformats.org/drawingml/2006/main" w="9525">
            <a:solidFill>
              <a:srgbClr val="C9D3DC"/>
            </a:solidFill>
            <a:prstDash val="solid"/>
          </a:ln>
        </p:spPr>
      </p:sp>
      <p:sp>
        <p:nvSpPr>
          <p:cNvPr id="4" name="text">
            <a:extLst xmlns:a="http://schemas.openxmlformats.org/drawingml/2006/main">
              <a:ext uri="{FF2B5EF4-FFF2-40B4-BE49-F238E27FC236}">
                <a16:creationId xmlns:a16="http://schemas.microsoft.com/office/drawing/2014/main" id="{8E584294-8F3A-41ED-BA26-2D354D3DB10D}"/>
              </a:ext>
            </a:extLst>
          </p:cNvPr>
          <p:cNvSpPr>
            <a:spLocks xmlns:a="http://schemas.openxmlformats.org/drawingml/2006/main" noGrp="1"/>
          </p:cNvSpPr>
          <p:nvPr/>
        </p:nvSpPr>
        <p:spPr>
          <a:xfrm xmlns:a="http://schemas.openxmlformats.org/drawingml/2006/main">
            <a:off x="1118235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536270"/>
                </a:solidFill>
              </a:defRPr>
            </a:pPr>
            <a:r>
              <a:rPr sz="975" b="1">
                <a:solidFill>
                  <a:srgbClr val="536270"/>
                </a:solidFill>
              </a:rPr>
              <a:t>13</a:t>
            </a:r>
          </a:p>
        </p:txBody>
      </p:sp>
      <p:graphicFrame>
        <p:nvGraphicFramePr>
          <p:cNvPr id="34" name="Chart"/>
          <p:cNvGraphicFramePr/>
          <p:nvPr/>
        </p:nvGraphicFramePr>
        <p:xfrm>
          <a:off xmlns:a="http://schemas.openxmlformats.org/drawingml/2006/main" x="552450" y="1619250"/>
          <a:ext xmlns:a="http://schemas.openxmlformats.org/drawingml/2006/main" cx="6191250" cy="4000500"/>
        </p:xfrm>
        <a:graphic xmlns:a="http://schemas.openxmlformats.org/drawingml/2006/main">
          <a:graphicData uri="http://schemas.openxmlformats.org/drawingml/2006/chart">
            <c:chart xmlns:r="http://schemas.openxmlformats.org/officeDocument/2006/relationships" xmlns:c="http://schemas.openxmlformats.org/drawingml/2006/chart" r:id="R654bf3d7cbd24544"/>
          </a:graphicData>
        </a:graphic>
      </p:graphicFrame>
      <p:sp>
        <p:nvSpPr>
          <p:cNvPr id="6" name="">
            <a:extLst xmlns:a="http://schemas.openxmlformats.org/drawingml/2006/main">
              <a:ext uri="{FF2B5EF4-FFF2-40B4-BE49-F238E27FC236}">
                <a16:creationId xmlns:a16="http://schemas.microsoft.com/office/drawing/2014/main" id="{60233B8C-D8F3-4FAC-89D3-7972A089AF7C}"/>
              </a:ext>
            </a:extLst>
          </p:cNvPr>
          <p:cNvSpPr>
            <a:spLocks xmlns:a="http://schemas.openxmlformats.org/drawingml/2006/main" noGrp="1"/>
          </p:cNvSpPr>
          <p:nvPr/>
        </p:nvSpPr>
        <p:spPr>
          <a:xfrm xmlns:a="http://schemas.openxmlformats.org/drawingml/2006/main">
            <a:off x="952500" y="5219700"/>
            <a:ext cx="5429250" cy="0"/>
          </a:xfrm>
          <a:prstGeom xmlns:a="http://schemas.openxmlformats.org/drawingml/2006/main" prst="line">
            <a:avLst/>
          </a:prstGeom>
          <a:noFill xmlns:a="http://schemas.openxmlformats.org/drawingml/2006/main"/>
          <a:ln xmlns:a="http://schemas.openxmlformats.org/drawingml/2006/main" w="19050">
            <a:solidFill>
              <a:srgbClr val="C9D3DC"/>
            </a:solidFill>
            <a:prstDash val="solid"/>
          </a:ln>
        </p:spPr>
      </p:sp>
      <p:sp>
        <p:nvSpPr>
          <p:cNvPr id="7" name="shape">
            <a:extLst xmlns:a="http://schemas.openxmlformats.org/drawingml/2006/main">
              <a:ext uri="{FF2B5EF4-FFF2-40B4-BE49-F238E27FC236}">
                <a16:creationId xmlns:a16="http://schemas.microsoft.com/office/drawing/2014/main" id="{4E954DD7-F688-4343-A69C-89818EE0FAFE}"/>
              </a:ext>
            </a:extLst>
          </p:cNvPr>
          <p:cNvSpPr>
            <a:spLocks xmlns:a="http://schemas.openxmlformats.org/drawingml/2006/main" noGrp="1"/>
          </p:cNvSpPr>
          <p:nvPr/>
        </p:nvSpPr>
        <p:spPr>
          <a:xfrm xmlns:a="http://schemas.openxmlformats.org/drawingml/2006/main">
            <a:off x="933450" y="1952625"/>
            <a:ext cx="19050" cy="3267075"/>
          </a:xfrm>
          <a:prstGeom xmlns:a="http://schemas.openxmlformats.org/drawingml/2006/main" prst="rect">
            <a:avLst/>
          </a:prstGeom>
          <a:solidFill xmlns:a="http://schemas.openxmlformats.org/drawingml/2006/main">
            <a:srgbClr val="C9D3DC"/>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23AA7B7-9D8E-47DA-A0BA-9C6FDED86DE9}"/>
              </a:ext>
            </a:extLst>
          </p:cNvPr>
          <p:cNvSpPr>
            <a:spLocks xmlns:a="http://schemas.openxmlformats.org/drawingml/2006/main" noGrp="1"/>
          </p:cNvSpPr>
          <p:nvPr/>
        </p:nvSpPr>
        <p:spPr>
          <a:xfrm xmlns:a="http://schemas.openxmlformats.org/drawingml/2006/main">
            <a:off x="1381125" y="4619625"/>
            <a:ext cx="190500" cy="190500"/>
          </a:xfrm>
          <a:prstGeom xmlns:a="http://schemas.openxmlformats.org/drawingml/2006/main" prst="ellipse">
            <a:avLst/>
          </a:prstGeom>
          <a:solidFill xmlns:a="http://schemas.openxmlformats.org/drawingml/2006/main">
            <a:srgbClr val="126BFF"/>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AF34AFD-4531-4053-B19D-560074381C28}"/>
              </a:ext>
            </a:extLst>
          </p:cNvPr>
          <p:cNvSpPr>
            <a:spLocks xmlns:a="http://schemas.openxmlformats.org/drawingml/2006/main" noGrp="1"/>
          </p:cNvSpPr>
          <p:nvPr/>
        </p:nvSpPr>
        <p:spPr>
          <a:xfrm xmlns:a="http://schemas.openxmlformats.org/drawingml/2006/main">
            <a:off x="1857375" y="4362450"/>
            <a:ext cx="190500" cy="190500"/>
          </a:xfrm>
          <a:prstGeom xmlns:a="http://schemas.openxmlformats.org/drawingml/2006/main" prst="ellipse">
            <a:avLst/>
          </a:prstGeom>
          <a:solidFill xmlns:a="http://schemas.openxmlformats.org/drawingml/2006/main">
            <a:srgbClr val="126BFF"/>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12A15035-D916-4CD0-A263-A2E051CF26F6}"/>
              </a:ext>
            </a:extLst>
          </p:cNvPr>
          <p:cNvSpPr>
            <a:spLocks xmlns:a="http://schemas.openxmlformats.org/drawingml/2006/main" noGrp="1"/>
          </p:cNvSpPr>
          <p:nvPr/>
        </p:nvSpPr>
        <p:spPr>
          <a:xfrm xmlns:a="http://schemas.openxmlformats.org/drawingml/2006/main">
            <a:off x="2428875" y="4095750"/>
            <a:ext cx="190500" cy="190500"/>
          </a:xfrm>
          <a:prstGeom xmlns:a="http://schemas.openxmlformats.org/drawingml/2006/main" prst="ellipse">
            <a:avLst/>
          </a:prstGeom>
          <a:solidFill xmlns:a="http://schemas.openxmlformats.org/drawingml/2006/main">
            <a:srgbClr val="126BFF"/>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5FAC9BE0-466A-4464-8BF8-DEC73B2925F6}"/>
              </a:ext>
            </a:extLst>
          </p:cNvPr>
          <p:cNvSpPr>
            <a:spLocks xmlns:a="http://schemas.openxmlformats.org/drawingml/2006/main" noGrp="1"/>
          </p:cNvSpPr>
          <p:nvPr/>
        </p:nvSpPr>
        <p:spPr>
          <a:xfrm xmlns:a="http://schemas.openxmlformats.org/drawingml/2006/main">
            <a:off x="3000375" y="3714750"/>
            <a:ext cx="190500" cy="190500"/>
          </a:xfrm>
          <a:prstGeom xmlns:a="http://schemas.openxmlformats.org/drawingml/2006/main" prst="ellipse">
            <a:avLst/>
          </a:prstGeom>
          <a:solidFill xmlns:a="http://schemas.openxmlformats.org/drawingml/2006/main">
            <a:srgbClr val="126BFF"/>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4914C939-D03A-4DB3-93CE-45854EF8D400}"/>
              </a:ext>
            </a:extLst>
          </p:cNvPr>
          <p:cNvSpPr>
            <a:spLocks xmlns:a="http://schemas.openxmlformats.org/drawingml/2006/main" noGrp="1"/>
          </p:cNvSpPr>
          <p:nvPr/>
        </p:nvSpPr>
        <p:spPr>
          <a:xfrm xmlns:a="http://schemas.openxmlformats.org/drawingml/2006/main">
            <a:off x="3476625" y="3829050"/>
            <a:ext cx="190500" cy="190500"/>
          </a:xfrm>
          <a:prstGeom xmlns:a="http://schemas.openxmlformats.org/drawingml/2006/main" prst="ellipse">
            <a:avLst/>
          </a:prstGeom>
          <a:solidFill xmlns:a="http://schemas.openxmlformats.org/drawingml/2006/main">
            <a:srgbClr val="126BFF"/>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C5F67F2A-F60E-4E16-939A-611AB9C15004}"/>
              </a:ext>
            </a:extLst>
          </p:cNvPr>
          <p:cNvSpPr>
            <a:spLocks xmlns:a="http://schemas.openxmlformats.org/drawingml/2006/main" noGrp="1"/>
          </p:cNvSpPr>
          <p:nvPr/>
        </p:nvSpPr>
        <p:spPr>
          <a:xfrm xmlns:a="http://schemas.openxmlformats.org/drawingml/2006/main">
            <a:off x="4095750" y="3143250"/>
            <a:ext cx="190500" cy="190500"/>
          </a:xfrm>
          <a:prstGeom xmlns:a="http://schemas.openxmlformats.org/drawingml/2006/main" prst="ellipse">
            <a:avLst/>
          </a:prstGeom>
          <a:solidFill xmlns:a="http://schemas.openxmlformats.org/drawingml/2006/main">
            <a:srgbClr val="126BFF"/>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C1CF50F9-6EC3-4385-9DFC-646C12970BA8}"/>
              </a:ext>
            </a:extLst>
          </p:cNvPr>
          <p:cNvSpPr>
            <a:spLocks xmlns:a="http://schemas.openxmlformats.org/drawingml/2006/main" noGrp="1"/>
          </p:cNvSpPr>
          <p:nvPr/>
        </p:nvSpPr>
        <p:spPr>
          <a:xfrm xmlns:a="http://schemas.openxmlformats.org/drawingml/2006/main">
            <a:off x="4686300" y="2743200"/>
            <a:ext cx="190500" cy="190500"/>
          </a:xfrm>
          <a:prstGeom xmlns:a="http://schemas.openxmlformats.org/drawingml/2006/main" prst="ellipse">
            <a:avLst/>
          </a:prstGeom>
          <a:solidFill xmlns:a="http://schemas.openxmlformats.org/drawingml/2006/main">
            <a:srgbClr val="126BFF"/>
          </a:solidFill>
          <a:ln xmlns:a="http://schemas.openxmlformats.org/drawingml/2006/main" w="0">
            <a:noFill/>
            <a:prstDash val="solid"/>
          </a:ln>
        </p:spPr>
      </p:sp>
      <p:sp>
        <p:nvSpPr>
          <p:cNvPr id="15" name="shape">
            <a:extLst xmlns:a="http://schemas.openxmlformats.org/drawingml/2006/main">
              <a:ext uri="{FF2B5EF4-FFF2-40B4-BE49-F238E27FC236}">
                <a16:creationId xmlns:a16="http://schemas.microsoft.com/office/drawing/2014/main" id="{E228BC41-2341-4F09-A80F-CED36EB4A6CD}"/>
              </a:ext>
            </a:extLst>
          </p:cNvPr>
          <p:cNvSpPr>
            <a:spLocks xmlns:a="http://schemas.openxmlformats.org/drawingml/2006/main" noGrp="1"/>
          </p:cNvSpPr>
          <p:nvPr/>
        </p:nvSpPr>
        <p:spPr>
          <a:xfrm xmlns:a="http://schemas.openxmlformats.org/drawingml/2006/main">
            <a:off x="5238750" y="2857500"/>
            <a:ext cx="190500" cy="190500"/>
          </a:xfrm>
          <a:prstGeom xmlns:a="http://schemas.openxmlformats.org/drawingml/2006/main" prst="ellipse">
            <a:avLst/>
          </a:prstGeom>
          <a:solidFill xmlns:a="http://schemas.openxmlformats.org/drawingml/2006/main">
            <a:srgbClr val="126BFF"/>
          </a:solidFill>
          <a:ln xmlns:a="http://schemas.openxmlformats.org/drawingml/2006/main" w="0">
            <a:noFill/>
            <a:prstDash val="solid"/>
          </a:ln>
        </p:spPr>
      </p:sp>
      <p:sp>
        <p:nvSpPr>
          <p:cNvPr id="16" name="shape">
            <a:extLst xmlns:a="http://schemas.openxmlformats.org/drawingml/2006/main">
              <a:ext uri="{FF2B5EF4-FFF2-40B4-BE49-F238E27FC236}">
                <a16:creationId xmlns:a16="http://schemas.microsoft.com/office/drawing/2014/main" id="{0212EF34-AEEC-419A-9E23-4282B71EFD25}"/>
              </a:ext>
            </a:extLst>
          </p:cNvPr>
          <p:cNvSpPr>
            <a:spLocks xmlns:a="http://schemas.openxmlformats.org/drawingml/2006/main" noGrp="1"/>
          </p:cNvSpPr>
          <p:nvPr/>
        </p:nvSpPr>
        <p:spPr>
          <a:xfrm xmlns:a="http://schemas.openxmlformats.org/drawingml/2006/main">
            <a:off x="5953125" y="2238375"/>
            <a:ext cx="190500" cy="190500"/>
          </a:xfrm>
          <a:prstGeom xmlns:a="http://schemas.openxmlformats.org/drawingml/2006/main" prst="ellipse">
            <a:avLst/>
          </a:prstGeom>
          <a:solidFill xmlns:a="http://schemas.openxmlformats.org/drawingml/2006/main">
            <a:srgbClr val="126BFF"/>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6BEB71F7-F82E-4D10-97BC-AC7667B31EF4}"/>
              </a:ext>
            </a:extLst>
          </p:cNvPr>
          <p:cNvSpPr>
            <a:spLocks xmlns:a="http://schemas.openxmlformats.org/drawingml/2006/main" noGrp="1"/>
          </p:cNvSpPr>
          <p:nvPr/>
        </p:nvSpPr>
        <p:spPr>
          <a:xfrm xmlns:a="http://schemas.openxmlformats.org/drawingml/2006/main">
            <a:off x="7334250" y="17145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26BFF"/>
                </a:solidFill>
              </a:defRPr>
            </a:pPr>
            <a:r>
              <a:rPr sz="1800" b="1">
                <a:solidFill>
                  <a:srgbClr val="126BFF"/>
                </a:solidFill>
              </a:rPr>
              <a:t>Verifique</a:t>
            </a:r>
          </a:p>
        </p:txBody>
      </p:sp>
      <p:sp>
        <p:nvSpPr>
          <p:cNvPr id="18" name="text">
            <a:extLst xmlns:a="http://schemas.openxmlformats.org/drawingml/2006/main">
              <a:ext uri="{FF2B5EF4-FFF2-40B4-BE49-F238E27FC236}">
                <a16:creationId xmlns:a16="http://schemas.microsoft.com/office/drawing/2014/main" id="{537F0852-90B2-430C-AD13-C316ED65C4EC}"/>
              </a:ext>
            </a:extLst>
          </p:cNvPr>
          <p:cNvSpPr>
            <a:spLocks xmlns:a="http://schemas.openxmlformats.org/drawingml/2006/main" noGrp="1"/>
          </p:cNvSpPr>
          <p:nvPr/>
        </p:nvSpPr>
        <p:spPr>
          <a:xfrm xmlns:a="http://schemas.openxmlformats.org/drawingml/2006/main">
            <a:off x="7334250" y="2286000"/>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26BFF"/>
                </a:solidFill>
              </a:defRPr>
            </a:pPr>
            <a:r>
              <a:rPr sz="1650" b="1">
                <a:solidFill>
                  <a:srgbClr val="126BFF"/>
                </a:solidFill>
              </a:rPr>
              <a:t>→</a:t>
            </a:r>
          </a:p>
        </p:txBody>
      </p:sp>
      <p:sp>
        <p:nvSpPr>
          <p:cNvPr id="19" name="text">
            <a:extLst xmlns:a="http://schemas.openxmlformats.org/drawingml/2006/main">
              <a:ext uri="{FF2B5EF4-FFF2-40B4-BE49-F238E27FC236}">
                <a16:creationId xmlns:a16="http://schemas.microsoft.com/office/drawing/2014/main" id="{D9BF721C-4042-43B2-B9AA-5FB225443D2E}"/>
              </a:ext>
            </a:extLst>
          </p:cNvPr>
          <p:cNvSpPr>
            <a:spLocks xmlns:a="http://schemas.openxmlformats.org/drawingml/2006/main" noGrp="1"/>
          </p:cNvSpPr>
          <p:nvPr/>
        </p:nvSpPr>
        <p:spPr>
          <a:xfrm xmlns:a="http://schemas.openxmlformats.org/drawingml/2006/main">
            <a:off x="7762875" y="2238375"/>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4202B"/>
                </a:solidFill>
              </a:defRPr>
            </a:pPr>
            <a:r>
              <a:rPr sz="1575" b="0">
                <a:solidFill>
                  <a:srgbClr val="14202B"/>
                </a:solidFill>
              </a:rPr>
              <a:t>direção: positiva ou negativa?</a:t>
            </a:r>
          </a:p>
        </p:txBody>
      </p:sp>
      <p:sp>
        <p:nvSpPr>
          <p:cNvPr id="20" name="text">
            <a:extLst xmlns:a="http://schemas.openxmlformats.org/drawingml/2006/main">
              <a:ext uri="{FF2B5EF4-FFF2-40B4-BE49-F238E27FC236}">
                <a16:creationId xmlns:a16="http://schemas.microsoft.com/office/drawing/2014/main" id="{82F8C151-0E60-4B9C-BBC4-C04972649596}"/>
              </a:ext>
            </a:extLst>
          </p:cNvPr>
          <p:cNvSpPr>
            <a:spLocks xmlns:a="http://schemas.openxmlformats.org/drawingml/2006/main" noGrp="1"/>
          </p:cNvSpPr>
          <p:nvPr/>
        </p:nvSpPr>
        <p:spPr>
          <a:xfrm xmlns:a="http://schemas.openxmlformats.org/drawingml/2006/main">
            <a:off x="7334250" y="2914650"/>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26BFF"/>
                </a:solidFill>
              </a:defRPr>
            </a:pPr>
            <a:r>
              <a:rPr sz="1650" b="1">
                <a:solidFill>
                  <a:srgbClr val="126BFF"/>
                </a:solidFill>
              </a:rPr>
              <a:t>→</a:t>
            </a:r>
          </a:p>
        </p:txBody>
      </p:sp>
      <p:sp>
        <p:nvSpPr>
          <p:cNvPr id="21" name="text">
            <a:extLst xmlns:a="http://schemas.openxmlformats.org/drawingml/2006/main">
              <a:ext uri="{FF2B5EF4-FFF2-40B4-BE49-F238E27FC236}">
                <a16:creationId xmlns:a16="http://schemas.microsoft.com/office/drawing/2014/main" id="{70DE0659-C3E9-4FC2-873E-274D34940582}"/>
              </a:ext>
            </a:extLst>
          </p:cNvPr>
          <p:cNvSpPr>
            <a:spLocks xmlns:a="http://schemas.openxmlformats.org/drawingml/2006/main" noGrp="1"/>
          </p:cNvSpPr>
          <p:nvPr/>
        </p:nvSpPr>
        <p:spPr>
          <a:xfrm xmlns:a="http://schemas.openxmlformats.org/drawingml/2006/main">
            <a:off x="7762875" y="2867025"/>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4202B"/>
                </a:solidFill>
              </a:defRPr>
            </a:pPr>
            <a:r>
              <a:rPr sz="1575" b="0">
                <a:solidFill>
                  <a:srgbClr val="14202B"/>
                </a:solidFill>
              </a:rPr>
              <a:t>forma: linear ou não linear?</a:t>
            </a:r>
          </a:p>
        </p:txBody>
      </p:sp>
      <p:sp>
        <p:nvSpPr>
          <p:cNvPr id="22" name="text">
            <a:extLst xmlns:a="http://schemas.openxmlformats.org/drawingml/2006/main">
              <a:ext uri="{FF2B5EF4-FFF2-40B4-BE49-F238E27FC236}">
                <a16:creationId xmlns:a16="http://schemas.microsoft.com/office/drawing/2014/main" id="{3268C7F8-C739-433C-9D13-59A9EA16B931}"/>
              </a:ext>
            </a:extLst>
          </p:cNvPr>
          <p:cNvSpPr>
            <a:spLocks xmlns:a="http://schemas.openxmlformats.org/drawingml/2006/main" noGrp="1"/>
          </p:cNvSpPr>
          <p:nvPr/>
        </p:nvSpPr>
        <p:spPr>
          <a:xfrm xmlns:a="http://schemas.openxmlformats.org/drawingml/2006/main">
            <a:off x="7334250" y="3543300"/>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26BFF"/>
                </a:solidFill>
              </a:defRPr>
            </a:pPr>
            <a:r>
              <a:rPr sz="1650" b="1">
                <a:solidFill>
                  <a:srgbClr val="126BFF"/>
                </a:solidFill>
              </a:rPr>
              <a:t>→</a:t>
            </a:r>
          </a:p>
        </p:txBody>
      </p:sp>
      <p:sp>
        <p:nvSpPr>
          <p:cNvPr id="23" name="text">
            <a:extLst xmlns:a="http://schemas.openxmlformats.org/drawingml/2006/main">
              <a:ext uri="{FF2B5EF4-FFF2-40B4-BE49-F238E27FC236}">
                <a16:creationId xmlns:a16="http://schemas.microsoft.com/office/drawing/2014/main" id="{ED8FFBD4-0506-416E-AF9D-F94713C965E2}"/>
              </a:ext>
            </a:extLst>
          </p:cNvPr>
          <p:cNvSpPr>
            <a:spLocks xmlns:a="http://schemas.openxmlformats.org/drawingml/2006/main" noGrp="1"/>
          </p:cNvSpPr>
          <p:nvPr/>
        </p:nvSpPr>
        <p:spPr>
          <a:xfrm xmlns:a="http://schemas.openxmlformats.org/drawingml/2006/main">
            <a:off x="7762875" y="3495675"/>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4202B"/>
                </a:solidFill>
              </a:defRPr>
            </a:pPr>
            <a:r>
              <a:rPr sz="1575" b="0">
                <a:solidFill>
                  <a:srgbClr val="14202B"/>
                </a:solidFill>
              </a:rPr>
              <a:t>intensidade e dispersão</a:t>
            </a:r>
          </a:p>
        </p:txBody>
      </p:sp>
      <p:sp>
        <p:nvSpPr>
          <p:cNvPr id="24" name="text">
            <a:extLst xmlns:a="http://schemas.openxmlformats.org/drawingml/2006/main">
              <a:ext uri="{FF2B5EF4-FFF2-40B4-BE49-F238E27FC236}">
                <a16:creationId xmlns:a16="http://schemas.microsoft.com/office/drawing/2014/main" id="{D088BB76-7226-43A2-A0E8-AFE17A708FD2}"/>
              </a:ext>
            </a:extLst>
          </p:cNvPr>
          <p:cNvSpPr>
            <a:spLocks xmlns:a="http://schemas.openxmlformats.org/drawingml/2006/main" noGrp="1"/>
          </p:cNvSpPr>
          <p:nvPr/>
        </p:nvSpPr>
        <p:spPr>
          <a:xfrm xmlns:a="http://schemas.openxmlformats.org/drawingml/2006/main">
            <a:off x="7334250" y="4171950"/>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26BFF"/>
                </a:solidFill>
              </a:defRPr>
            </a:pPr>
            <a:r>
              <a:rPr sz="1650" b="1">
                <a:solidFill>
                  <a:srgbClr val="126BFF"/>
                </a:solidFill>
              </a:rPr>
              <a:t>→</a:t>
            </a:r>
          </a:p>
        </p:txBody>
      </p:sp>
      <p:sp>
        <p:nvSpPr>
          <p:cNvPr id="25" name="text">
            <a:extLst xmlns:a="http://schemas.openxmlformats.org/drawingml/2006/main">
              <a:ext uri="{FF2B5EF4-FFF2-40B4-BE49-F238E27FC236}">
                <a16:creationId xmlns:a16="http://schemas.microsoft.com/office/drawing/2014/main" id="{0AA555A7-39A4-4A45-904D-9542AF86C3EC}"/>
              </a:ext>
            </a:extLst>
          </p:cNvPr>
          <p:cNvSpPr>
            <a:spLocks xmlns:a="http://schemas.openxmlformats.org/drawingml/2006/main" noGrp="1"/>
          </p:cNvSpPr>
          <p:nvPr/>
        </p:nvSpPr>
        <p:spPr>
          <a:xfrm xmlns:a="http://schemas.openxmlformats.org/drawingml/2006/main">
            <a:off x="7762875" y="4124325"/>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4202B"/>
                </a:solidFill>
              </a:defRPr>
            </a:pPr>
            <a:r>
              <a:rPr sz="1575" b="0">
                <a:solidFill>
                  <a:srgbClr val="14202B"/>
                </a:solidFill>
              </a:rPr>
              <a:t>outliers influentes</a:t>
            </a:r>
          </a:p>
        </p:txBody>
      </p:sp>
      <p:sp>
        <p:nvSpPr>
          <p:cNvPr id="26" name="text">
            <a:extLst xmlns:a="http://schemas.openxmlformats.org/drawingml/2006/main">
              <a:ext uri="{FF2B5EF4-FFF2-40B4-BE49-F238E27FC236}">
                <a16:creationId xmlns:a16="http://schemas.microsoft.com/office/drawing/2014/main" id="{C85477B6-DF04-4BE8-AA39-6A89C376E2C6}"/>
              </a:ext>
            </a:extLst>
          </p:cNvPr>
          <p:cNvSpPr>
            <a:spLocks xmlns:a="http://schemas.openxmlformats.org/drawingml/2006/main" noGrp="1"/>
          </p:cNvSpPr>
          <p:nvPr/>
        </p:nvSpPr>
        <p:spPr>
          <a:xfrm xmlns:a="http://schemas.openxmlformats.org/drawingml/2006/main">
            <a:off x="7334250" y="4800600"/>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26BFF"/>
                </a:solidFill>
              </a:defRPr>
            </a:pPr>
            <a:r>
              <a:rPr sz="1650" b="1">
                <a:solidFill>
                  <a:srgbClr val="126BFF"/>
                </a:solidFill>
              </a:rPr>
              <a:t>→</a:t>
            </a:r>
          </a:p>
        </p:txBody>
      </p:sp>
      <p:sp>
        <p:nvSpPr>
          <p:cNvPr id="27" name="text">
            <a:extLst xmlns:a="http://schemas.openxmlformats.org/drawingml/2006/main">
              <a:ext uri="{FF2B5EF4-FFF2-40B4-BE49-F238E27FC236}">
                <a16:creationId xmlns:a16="http://schemas.microsoft.com/office/drawing/2014/main" id="{BD2A08B5-7A72-4A6B-A764-B04A16942A6D}"/>
              </a:ext>
            </a:extLst>
          </p:cNvPr>
          <p:cNvSpPr>
            <a:spLocks xmlns:a="http://schemas.openxmlformats.org/drawingml/2006/main" noGrp="1"/>
          </p:cNvSpPr>
          <p:nvPr/>
        </p:nvSpPr>
        <p:spPr>
          <a:xfrm xmlns:a="http://schemas.openxmlformats.org/drawingml/2006/main">
            <a:off x="7762875" y="4752975"/>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4202B"/>
                </a:solidFill>
              </a:defRPr>
            </a:pPr>
            <a:r>
              <a:rPr sz="1575" b="0">
                <a:solidFill>
                  <a:srgbClr val="14202B"/>
                </a:solidFill>
              </a:rPr>
              <a:t>variáveis de confusão</a:t>
            </a:r>
          </a:p>
        </p:txBody>
      </p:sp>
      <p:sp>
        <p:nvSpPr>
          <p:cNvPr id="28" name="shape">
            <a:extLst xmlns:a="http://schemas.openxmlformats.org/drawingml/2006/main">
              <a:ext uri="{FF2B5EF4-FFF2-40B4-BE49-F238E27FC236}">
                <a16:creationId xmlns:a16="http://schemas.microsoft.com/office/drawing/2014/main" id="{B3490F77-75E4-438E-A067-82661AEDF86E}"/>
              </a:ext>
            </a:extLst>
          </p:cNvPr>
          <p:cNvSpPr>
            <a:spLocks xmlns:a="http://schemas.openxmlformats.org/drawingml/2006/main" noGrp="1"/>
          </p:cNvSpPr>
          <p:nvPr/>
        </p:nvSpPr>
        <p:spPr>
          <a:xfrm xmlns:a="http://schemas.openxmlformats.org/drawingml/2006/main">
            <a:off x="7334250" y="5476875"/>
            <a:ext cx="3905250" cy="533400"/>
          </a:xfrm>
          <a:prstGeom xmlns:a="http://schemas.openxmlformats.org/drawingml/2006/main" prst="roundRect">
            <a:avLst>
              <a:gd name="adj" fmla="val 14286"/>
            </a:avLst>
          </a:prstGeom>
          <a:solidFill xmlns:a="http://schemas.openxmlformats.org/drawingml/2006/main">
            <a:srgbClr val="DDEBFF"/>
          </a:solidFill>
          <a:ln xmlns:a="http://schemas.openxmlformats.org/drawingml/2006/main" w="0">
            <a:noFill/>
            <a:prstDash val="solid"/>
          </a:ln>
        </p:spPr>
      </p:sp>
      <p:sp>
        <p:nvSpPr>
          <p:cNvPr id="29" name="text">
            <a:extLst xmlns:a="http://schemas.openxmlformats.org/drawingml/2006/main">
              <a:ext uri="{FF2B5EF4-FFF2-40B4-BE49-F238E27FC236}">
                <a16:creationId xmlns:a16="http://schemas.microsoft.com/office/drawing/2014/main" id="{BB76A6F0-8752-43D0-B477-A1249D1EA43B}"/>
              </a:ext>
            </a:extLst>
          </p:cNvPr>
          <p:cNvSpPr>
            <a:spLocks xmlns:a="http://schemas.openxmlformats.org/drawingml/2006/main" noGrp="1"/>
          </p:cNvSpPr>
          <p:nvPr/>
        </p:nvSpPr>
        <p:spPr>
          <a:xfrm xmlns:a="http://schemas.openxmlformats.org/drawingml/2006/main">
            <a:off x="7524750" y="5543550"/>
            <a:ext cx="352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E34F55"/>
                </a:solidFill>
              </a:defRPr>
            </a:pPr>
            <a:r>
              <a:rPr sz="1650" b="1">
                <a:solidFill>
                  <a:srgbClr val="E34F55"/>
                </a:solidFill>
              </a:rPr>
              <a:t>correlação ≠ causalidade</a:t>
            </a:r>
          </a:p>
        </p:txBody>
      </p:sp>
    </p:spTree>
    <p:extLst>
      <p:ext uri="{BB962C8B-B14F-4D97-AF65-F5344CB8AC3E}">
        <p14:creationId xmlns:p14="http://schemas.microsoft.com/office/powerpoint/2010/main" val="76875828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text">
            <a:extLst xmlns:a="http://schemas.openxmlformats.org/drawingml/2006/main">
              <a:ext uri="{FF2B5EF4-FFF2-40B4-BE49-F238E27FC236}">
                <a16:creationId xmlns:a16="http://schemas.microsoft.com/office/drawing/2014/main" id="{42FA2457-17C0-46A9-A7A6-6583AA91A267}"/>
              </a:ext>
            </a:extLst>
          </p:cNvPr>
          <p:cNvSpPr>
            <a:spLocks xmlns:a="http://schemas.openxmlformats.org/drawingml/2006/main" noGrp="1"/>
          </p:cNvSpPr>
          <p:nvPr/>
        </p:nvSpPr>
        <p:spPr>
          <a:xfrm xmlns:a="http://schemas.openxmlformats.org/drawingml/2006/main">
            <a:off x="552450" y="20955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26BFF"/>
                </a:solidFill>
              </a:defRPr>
            </a:pPr>
            <a:r>
              <a:rPr sz="1050" b="1">
                <a:solidFill>
                  <a:srgbClr val="126BFF"/>
                </a:solidFill>
              </a:rPr>
              <a:t>ESCOLHA DA VISUALIZAÇÃO</a:t>
            </a:r>
          </a:p>
        </p:txBody>
      </p:sp>
      <p:sp>
        <p:nvSpPr>
          <p:cNvPr id="2" name="text">
            <a:extLst xmlns:a="http://schemas.openxmlformats.org/drawingml/2006/main">
              <a:ext uri="{FF2B5EF4-FFF2-40B4-BE49-F238E27FC236}">
                <a16:creationId xmlns:a16="http://schemas.microsoft.com/office/drawing/2014/main" id="{D12382CC-568B-45CE-9FC4-75F306DAE946}"/>
              </a:ext>
            </a:extLst>
          </p:cNvPr>
          <p:cNvSpPr>
            <a:spLocks xmlns:a="http://schemas.openxmlformats.org/drawingml/2006/main" noGrp="1"/>
          </p:cNvSpPr>
          <p:nvPr/>
        </p:nvSpPr>
        <p:spPr>
          <a:xfrm xmlns:a="http://schemas.openxmlformats.org/drawingml/2006/main">
            <a:off x="552450" y="45720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4202B"/>
                </a:solidFill>
              </a:defRPr>
            </a:pPr>
            <a:r>
              <a:rPr sz="3600" b="1">
                <a:solidFill>
                  <a:srgbClr val="14202B"/>
                </a:solidFill>
              </a:rPr>
              <a:t>O gráfico deve responder à pergunta com o menor ruído</a:t>
            </a:r>
          </a:p>
        </p:txBody>
      </p:sp>
      <p:sp>
        <p:nvSpPr>
          <p:cNvPr id="3" name="">
            <a:extLst xmlns:a="http://schemas.openxmlformats.org/drawingml/2006/main">
              <a:ext uri="{FF2B5EF4-FFF2-40B4-BE49-F238E27FC236}">
                <a16:creationId xmlns:a16="http://schemas.microsoft.com/office/drawing/2014/main" id="{E9A0B2F1-686F-4128-B0CE-D2D40AF95FF5}"/>
              </a:ext>
            </a:extLst>
          </p:cNvPr>
          <p:cNvSpPr>
            <a:spLocks xmlns:a="http://schemas.openxmlformats.org/drawingml/2006/main" noGrp="1"/>
          </p:cNvSpPr>
          <p:nvPr/>
        </p:nvSpPr>
        <p:spPr>
          <a:xfrm xmlns:a="http://schemas.openxmlformats.org/drawingml/2006/main">
            <a:off x="552450" y="1238250"/>
            <a:ext cx="11087100" cy="0"/>
          </a:xfrm>
          <a:prstGeom xmlns:a="http://schemas.openxmlformats.org/drawingml/2006/main" prst="line">
            <a:avLst/>
          </a:prstGeom>
          <a:noFill xmlns:a="http://schemas.openxmlformats.org/drawingml/2006/main"/>
          <a:ln xmlns:a="http://schemas.openxmlformats.org/drawingml/2006/main" w="9525">
            <a:solidFill>
              <a:srgbClr val="C9D3DC"/>
            </a:solidFill>
            <a:prstDash val="solid"/>
          </a:ln>
        </p:spPr>
      </p:sp>
      <p:sp>
        <p:nvSpPr>
          <p:cNvPr id="4" name="text">
            <a:extLst xmlns:a="http://schemas.openxmlformats.org/drawingml/2006/main">
              <a:ext uri="{FF2B5EF4-FFF2-40B4-BE49-F238E27FC236}">
                <a16:creationId xmlns:a16="http://schemas.microsoft.com/office/drawing/2014/main" id="{6677D595-32D6-4CCE-98E0-2632F134192F}"/>
              </a:ext>
            </a:extLst>
          </p:cNvPr>
          <p:cNvSpPr>
            <a:spLocks xmlns:a="http://schemas.openxmlformats.org/drawingml/2006/main" noGrp="1"/>
          </p:cNvSpPr>
          <p:nvPr/>
        </p:nvSpPr>
        <p:spPr>
          <a:xfrm xmlns:a="http://schemas.openxmlformats.org/drawingml/2006/main">
            <a:off x="1118235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536270"/>
                </a:solidFill>
              </a:defRPr>
            </a:pPr>
            <a:r>
              <a:rPr sz="975" b="1">
                <a:solidFill>
                  <a:srgbClr val="536270"/>
                </a:solidFill>
              </a:rPr>
              <a:t>14</a:t>
            </a:r>
          </a:p>
        </p:txBody>
      </p:sp>
      <p:sp>
        <p:nvSpPr>
          <p:cNvPr id="5" name="text">
            <a:extLst xmlns:a="http://schemas.openxmlformats.org/drawingml/2006/main">
              <a:ext uri="{FF2B5EF4-FFF2-40B4-BE49-F238E27FC236}">
                <a16:creationId xmlns:a16="http://schemas.microsoft.com/office/drawing/2014/main" id="{B472F49A-1FAC-4676-BB1D-9950A8663920}"/>
              </a:ext>
            </a:extLst>
          </p:cNvPr>
          <p:cNvSpPr>
            <a:spLocks xmlns:a="http://schemas.openxmlformats.org/drawingml/2006/main" noGrp="1"/>
          </p:cNvSpPr>
          <p:nvPr/>
        </p:nvSpPr>
        <p:spPr>
          <a:xfrm xmlns:a="http://schemas.openxmlformats.org/drawingml/2006/main">
            <a:off x="552450" y="142875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536270"/>
                </a:solidFill>
              </a:defRPr>
            </a:pPr>
            <a:r>
              <a:rPr sz="1125" b="1">
                <a:solidFill>
                  <a:srgbClr val="536270"/>
                </a:solidFill>
              </a:rPr>
              <a:t>PERGUNTA</a:t>
            </a:r>
          </a:p>
        </p:txBody>
      </p:sp>
      <p:sp>
        <p:nvSpPr>
          <p:cNvPr id="6" name="text">
            <a:extLst xmlns:a="http://schemas.openxmlformats.org/drawingml/2006/main">
              <a:ext uri="{FF2B5EF4-FFF2-40B4-BE49-F238E27FC236}">
                <a16:creationId xmlns:a16="http://schemas.microsoft.com/office/drawing/2014/main" id="{6DBD5FD1-7E7C-4135-972D-F5DD14F17C7B}"/>
              </a:ext>
            </a:extLst>
          </p:cNvPr>
          <p:cNvSpPr>
            <a:spLocks xmlns:a="http://schemas.openxmlformats.org/drawingml/2006/main" noGrp="1"/>
          </p:cNvSpPr>
          <p:nvPr/>
        </p:nvSpPr>
        <p:spPr>
          <a:xfrm xmlns:a="http://schemas.openxmlformats.org/drawingml/2006/main">
            <a:off x="6191250" y="14287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536270"/>
                </a:solidFill>
              </a:defRPr>
            </a:pPr>
            <a:r>
              <a:rPr sz="1125" b="1">
                <a:solidFill>
                  <a:srgbClr val="536270"/>
                </a:solidFill>
              </a:rPr>
              <a:t>VISUALIZAÇÃO INICIAL</a:t>
            </a:r>
          </a:p>
        </p:txBody>
      </p:sp>
      <p:sp>
        <p:nvSpPr>
          <p:cNvPr id="7" name="text">
            <a:extLst xmlns:a="http://schemas.openxmlformats.org/drawingml/2006/main">
              <a:ext uri="{FF2B5EF4-FFF2-40B4-BE49-F238E27FC236}">
                <a16:creationId xmlns:a16="http://schemas.microsoft.com/office/drawing/2014/main" id="{D616AFDD-0D98-4E78-8A16-4454F2645E77}"/>
              </a:ext>
            </a:extLst>
          </p:cNvPr>
          <p:cNvSpPr>
            <a:spLocks xmlns:a="http://schemas.openxmlformats.org/drawingml/2006/main" noGrp="1"/>
          </p:cNvSpPr>
          <p:nvPr/>
        </p:nvSpPr>
        <p:spPr>
          <a:xfrm xmlns:a="http://schemas.openxmlformats.org/drawingml/2006/main">
            <a:off x="552450" y="17907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4202B"/>
                </a:solidFill>
              </a:defRPr>
            </a:pPr>
            <a:r>
              <a:rPr sz="1725" b="1">
                <a:solidFill>
                  <a:srgbClr val="14202B"/>
                </a:solidFill>
              </a:rPr>
              <a:t>Frequência por grupo</a:t>
            </a:r>
          </a:p>
        </p:txBody>
      </p:sp>
      <p:sp>
        <p:nvSpPr>
          <p:cNvPr id="8" name="text">
            <a:extLst xmlns:a="http://schemas.openxmlformats.org/drawingml/2006/main">
              <a:ext uri="{FF2B5EF4-FFF2-40B4-BE49-F238E27FC236}">
                <a16:creationId xmlns:a16="http://schemas.microsoft.com/office/drawing/2014/main" id="{9CB9DE23-C1E9-4A96-9BE2-42963F03E6F4}"/>
              </a:ext>
            </a:extLst>
          </p:cNvPr>
          <p:cNvSpPr>
            <a:spLocks xmlns:a="http://schemas.openxmlformats.org/drawingml/2006/main" noGrp="1"/>
          </p:cNvSpPr>
          <p:nvPr/>
        </p:nvSpPr>
        <p:spPr>
          <a:xfrm xmlns:a="http://schemas.openxmlformats.org/drawingml/2006/main">
            <a:off x="5524500" y="1790700"/>
            <a:ext cx="419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26BFF"/>
                </a:solidFill>
              </a:defRPr>
            </a:pPr>
            <a:r>
              <a:rPr sz="1650" b="1">
                <a:solidFill>
                  <a:srgbClr val="126BFF"/>
                </a:solidFill>
              </a:rPr>
              <a:t>→</a:t>
            </a:r>
          </a:p>
        </p:txBody>
      </p:sp>
      <p:sp>
        <p:nvSpPr>
          <p:cNvPr id="9" name="text">
            <a:extLst xmlns:a="http://schemas.openxmlformats.org/drawingml/2006/main">
              <a:ext uri="{FF2B5EF4-FFF2-40B4-BE49-F238E27FC236}">
                <a16:creationId xmlns:a16="http://schemas.microsoft.com/office/drawing/2014/main" id="{85631948-50AF-4997-8747-2E133B86DF1B}"/>
              </a:ext>
            </a:extLst>
          </p:cNvPr>
          <p:cNvSpPr>
            <a:spLocks xmlns:a="http://schemas.openxmlformats.org/drawingml/2006/main" noGrp="1"/>
          </p:cNvSpPr>
          <p:nvPr/>
        </p:nvSpPr>
        <p:spPr>
          <a:xfrm xmlns:a="http://schemas.openxmlformats.org/drawingml/2006/main">
            <a:off x="6191250" y="17907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536270"/>
                </a:solidFill>
              </a:defRPr>
            </a:pPr>
            <a:r>
              <a:rPr sz="1725" b="0">
                <a:solidFill>
                  <a:srgbClr val="536270"/>
                </a:solidFill>
              </a:rPr>
              <a:t>barras</a:t>
            </a:r>
          </a:p>
        </p:txBody>
      </p:sp>
      <p:sp>
        <p:nvSpPr>
          <p:cNvPr id="10" name="">
            <a:extLst xmlns:a="http://schemas.openxmlformats.org/drawingml/2006/main">
              <a:ext uri="{FF2B5EF4-FFF2-40B4-BE49-F238E27FC236}">
                <a16:creationId xmlns:a16="http://schemas.microsoft.com/office/drawing/2014/main" id="{A7C91228-F8DB-4660-AFF8-352DFC11573C}"/>
              </a:ext>
            </a:extLst>
          </p:cNvPr>
          <p:cNvSpPr>
            <a:spLocks xmlns:a="http://schemas.openxmlformats.org/drawingml/2006/main" noGrp="1"/>
          </p:cNvSpPr>
          <p:nvPr/>
        </p:nvSpPr>
        <p:spPr>
          <a:xfrm xmlns:a="http://schemas.openxmlformats.org/drawingml/2006/main">
            <a:off x="552450" y="2381250"/>
            <a:ext cx="10477500" cy="0"/>
          </a:xfrm>
          <a:prstGeom xmlns:a="http://schemas.openxmlformats.org/drawingml/2006/main" prst="line">
            <a:avLst/>
          </a:prstGeom>
          <a:noFill xmlns:a="http://schemas.openxmlformats.org/drawingml/2006/main"/>
          <a:ln xmlns:a="http://schemas.openxmlformats.org/drawingml/2006/main" w="9525">
            <a:solidFill>
              <a:srgbClr val="C9D3DC"/>
            </a:solidFill>
            <a:prstDash val="solid"/>
          </a:ln>
        </p:spPr>
      </p:sp>
      <p:sp>
        <p:nvSpPr>
          <p:cNvPr id="11" name="text">
            <a:extLst xmlns:a="http://schemas.openxmlformats.org/drawingml/2006/main">
              <a:ext uri="{FF2B5EF4-FFF2-40B4-BE49-F238E27FC236}">
                <a16:creationId xmlns:a16="http://schemas.microsoft.com/office/drawing/2014/main" id="{DA8D9E1E-26C0-4CC9-A584-50AC8EFDAF87}"/>
              </a:ext>
            </a:extLst>
          </p:cNvPr>
          <p:cNvSpPr>
            <a:spLocks xmlns:a="http://schemas.openxmlformats.org/drawingml/2006/main" noGrp="1"/>
          </p:cNvSpPr>
          <p:nvPr/>
        </p:nvSpPr>
        <p:spPr>
          <a:xfrm xmlns:a="http://schemas.openxmlformats.org/drawingml/2006/main">
            <a:off x="552450" y="25527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4202B"/>
                </a:solidFill>
              </a:defRPr>
            </a:pPr>
            <a:r>
              <a:rPr sz="1725" b="1">
                <a:solidFill>
                  <a:srgbClr val="14202B"/>
                </a:solidFill>
              </a:rPr>
              <a:t>Distribuição numérica</a:t>
            </a:r>
          </a:p>
        </p:txBody>
      </p:sp>
      <p:sp>
        <p:nvSpPr>
          <p:cNvPr id="12" name="text">
            <a:extLst xmlns:a="http://schemas.openxmlformats.org/drawingml/2006/main">
              <a:ext uri="{FF2B5EF4-FFF2-40B4-BE49-F238E27FC236}">
                <a16:creationId xmlns:a16="http://schemas.microsoft.com/office/drawing/2014/main" id="{7BBD5C11-AE43-49AD-87A7-0B8452563A9E}"/>
              </a:ext>
            </a:extLst>
          </p:cNvPr>
          <p:cNvSpPr>
            <a:spLocks xmlns:a="http://schemas.openxmlformats.org/drawingml/2006/main" noGrp="1"/>
          </p:cNvSpPr>
          <p:nvPr/>
        </p:nvSpPr>
        <p:spPr>
          <a:xfrm xmlns:a="http://schemas.openxmlformats.org/drawingml/2006/main">
            <a:off x="5524500" y="2552700"/>
            <a:ext cx="419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26BFF"/>
                </a:solidFill>
              </a:defRPr>
            </a:pPr>
            <a:r>
              <a:rPr sz="1650" b="1">
                <a:solidFill>
                  <a:srgbClr val="126BFF"/>
                </a:solidFill>
              </a:rPr>
              <a:t>→</a:t>
            </a:r>
          </a:p>
        </p:txBody>
      </p:sp>
      <p:sp>
        <p:nvSpPr>
          <p:cNvPr id="13" name="text">
            <a:extLst xmlns:a="http://schemas.openxmlformats.org/drawingml/2006/main">
              <a:ext uri="{FF2B5EF4-FFF2-40B4-BE49-F238E27FC236}">
                <a16:creationId xmlns:a16="http://schemas.microsoft.com/office/drawing/2014/main" id="{C31C1917-628A-4C43-9C99-40750944F966}"/>
              </a:ext>
            </a:extLst>
          </p:cNvPr>
          <p:cNvSpPr>
            <a:spLocks xmlns:a="http://schemas.openxmlformats.org/drawingml/2006/main" noGrp="1"/>
          </p:cNvSpPr>
          <p:nvPr/>
        </p:nvSpPr>
        <p:spPr>
          <a:xfrm xmlns:a="http://schemas.openxmlformats.org/drawingml/2006/main">
            <a:off x="6191250" y="25527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536270"/>
                </a:solidFill>
              </a:defRPr>
            </a:pPr>
            <a:r>
              <a:rPr sz="1725" b="0">
                <a:solidFill>
                  <a:srgbClr val="536270"/>
                </a:solidFill>
              </a:rPr>
              <a:t>histograma • boxplot • violino</a:t>
            </a:r>
          </a:p>
        </p:txBody>
      </p:sp>
      <p:sp>
        <p:nvSpPr>
          <p:cNvPr id="14" name="">
            <a:extLst xmlns:a="http://schemas.openxmlformats.org/drawingml/2006/main">
              <a:ext uri="{FF2B5EF4-FFF2-40B4-BE49-F238E27FC236}">
                <a16:creationId xmlns:a16="http://schemas.microsoft.com/office/drawing/2014/main" id="{5417425B-7F76-42A4-B0A7-135368CAEBA9}"/>
              </a:ext>
            </a:extLst>
          </p:cNvPr>
          <p:cNvSpPr>
            <a:spLocks xmlns:a="http://schemas.openxmlformats.org/drawingml/2006/main" noGrp="1"/>
          </p:cNvSpPr>
          <p:nvPr/>
        </p:nvSpPr>
        <p:spPr>
          <a:xfrm xmlns:a="http://schemas.openxmlformats.org/drawingml/2006/main">
            <a:off x="552450" y="3143250"/>
            <a:ext cx="10477500" cy="0"/>
          </a:xfrm>
          <a:prstGeom xmlns:a="http://schemas.openxmlformats.org/drawingml/2006/main" prst="line">
            <a:avLst/>
          </a:prstGeom>
          <a:noFill xmlns:a="http://schemas.openxmlformats.org/drawingml/2006/main"/>
          <a:ln xmlns:a="http://schemas.openxmlformats.org/drawingml/2006/main" w="9525">
            <a:solidFill>
              <a:srgbClr val="C9D3DC"/>
            </a:solidFill>
            <a:prstDash val="solid"/>
          </a:ln>
        </p:spPr>
      </p:sp>
      <p:sp>
        <p:nvSpPr>
          <p:cNvPr id="15" name="text">
            <a:extLst xmlns:a="http://schemas.openxmlformats.org/drawingml/2006/main">
              <a:ext uri="{FF2B5EF4-FFF2-40B4-BE49-F238E27FC236}">
                <a16:creationId xmlns:a16="http://schemas.microsoft.com/office/drawing/2014/main" id="{49CA6010-599C-4849-ABF3-A2350D7B1CB9}"/>
              </a:ext>
            </a:extLst>
          </p:cNvPr>
          <p:cNvSpPr>
            <a:spLocks xmlns:a="http://schemas.openxmlformats.org/drawingml/2006/main" noGrp="1"/>
          </p:cNvSpPr>
          <p:nvPr/>
        </p:nvSpPr>
        <p:spPr>
          <a:xfrm xmlns:a="http://schemas.openxmlformats.org/drawingml/2006/main">
            <a:off x="552450" y="33147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4202B"/>
                </a:solidFill>
              </a:defRPr>
            </a:pPr>
            <a:r>
              <a:rPr sz="1725" b="1">
                <a:solidFill>
                  <a:srgbClr val="14202B"/>
                </a:solidFill>
              </a:rPr>
              <a:t>Numérica por grupo</a:t>
            </a:r>
          </a:p>
        </p:txBody>
      </p:sp>
      <p:sp>
        <p:nvSpPr>
          <p:cNvPr id="16" name="text">
            <a:extLst xmlns:a="http://schemas.openxmlformats.org/drawingml/2006/main">
              <a:ext uri="{FF2B5EF4-FFF2-40B4-BE49-F238E27FC236}">
                <a16:creationId xmlns:a16="http://schemas.microsoft.com/office/drawing/2014/main" id="{639E6352-632F-4673-A5C3-CF0A23B4A749}"/>
              </a:ext>
            </a:extLst>
          </p:cNvPr>
          <p:cNvSpPr>
            <a:spLocks xmlns:a="http://schemas.openxmlformats.org/drawingml/2006/main" noGrp="1"/>
          </p:cNvSpPr>
          <p:nvPr/>
        </p:nvSpPr>
        <p:spPr>
          <a:xfrm xmlns:a="http://schemas.openxmlformats.org/drawingml/2006/main">
            <a:off x="5524500" y="3314700"/>
            <a:ext cx="419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26BFF"/>
                </a:solidFill>
              </a:defRPr>
            </a:pPr>
            <a:r>
              <a:rPr sz="1650" b="1">
                <a:solidFill>
                  <a:srgbClr val="126BFF"/>
                </a:solidFill>
              </a:rPr>
              <a:t>→</a:t>
            </a:r>
          </a:p>
        </p:txBody>
      </p:sp>
      <p:sp>
        <p:nvSpPr>
          <p:cNvPr id="17" name="text">
            <a:extLst xmlns:a="http://schemas.openxmlformats.org/drawingml/2006/main">
              <a:ext uri="{FF2B5EF4-FFF2-40B4-BE49-F238E27FC236}">
                <a16:creationId xmlns:a16="http://schemas.microsoft.com/office/drawing/2014/main" id="{3BD0635F-8B62-4C51-ACA5-D16512FC560B}"/>
              </a:ext>
            </a:extLst>
          </p:cNvPr>
          <p:cNvSpPr>
            <a:spLocks xmlns:a="http://schemas.openxmlformats.org/drawingml/2006/main" noGrp="1"/>
          </p:cNvSpPr>
          <p:nvPr/>
        </p:nvSpPr>
        <p:spPr>
          <a:xfrm xmlns:a="http://schemas.openxmlformats.org/drawingml/2006/main">
            <a:off x="6191250" y="33147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536270"/>
                </a:solidFill>
              </a:defRPr>
            </a:pPr>
            <a:r>
              <a:rPr sz="1725" b="0">
                <a:solidFill>
                  <a:srgbClr val="536270"/>
                </a:solidFill>
              </a:rPr>
              <a:t>boxplot • violino • pontos</a:t>
            </a:r>
          </a:p>
        </p:txBody>
      </p:sp>
      <p:sp>
        <p:nvSpPr>
          <p:cNvPr id="18" name="">
            <a:extLst xmlns:a="http://schemas.openxmlformats.org/drawingml/2006/main">
              <a:ext uri="{FF2B5EF4-FFF2-40B4-BE49-F238E27FC236}">
                <a16:creationId xmlns:a16="http://schemas.microsoft.com/office/drawing/2014/main" id="{97E0237E-147A-441C-8459-48481089AC3A}"/>
              </a:ext>
            </a:extLst>
          </p:cNvPr>
          <p:cNvSpPr>
            <a:spLocks xmlns:a="http://schemas.openxmlformats.org/drawingml/2006/main" noGrp="1"/>
          </p:cNvSpPr>
          <p:nvPr/>
        </p:nvSpPr>
        <p:spPr>
          <a:xfrm xmlns:a="http://schemas.openxmlformats.org/drawingml/2006/main">
            <a:off x="552450" y="3905250"/>
            <a:ext cx="10477500" cy="0"/>
          </a:xfrm>
          <a:prstGeom xmlns:a="http://schemas.openxmlformats.org/drawingml/2006/main" prst="line">
            <a:avLst/>
          </a:prstGeom>
          <a:noFill xmlns:a="http://schemas.openxmlformats.org/drawingml/2006/main"/>
          <a:ln xmlns:a="http://schemas.openxmlformats.org/drawingml/2006/main" w="9525">
            <a:solidFill>
              <a:srgbClr val="C9D3DC"/>
            </a:solidFill>
            <a:prstDash val="solid"/>
          </a:ln>
        </p:spPr>
      </p:sp>
      <p:sp>
        <p:nvSpPr>
          <p:cNvPr id="19" name="text">
            <a:extLst xmlns:a="http://schemas.openxmlformats.org/drawingml/2006/main">
              <a:ext uri="{FF2B5EF4-FFF2-40B4-BE49-F238E27FC236}">
                <a16:creationId xmlns:a16="http://schemas.microsoft.com/office/drawing/2014/main" id="{C2EFB4B7-953C-4B14-BDAC-4565C95018AF}"/>
              </a:ext>
            </a:extLst>
          </p:cNvPr>
          <p:cNvSpPr>
            <a:spLocks xmlns:a="http://schemas.openxmlformats.org/drawingml/2006/main" noGrp="1"/>
          </p:cNvSpPr>
          <p:nvPr/>
        </p:nvSpPr>
        <p:spPr>
          <a:xfrm xmlns:a="http://schemas.openxmlformats.org/drawingml/2006/main">
            <a:off x="552450" y="40767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4202B"/>
                </a:solidFill>
              </a:defRPr>
            </a:pPr>
            <a:r>
              <a:rPr sz="1725" b="1">
                <a:solidFill>
                  <a:srgbClr val="14202B"/>
                </a:solidFill>
              </a:rPr>
              <a:t>Relação numérica</a:t>
            </a:r>
          </a:p>
        </p:txBody>
      </p:sp>
      <p:sp>
        <p:nvSpPr>
          <p:cNvPr id="20" name="text">
            <a:extLst xmlns:a="http://schemas.openxmlformats.org/drawingml/2006/main">
              <a:ext uri="{FF2B5EF4-FFF2-40B4-BE49-F238E27FC236}">
                <a16:creationId xmlns:a16="http://schemas.microsoft.com/office/drawing/2014/main" id="{8D551AC3-2519-45C9-A63B-70143C7627BC}"/>
              </a:ext>
            </a:extLst>
          </p:cNvPr>
          <p:cNvSpPr>
            <a:spLocks xmlns:a="http://schemas.openxmlformats.org/drawingml/2006/main" noGrp="1"/>
          </p:cNvSpPr>
          <p:nvPr/>
        </p:nvSpPr>
        <p:spPr>
          <a:xfrm xmlns:a="http://schemas.openxmlformats.org/drawingml/2006/main">
            <a:off x="5524500" y="4076700"/>
            <a:ext cx="419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26BFF"/>
                </a:solidFill>
              </a:defRPr>
            </a:pPr>
            <a:r>
              <a:rPr sz="1650" b="1">
                <a:solidFill>
                  <a:srgbClr val="126BFF"/>
                </a:solidFill>
              </a:rPr>
              <a:t>→</a:t>
            </a:r>
          </a:p>
        </p:txBody>
      </p:sp>
      <p:sp>
        <p:nvSpPr>
          <p:cNvPr id="21" name="text">
            <a:extLst xmlns:a="http://schemas.openxmlformats.org/drawingml/2006/main">
              <a:ext uri="{FF2B5EF4-FFF2-40B4-BE49-F238E27FC236}">
                <a16:creationId xmlns:a16="http://schemas.microsoft.com/office/drawing/2014/main" id="{79F510E3-8AD5-4119-AAF6-D841074AF736}"/>
              </a:ext>
            </a:extLst>
          </p:cNvPr>
          <p:cNvSpPr>
            <a:spLocks xmlns:a="http://schemas.openxmlformats.org/drawingml/2006/main" noGrp="1"/>
          </p:cNvSpPr>
          <p:nvPr/>
        </p:nvSpPr>
        <p:spPr>
          <a:xfrm xmlns:a="http://schemas.openxmlformats.org/drawingml/2006/main">
            <a:off x="6191250" y="40767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536270"/>
                </a:solidFill>
              </a:defRPr>
            </a:pPr>
            <a:r>
              <a:rPr sz="1725" b="0">
                <a:solidFill>
                  <a:srgbClr val="536270"/>
                </a:solidFill>
              </a:rPr>
              <a:t>dispersão</a:t>
            </a:r>
          </a:p>
        </p:txBody>
      </p:sp>
      <p:sp>
        <p:nvSpPr>
          <p:cNvPr id="22" name="">
            <a:extLst xmlns:a="http://schemas.openxmlformats.org/drawingml/2006/main">
              <a:ext uri="{FF2B5EF4-FFF2-40B4-BE49-F238E27FC236}">
                <a16:creationId xmlns:a16="http://schemas.microsoft.com/office/drawing/2014/main" id="{7C16C9AB-B718-4432-9DD9-60565D23104F}"/>
              </a:ext>
            </a:extLst>
          </p:cNvPr>
          <p:cNvSpPr>
            <a:spLocks xmlns:a="http://schemas.openxmlformats.org/drawingml/2006/main" noGrp="1"/>
          </p:cNvSpPr>
          <p:nvPr/>
        </p:nvSpPr>
        <p:spPr>
          <a:xfrm xmlns:a="http://schemas.openxmlformats.org/drawingml/2006/main">
            <a:off x="552450" y="4667250"/>
            <a:ext cx="10477500" cy="0"/>
          </a:xfrm>
          <a:prstGeom xmlns:a="http://schemas.openxmlformats.org/drawingml/2006/main" prst="line">
            <a:avLst/>
          </a:prstGeom>
          <a:noFill xmlns:a="http://schemas.openxmlformats.org/drawingml/2006/main"/>
          <a:ln xmlns:a="http://schemas.openxmlformats.org/drawingml/2006/main" w="9525">
            <a:solidFill>
              <a:srgbClr val="C9D3DC"/>
            </a:solidFill>
            <a:prstDash val="solid"/>
          </a:ln>
        </p:spPr>
      </p:sp>
      <p:sp>
        <p:nvSpPr>
          <p:cNvPr id="23" name="text">
            <a:extLst xmlns:a="http://schemas.openxmlformats.org/drawingml/2006/main">
              <a:ext uri="{FF2B5EF4-FFF2-40B4-BE49-F238E27FC236}">
                <a16:creationId xmlns:a16="http://schemas.microsoft.com/office/drawing/2014/main" id="{228880E2-56BB-4A69-959F-1A2767D851EC}"/>
              </a:ext>
            </a:extLst>
          </p:cNvPr>
          <p:cNvSpPr>
            <a:spLocks xmlns:a="http://schemas.openxmlformats.org/drawingml/2006/main" noGrp="1"/>
          </p:cNvSpPr>
          <p:nvPr/>
        </p:nvSpPr>
        <p:spPr>
          <a:xfrm xmlns:a="http://schemas.openxmlformats.org/drawingml/2006/main">
            <a:off x="552450" y="48387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4202B"/>
                </a:solidFill>
              </a:defRPr>
            </a:pPr>
            <a:r>
              <a:rPr sz="1725" b="1">
                <a:solidFill>
                  <a:srgbClr val="14202B"/>
                </a:solidFill>
              </a:rPr>
              <a:t>Composição simples</a:t>
            </a:r>
          </a:p>
        </p:txBody>
      </p:sp>
      <p:sp>
        <p:nvSpPr>
          <p:cNvPr id="24" name="text">
            <a:extLst xmlns:a="http://schemas.openxmlformats.org/drawingml/2006/main">
              <a:ext uri="{FF2B5EF4-FFF2-40B4-BE49-F238E27FC236}">
                <a16:creationId xmlns:a16="http://schemas.microsoft.com/office/drawing/2014/main" id="{D571B86A-6123-4BC2-AB8E-F2F5DEC1052E}"/>
              </a:ext>
            </a:extLst>
          </p:cNvPr>
          <p:cNvSpPr>
            <a:spLocks xmlns:a="http://schemas.openxmlformats.org/drawingml/2006/main" noGrp="1"/>
          </p:cNvSpPr>
          <p:nvPr/>
        </p:nvSpPr>
        <p:spPr>
          <a:xfrm xmlns:a="http://schemas.openxmlformats.org/drawingml/2006/main">
            <a:off x="5524500" y="4838700"/>
            <a:ext cx="419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26BFF"/>
                </a:solidFill>
              </a:defRPr>
            </a:pPr>
            <a:r>
              <a:rPr sz="1650" b="1">
                <a:solidFill>
                  <a:srgbClr val="126BFF"/>
                </a:solidFill>
              </a:rPr>
              <a:t>→</a:t>
            </a:r>
          </a:p>
        </p:txBody>
      </p:sp>
      <p:sp>
        <p:nvSpPr>
          <p:cNvPr id="25" name="text">
            <a:extLst xmlns:a="http://schemas.openxmlformats.org/drawingml/2006/main">
              <a:ext uri="{FF2B5EF4-FFF2-40B4-BE49-F238E27FC236}">
                <a16:creationId xmlns:a16="http://schemas.microsoft.com/office/drawing/2014/main" id="{EB42D1FC-4526-4163-B2A2-715AA42BF614}"/>
              </a:ext>
            </a:extLst>
          </p:cNvPr>
          <p:cNvSpPr>
            <a:spLocks xmlns:a="http://schemas.openxmlformats.org/drawingml/2006/main" noGrp="1"/>
          </p:cNvSpPr>
          <p:nvPr/>
        </p:nvSpPr>
        <p:spPr>
          <a:xfrm xmlns:a="http://schemas.openxmlformats.org/drawingml/2006/main">
            <a:off x="6191250" y="48387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536270"/>
                </a:solidFill>
              </a:defRPr>
            </a:pPr>
            <a:r>
              <a:rPr sz="1725" b="0">
                <a:solidFill>
                  <a:srgbClr val="536270"/>
                </a:solidFill>
              </a:rPr>
              <a:t>barras proporcionais</a:t>
            </a:r>
          </a:p>
        </p:txBody>
      </p:sp>
      <p:sp>
        <p:nvSpPr>
          <p:cNvPr id="26" name="">
            <a:extLst xmlns:a="http://schemas.openxmlformats.org/drawingml/2006/main">
              <a:ext uri="{FF2B5EF4-FFF2-40B4-BE49-F238E27FC236}">
                <a16:creationId xmlns:a16="http://schemas.microsoft.com/office/drawing/2014/main" id="{16D9AD6A-1675-477A-8A74-1E90B822FAA0}"/>
              </a:ext>
            </a:extLst>
          </p:cNvPr>
          <p:cNvSpPr>
            <a:spLocks xmlns:a="http://schemas.openxmlformats.org/drawingml/2006/main" noGrp="1"/>
          </p:cNvSpPr>
          <p:nvPr/>
        </p:nvSpPr>
        <p:spPr>
          <a:xfrm xmlns:a="http://schemas.openxmlformats.org/drawingml/2006/main">
            <a:off x="552450" y="5429250"/>
            <a:ext cx="10477500" cy="0"/>
          </a:xfrm>
          <a:prstGeom xmlns:a="http://schemas.openxmlformats.org/drawingml/2006/main" prst="line">
            <a:avLst/>
          </a:prstGeom>
          <a:noFill xmlns:a="http://schemas.openxmlformats.org/drawingml/2006/main"/>
          <a:ln xmlns:a="http://schemas.openxmlformats.org/drawingml/2006/main" w="9525">
            <a:solidFill>
              <a:srgbClr val="C9D3DC"/>
            </a:solidFill>
            <a:prstDash val="solid"/>
          </a:ln>
        </p:spPr>
      </p:sp>
    </p:spTree>
    <p:extLst>
      <p:ext uri="{BB962C8B-B14F-4D97-AF65-F5344CB8AC3E}">
        <p14:creationId xmlns:p14="http://schemas.microsoft.com/office/powerpoint/2010/main" val="51903524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26EF584F-DA46-4095-8E20-08F4DB1F8188}"/>
              </a:ext>
            </a:extLst>
          </p:cNvPr>
          <p:cNvSpPr>
            <a:spLocks xmlns:a="http://schemas.openxmlformats.org/drawingml/2006/main" noGrp="1"/>
          </p:cNvSpPr>
          <p:nvPr/>
        </p:nvSpPr>
        <p:spPr>
          <a:xfrm xmlns:a="http://schemas.openxmlformats.org/drawingml/2006/main">
            <a:off x="552450" y="20955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26BFF"/>
                </a:solidFill>
              </a:defRPr>
            </a:pPr>
            <a:r>
              <a:rPr sz="1050" b="1">
                <a:solidFill>
                  <a:srgbClr val="126BFF"/>
                </a:solidFill>
              </a:rPr>
              <a:t>RIGOR DA INTERPRETAÇÃO</a:t>
            </a:r>
          </a:p>
        </p:txBody>
      </p:sp>
      <p:sp>
        <p:nvSpPr>
          <p:cNvPr id="2" name="text">
            <a:extLst xmlns:a="http://schemas.openxmlformats.org/drawingml/2006/main">
              <a:ext uri="{FF2B5EF4-FFF2-40B4-BE49-F238E27FC236}">
                <a16:creationId xmlns:a16="http://schemas.microsoft.com/office/drawing/2014/main" id="{98C1B205-70AD-4BB1-A56E-C543DFCC3933}"/>
              </a:ext>
            </a:extLst>
          </p:cNvPr>
          <p:cNvSpPr>
            <a:spLocks xmlns:a="http://schemas.openxmlformats.org/drawingml/2006/main" noGrp="1"/>
          </p:cNvSpPr>
          <p:nvPr/>
        </p:nvSpPr>
        <p:spPr>
          <a:xfrm xmlns:a="http://schemas.openxmlformats.org/drawingml/2006/main">
            <a:off x="552450" y="45720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4202B"/>
                </a:solidFill>
              </a:defRPr>
            </a:pPr>
            <a:r>
              <a:rPr sz="3600" b="1">
                <a:solidFill>
                  <a:srgbClr val="14202B"/>
                </a:solidFill>
              </a:rPr>
              <a:t>Uma boa EDA separa achado, interpretação e limite</a:t>
            </a:r>
          </a:p>
        </p:txBody>
      </p:sp>
      <p:sp>
        <p:nvSpPr>
          <p:cNvPr id="3" name="">
            <a:extLst xmlns:a="http://schemas.openxmlformats.org/drawingml/2006/main">
              <a:ext uri="{FF2B5EF4-FFF2-40B4-BE49-F238E27FC236}">
                <a16:creationId xmlns:a16="http://schemas.microsoft.com/office/drawing/2014/main" id="{AA77B6CA-9032-4B0E-AA5D-E01BE0B42656}"/>
              </a:ext>
            </a:extLst>
          </p:cNvPr>
          <p:cNvSpPr>
            <a:spLocks xmlns:a="http://schemas.openxmlformats.org/drawingml/2006/main" noGrp="1"/>
          </p:cNvSpPr>
          <p:nvPr/>
        </p:nvSpPr>
        <p:spPr>
          <a:xfrm xmlns:a="http://schemas.openxmlformats.org/drawingml/2006/main">
            <a:off x="552450" y="1238250"/>
            <a:ext cx="11087100" cy="0"/>
          </a:xfrm>
          <a:prstGeom xmlns:a="http://schemas.openxmlformats.org/drawingml/2006/main" prst="line">
            <a:avLst/>
          </a:prstGeom>
          <a:noFill xmlns:a="http://schemas.openxmlformats.org/drawingml/2006/main"/>
          <a:ln xmlns:a="http://schemas.openxmlformats.org/drawingml/2006/main" w="9525">
            <a:solidFill>
              <a:srgbClr val="C9D3DC"/>
            </a:solidFill>
            <a:prstDash val="solid"/>
          </a:ln>
        </p:spPr>
      </p:sp>
      <p:sp>
        <p:nvSpPr>
          <p:cNvPr id="4" name="text">
            <a:extLst xmlns:a="http://schemas.openxmlformats.org/drawingml/2006/main">
              <a:ext uri="{FF2B5EF4-FFF2-40B4-BE49-F238E27FC236}">
                <a16:creationId xmlns:a16="http://schemas.microsoft.com/office/drawing/2014/main" id="{3371B858-A898-4B9F-B635-EED17AE1B420}"/>
              </a:ext>
            </a:extLst>
          </p:cNvPr>
          <p:cNvSpPr>
            <a:spLocks xmlns:a="http://schemas.openxmlformats.org/drawingml/2006/main" noGrp="1"/>
          </p:cNvSpPr>
          <p:nvPr/>
        </p:nvSpPr>
        <p:spPr>
          <a:xfrm xmlns:a="http://schemas.openxmlformats.org/drawingml/2006/main">
            <a:off x="1118235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536270"/>
                </a:solidFill>
              </a:defRPr>
            </a:pPr>
            <a:r>
              <a:rPr sz="975" b="1">
                <a:solidFill>
                  <a:srgbClr val="536270"/>
                </a:solidFill>
              </a:rPr>
              <a:t>15</a:t>
            </a:r>
          </a:p>
        </p:txBody>
      </p:sp>
      <p:sp>
        <p:nvSpPr>
          <p:cNvPr id="5" name="shape">
            <a:extLst xmlns:a="http://schemas.openxmlformats.org/drawingml/2006/main">
              <a:ext uri="{FF2B5EF4-FFF2-40B4-BE49-F238E27FC236}">
                <a16:creationId xmlns:a16="http://schemas.microsoft.com/office/drawing/2014/main" id="{87A84305-727D-41EC-B6C2-AA967C877512}"/>
              </a:ext>
            </a:extLst>
          </p:cNvPr>
          <p:cNvSpPr>
            <a:spLocks xmlns:a="http://schemas.openxmlformats.org/drawingml/2006/main" noGrp="1"/>
          </p:cNvSpPr>
          <p:nvPr/>
        </p:nvSpPr>
        <p:spPr>
          <a:xfrm xmlns:a="http://schemas.openxmlformats.org/drawingml/2006/main">
            <a:off x="552450" y="1676400"/>
            <a:ext cx="3333750" cy="3286125"/>
          </a:xfrm>
          <a:prstGeom xmlns:a="http://schemas.openxmlformats.org/drawingml/2006/main" prst="roundRect">
            <a:avLst>
              <a:gd name="adj" fmla="val 2319"/>
            </a:avLst>
          </a:prstGeom>
          <a:solidFill xmlns:a="http://schemas.openxmlformats.org/drawingml/2006/main">
            <a:srgbClr val="F7F9FB"/>
          </a:solidFill>
          <a:ln xmlns:a="http://schemas.openxmlformats.org/drawingml/2006/main" w="9525">
            <a:solidFill>
              <a:srgbClr val="C9D3DC"/>
            </a:solidFill>
            <a:prstDash val="solid"/>
          </a:ln>
        </p:spPr>
      </p:sp>
      <p:sp>
        <p:nvSpPr>
          <p:cNvPr id="6" name="shape">
            <a:extLst xmlns:a="http://schemas.openxmlformats.org/drawingml/2006/main">
              <a:ext uri="{FF2B5EF4-FFF2-40B4-BE49-F238E27FC236}">
                <a16:creationId xmlns:a16="http://schemas.microsoft.com/office/drawing/2014/main" id="{F42B4909-DABC-4F2D-A866-4DE1888F38E3}"/>
              </a:ext>
            </a:extLst>
          </p:cNvPr>
          <p:cNvSpPr>
            <a:spLocks xmlns:a="http://schemas.openxmlformats.org/drawingml/2006/main" noGrp="1"/>
          </p:cNvSpPr>
          <p:nvPr/>
        </p:nvSpPr>
        <p:spPr>
          <a:xfrm xmlns:a="http://schemas.openxmlformats.org/drawingml/2006/main">
            <a:off x="552450" y="1676400"/>
            <a:ext cx="114300" cy="3286125"/>
          </a:xfrm>
          <a:prstGeom xmlns:a="http://schemas.openxmlformats.org/drawingml/2006/main" prst="rect">
            <a:avLst/>
          </a:prstGeom>
          <a:solidFill xmlns:a="http://schemas.openxmlformats.org/drawingml/2006/main">
            <a:srgbClr val="126BFF"/>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277A2D9B-2C41-4808-80F8-564F587B8381}"/>
              </a:ext>
            </a:extLst>
          </p:cNvPr>
          <p:cNvSpPr>
            <a:spLocks xmlns:a="http://schemas.openxmlformats.org/drawingml/2006/main" noGrp="1"/>
          </p:cNvSpPr>
          <p:nvPr/>
        </p:nvSpPr>
        <p:spPr>
          <a:xfrm xmlns:a="http://schemas.openxmlformats.org/drawingml/2006/main">
            <a:off x="838200" y="18669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26BFF"/>
                </a:solidFill>
              </a:defRPr>
            </a:pPr>
            <a:r>
              <a:rPr sz="1800" b="1">
                <a:solidFill>
                  <a:srgbClr val="126BFF"/>
                </a:solidFill>
              </a:rPr>
              <a:t>ACHADO</a:t>
            </a:r>
          </a:p>
        </p:txBody>
      </p:sp>
      <p:sp>
        <p:nvSpPr>
          <p:cNvPr id="8" name="text">
            <a:extLst xmlns:a="http://schemas.openxmlformats.org/drawingml/2006/main">
              <a:ext uri="{FF2B5EF4-FFF2-40B4-BE49-F238E27FC236}">
                <a16:creationId xmlns:a16="http://schemas.microsoft.com/office/drawing/2014/main" id="{9BACD78C-44CD-421B-B3F7-B13BFF748C35}"/>
              </a:ext>
            </a:extLst>
          </p:cNvPr>
          <p:cNvSpPr>
            <a:spLocks xmlns:a="http://schemas.openxmlformats.org/drawingml/2006/main" noGrp="1"/>
          </p:cNvSpPr>
          <p:nvPr/>
        </p:nvSpPr>
        <p:spPr>
          <a:xfrm xmlns:a="http://schemas.openxmlformats.org/drawingml/2006/main">
            <a:off x="838200" y="2390775"/>
            <a:ext cx="2857500" cy="2409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4202B"/>
                </a:solidFill>
              </a:defRPr>
            </a:pPr>
            <a:r>
              <a:rPr sz="1575" b="0">
                <a:solidFill>
                  <a:srgbClr val="14202B"/>
                </a:solidFill>
              </a:rPr>
              <a:t>O que foi observado diretamente.</a:t>
            </a:r>
          </a:p>
          <a:p xmlns:a="http://schemas.openxmlformats.org/drawingml/2006/main">
            <a:r>
              <a:t/>
            </a:r>
          </a:p>
          <a:p xmlns:a="http://schemas.openxmlformats.org/drawingml/2006/main">
            <a:pPr algn="l">
              <a:defRPr sz="1575" b="0">
                <a:solidFill>
                  <a:srgbClr val="14202B"/>
                </a:solidFill>
              </a:defRPr>
            </a:pPr>
            <a:r>
              <a:rPr sz="1575" b="0">
                <a:solidFill>
                  <a:srgbClr val="14202B"/>
                </a:solidFill>
              </a:rPr>
              <a:t>“A maioria das avaliações está entre...”</a:t>
            </a:r>
          </a:p>
        </p:txBody>
      </p:sp>
      <p:sp>
        <p:nvSpPr>
          <p:cNvPr id="9" name="shape">
            <a:extLst xmlns:a="http://schemas.openxmlformats.org/drawingml/2006/main">
              <a:ext uri="{FF2B5EF4-FFF2-40B4-BE49-F238E27FC236}">
                <a16:creationId xmlns:a16="http://schemas.microsoft.com/office/drawing/2014/main" id="{E44E1F68-7B07-4A61-ABA3-2AC56F6646A4}"/>
              </a:ext>
            </a:extLst>
          </p:cNvPr>
          <p:cNvSpPr>
            <a:spLocks xmlns:a="http://schemas.openxmlformats.org/drawingml/2006/main" noGrp="1"/>
          </p:cNvSpPr>
          <p:nvPr/>
        </p:nvSpPr>
        <p:spPr>
          <a:xfrm xmlns:a="http://schemas.openxmlformats.org/drawingml/2006/main">
            <a:off x="4429125" y="1676400"/>
            <a:ext cx="3333750" cy="3286125"/>
          </a:xfrm>
          <a:prstGeom xmlns:a="http://schemas.openxmlformats.org/drawingml/2006/main" prst="roundRect">
            <a:avLst>
              <a:gd name="adj" fmla="val 2319"/>
            </a:avLst>
          </a:prstGeom>
          <a:solidFill xmlns:a="http://schemas.openxmlformats.org/drawingml/2006/main">
            <a:srgbClr val="F7F9FB"/>
          </a:solidFill>
          <a:ln xmlns:a="http://schemas.openxmlformats.org/drawingml/2006/main" w="9525">
            <a:solidFill>
              <a:srgbClr val="C9D3DC"/>
            </a:solidFill>
            <a:prstDash val="solid"/>
          </a:ln>
        </p:spPr>
      </p:sp>
      <p:sp>
        <p:nvSpPr>
          <p:cNvPr id="10" name="shape">
            <a:extLst xmlns:a="http://schemas.openxmlformats.org/drawingml/2006/main">
              <a:ext uri="{FF2B5EF4-FFF2-40B4-BE49-F238E27FC236}">
                <a16:creationId xmlns:a16="http://schemas.microsoft.com/office/drawing/2014/main" id="{419BA189-D1E6-490F-A34B-A0A66D7F85F2}"/>
              </a:ext>
            </a:extLst>
          </p:cNvPr>
          <p:cNvSpPr>
            <a:spLocks xmlns:a="http://schemas.openxmlformats.org/drawingml/2006/main" noGrp="1"/>
          </p:cNvSpPr>
          <p:nvPr/>
        </p:nvSpPr>
        <p:spPr>
          <a:xfrm xmlns:a="http://schemas.openxmlformats.org/drawingml/2006/main">
            <a:off x="4429125" y="1676400"/>
            <a:ext cx="114300" cy="3286125"/>
          </a:xfrm>
          <a:prstGeom xmlns:a="http://schemas.openxmlformats.org/drawingml/2006/main" prst="rect">
            <a:avLst/>
          </a:prstGeom>
          <a:solidFill xmlns:a="http://schemas.openxmlformats.org/drawingml/2006/main">
            <a:srgbClr val="12A889"/>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CE1EEB08-6441-4A91-9DA7-7F45FFE7FEFE}"/>
              </a:ext>
            </a:extLst>
          </p:cNvPr>
          <p:cNvSpPr>
            <a:spLocks xmlns:a="http://schemas.openxmlformats.org/drawingml/2006/main" noGrp="1"/>
          </p:cNvSpPr>
          <p:nvPr/>
        </p:nvSpPr>
        <p:spPr>
          <a:xfrm xmlns:a="http://schemas.openxmlformats.org/drawingml/2006/main">
            <a:off x="4714875" y="18669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2A889"/>
                </a:solidFill>
              </a:defRPr>
            </a:pPr>
            <a:r>
              <a:rPr sz="1800" b="1">
                <a:solidFill>
                  <a:srgbClr val="12A889"/>
                </a:solidFill>
              </a:rPr>
              <a:t>INTERPRETAÇÃO</a:t>
            </a:r>
          </a:p>
        </p:txBody>
      </p:sp>
      <p:sp>
        <p:nvSpPr>
          <p:cNvPr id="12" name="text">
            <a:extLst xmlns:a="http://schemas.openxmlformats.org/drawingml/2006/main">
              <a:ext uri="{FF2B5EF4-FFF2-40B4-BE49-F238E27FC236}">
                <a16:creationId xmlns:a16="http://schemas.microsoft.com/office/drawing/2014/main" id="{490CD69C-F013-4E6E-BD8B-1F44A6DCB5A7}"/>
              </a:ext>
            </a:extLst>
          </p:cNvPr>
          <p:cNvSpPr>
            <a:spLocks xmlns:a="http://schemas.openxmlformats.org/drawingml/2006/main" noGrp="1"/>
          </p:cNvSpPr>
          <p:nvPr/>
        </p:nvSpPr>
        <p:spPr>
          <a:xfrm xmlns:a="http://schemas.openxmlformats.org/drawingml/2006/main">
            <a:off x="4714875" y="2390775"/>
            <a:ext cx="2857500" cy="2409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4202B"/>
                </a:solidFill>
              </a:defRPr>
            </a:pPr>
            <a:r>
              <a:rPr sz="1575" b="0">
                <a:solidFill>
                  <a:srgbClr val="14202B"/>
                </a:solidFill>
              </a:rPr>
              <a:t>O que o padrão pode significar no contexto.</a:t>
            </a:r>
          </a:p>
          <a:p xmlns:a="http://schemas.openxmlformats.org/drawingml/2006/main">
            <a:r>
              <a:t/>
            </a:r>
          </a:p>
          <a:p xmlns:a="http://schemas.openxmlformats.org/drawingml/2006/main">
            <a:pPr algn="l">
              <a:defRPr sz="1575" b="0">
                <a:solidFill>
                  <a:srgbClr val="14202B"/>
                </a:solidFill>
              </a:defRPr>
            </a:pPr>
            <a:r>
              <a:rPr sz="1575" b="0">
                <a:solidFill>
                  <a:srgbClr val="14202B"/>
                </a:solidFill>
              </a:rPr>
              <a:t>“A concentração sugere...”</a:t>
            </a:r>
          </a:p>
        </p:txBody>
      </p:sp>
      <p:sp>
        <p:nvSpPr>
          <p:cNvPr id="13" name="shape">
            <a:extLst xmlns:a="http://schemas.openxmlformats.org/drawingml/2006/main">
              <a:ext uri="{FF2B5EF4-FFF2-40B4-BE49-F238E27FC236}">
                <a16:creationId xmlns:a16="http://schemas.microsoft.com/office/drawing/2014/main" id="{A15269E8-96BB-40B9-A160-10371AB81927}"/>
              </a:ext>
            </a:extLst>
          </p:cNvPr>
          <p:cNvSpPr>
            <a:spLocks xmlns:a="http://schemas.openxmlformats.org/drawingml/2006/main" noGrp="1"/>
          </p:cNvSpPr>
          <p:nvPr/>
        </p:nvSpPr>
        <p:spPr>
          <a:xfrm xmlns:a="http://schemas.openxmlformats.org/drawingml/2006/main">
            <a:off x="8305800" y="1676400"/>
            <a:ext cx="3333750" cy="3286125"/>
          </a:xfrm>
          <a:prstGeom xmlns:a="http://schemas.openxmlformats.org/drawingml/2006/main" prst="roundRect">
            <a:avLst>
              <a:gd name="adj" fmla="val 2319"/>
            </a:avLst>
          </a:prstGeom>
          <a:solidFill xmlns:a="http://schemas.openxmlformats.org/drawingml/2006/main">
            <a:srgbClr val="F7F9FB"/>
          </a:solidFill>
          <a:ln xmlns:a="http://schemas.openxmlformats.org/drawingml/2006/main" w="9525">
            <a:solidFill>
              <a:srgbClr val="C9D3DC"/>
            </a:solidFill>
            <a:prstDash val="solid"/>
          </a:ln>
        </p:spPr>
      </p:sp>
      <p:sp>
        <p:nvSpPr>
          <p:cNvPr id="14" name="shape">
            <a:extLst xmlns:a="http://schemas.openxmlformats.org/drawingml/2006/main">
              <a:ext uri="{FF2B5EF4-FFF2-40B4-BE49-F238E27FC236}">
                <a16:creationId xmlns:a16="http://schemas.microsoft.com/office/drawing/2014/main" id="{BE140CFB-7AC0-4EA9-8D9B-284CB7E90EB4}"/>
              </a:ext>
            </a:extLst>
          </p:cNvPr>
          <p:cNvSpPr>
            <a:spLocks xmlns:a="http://schemas.openxmlformats.org/drawingml/2006/main" noGrp="1"/>
          </p:cNvSpPr>
          <p:nvPr/>
        </p:nvSpPr>
        <p:spPr>
          <a:xfrm xmlns:a="http://schemas.openxmlformats.org/drawingml/2006/main">
            <a:off x="8305800" y="1676400"/>
            <a:ext cx="114300" cy="3286125"/>
          </a:xfrm>
          <a:prstGeom xmlns:a="http://schemas.openxmlformats.org/drawingml/2006/main" prst="rect">
            <a:avLst/>
          </a:prstGeom>
          <a:solidFill xmlns:a="http://schemas.openxmlformats.org/drawingml/2006/main">
            <a:srgbClr val="E34F55"/>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7DBDBBF8-6C02-491B-8303-CD045EADB884}"/>
              </a:ext>
            </a:extLst>
          </p:cNvPr>
          <p:cNvSpPr>
            <a:spLocks xmlns:a="http://schemas.openxmlformats.org/drawingml/2006/main" noGrp="1"/>
          </p:cNvSpPr>
          <p:nvPr/>
        </p:nvSpPr>
        <p:spPr>
          <a:xfrm xmlns:a="http://schemas.openxmlformats.org/drawingml/2006/main">
            <a:off x="8591550" y="18669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E34F55"/>
                </a:solidFill>
              </a:defRPr>
            </a:pPr>
            <a:r>
              <a:rPr sz="1800" b="1">
                <a:solidFill>
                  <a:srgbClr val="E34F55"/>
                </a:solidFill>
              </a:rPr>
              <a:t>LIMITE</a:t>
            </a:r>
          </a:p>
        </p:txBody>
      </p:sp>
      <p:sp>
        <p:nvSpPr>
          <p:cNvPr id="16" name="text">
            <a:extLst xmlns:a="http://schemas.openxmlformats.org/drawingml/2006/main">
              <a:ext uri="{FF2B5EF4-FFF2-40B4-BE49-F238E27FC236}">
                <a16:creationId xmlns:a16="http://schemas.microsoft.com/office/drawing/2014/main" id="{F64BC3ED-84A0-44AB-96DD-3BB07A6624C2}"/>
              </a:ext>
            </a:extLst>
          </p:cNvPr>
          <p:cNvSpPr>
            <a:spLocks xmlns:a="http://schemas.openxmlformats.org/drawingml/2006/main" noGrp="1"/>
          </p:cNvSpPr>
          <p:nvPr/>
        </p:nvSpPr>
        <p:spPr>
          <a:xfrm xmlns:a="http://schemas.openxmlformats.org/drawingml/2006/main">
            <a:off x="8591550" y="2390775"/>
            <a:ext cx="2857500" cy="2409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4202B"/>
                </a:solidFill>
              </a:defRPr>
            </a:pPr>
            <a:r>
              <a:rPr sz="1575" b="0">
                <a:solidFill>
                  <a:srgbClr val="14202B"/>
                </a:solidFill>
              </a:rPr>
              <a:t>O que os dados ainda não permitem afirmar.</a:t>
            </a:r>
          </a:p>
          <a:p xmlns:a="http://schemas.openxmlformats.org/drawingml/2006/main">
            <a:r>
              <a:t/>
            </a:r>
          </a:p>
          <a:p xmlns:a="http://schemas.openxmlformats.org/drawingml/2006/main">
            <a:pPr algn="l">
              <a:defRPr sz="1575" b="0">
                <a:solidFill>
                  <a:srgbClr val="14202B"/>
                </a:solidFill>
              </a:defRPr>
            </a:pPr>
            <a:r>
              <a:rPr sz="1575" b="0">
                <a:solidFill>
                  <a:srgbClr val="14202B"/>
                </a:solidFill>
              </a:rPr>
              <a:t>“Não prova que...”</a:t>
            </a:r>
          </a:p>
        </p:txBody>
      </p:sp>
      <p:sp>
        <p:nvSpPr>
          <p:cNvPr id="17" name="text">
            <a:extLst xmlns:a="http://schemas.openxmlformats.org/drawingml/2006/main">
              <a:ext uri="{FF2B5EF4-FFF2-40B4-BE49-F238E27FC236}">
                <a16:creationId xmlns:a16="http://schemas.microsoft.com/office/drawing/2014/main" id="{ABE70BCF-2973-48DC-A45F-EF71EB5C5C34}"/>
              </a:ext>
            </a:extLst>
          </p:cNvPr>
          <p:cNvSpPr>
            <a:spLocks xmlns:a="http://schemas.openxmlformats.org/drawingml/2006/main" noGrp="1"/>
          </p:cNvSpPr>
          <p:nvPr/>
        </p:nvSpPr>
        <p:spPr>
          <a:xfrm xmlns:a="http://schemas.openxmlformats.org/drawingml/2006/main">
            <a:off x="552450" y="5476875"/>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071A2B"/>
                </a:solidFill>
              </a:defRPr>
            </a:pPr>
            <a:r>
              <a:rPr sz="1875" b="1">
                <a:solidFill>
                  <a:srgbClr val="071A2B"/>
                </a:solidFill>
              </a:rPr>
              <a:t>Storytelling não é enfeitar o gráfico; é tornar explícita a cadeia de raciocínio.</a:t>
            </a:r>
          </a:p>
        </p:txBody>
      </p:sp>
    </p:spTree>
    <p:extLst>
      <p:ext uri="{BB962C8B-B14F-4D97-AF65-F5344CB8AC3E}">
        <p14:creationId xmlns:p14="http://schemas.microsoft.com/office/powerpoint/2010/main" val="75568876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
            <a:extLst xmlns:a="http://schemas.openxmlformats.org/drawingml/2006/main">
              <a:ext uri="{FF2B5EF4-FFF2-40B4-BE49-F238E27FC236}">
                <a16:creationId xmlns:a16="http://schemas.microsoft.com/office/drawing/2014/main" id="{EA132CC2-6D6E-46B8-8A6E-63AC619B2958}"/>
              </a:ext>
            </a:extLst>
          </p:cNvPr>
          <p:cNvSpPr>
            <a:spLocks xmlns:a="http://schemas.openxmlformats.org/drawingml/2006/main" noGrp="1"/>
          </p:cNvSpPr>
          <p:nvPr/>
        </p:nvSpPr>
        <p:spPr>
          <a:xfrm xmlns:a="http://schemas.openxmlformats.org/drawingml/2006/main">
            <a:off x="552450" y="20955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26BFF"/>
                </a:solidFill>
              </a:defRPr>
            </a:pPr>
            <a:r>
              <a:rPr sz="1050" b="1">
                <a:solidFill>
                  <a:srgbClr val="126BFF"/>
                </a:solidFill>
              </a:rPr>
              <a:t>TRANSIÇÃO PARA A PRÁTICA</a:t>
            </a:r>
          </a:p>
        </p:txBody>
      </p:sp>
      <p:sp>
        <p:nvSpPr>
          <p:cNvPr id="2" name="text">
            <a:extLst xmlns:a="http://schemas.openxmlformats.org/drawingml/2006/main">
              <a:ext uri="{FF2B5EF4-FFF2-40B4-BE49-F238E27FC236}">
                <a16:creationId xmlns:a16="http://schemas.microsoft.com/office/drawing/2014/main" id="{C5EC242F-C9B1-4007-8D53-BD51727917EC}"/>
              </a:ext>
            </a:extLst>
          </p:cNvPr>
          <p:cNvSpPr>
            <a:spLocks xmlns:a="http://schemas.openxmlformats.org/drawingml/2006/main" noGrp="1"/>
          </p:cNvSpPr>
          <p:nvPr/>
        </p:nvSpPr>
        <p:spPr>
          <a:xfrm xmlns:a="http://schemas.openxmlformats.org/drawingml/2006/main">
            <a:off x="552450" y="45720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4202B"/>
                </a:solidFill>
              </a:defRPr>
            </a:pPr>
            <a:r>
              <a:rPr sz="3600" b="1">
                <a:solidFill>
                  <a:srgbClr val="14202B"/>
                </a:solidFill>
              </a:rPr>
              <a:t>No notebook, cada gráfico deverá responder a uma pergunta</a:t>
            </a:r>
          </a:p>
        </p:txBody>
      </p:sp>
      <p:sp>
        <p:nvSpPr>
          <p:cNvPr id="3" name="">
            <a:extLst xmlns:a="http://schemas.openxmlformats.org/drawingml/2006/main">
              <a:ext uri="{FF2B5EF4-FFF2-40B4-BE49-F238E27FC236}">
                <a16:creationId xmlns:a16="http://schemas.microsoft.com/office/drawing/2014/main" id="{1330CB2A-2408-43B3-AC7D-13C8E9E2A637}"/>
              </a:ext>
            </a:extLst>
          </p:cNvPr>
          <p:cNvSpPr>
            <a:spLocks xmlns:a="http://schemas.openxmlformats.org/drawingml/2006/main" noGrp="1"/>
          </p:cNvSpPr>
          <p:nvPr/>
        </p:nvSpPr>
        <p:spPr>
          <a:xfrm xmlns:a="http://schemas.openxmlformats.org/drawingml/2006/main">
            <a:off x="552450" y="1238250"/>
            <a:ext cx="11087100" cy="0"/>
          </a:xfrm>
          <a:prstGeom xmlns:a="http://schemas.openxmlformats.org/drawingml/2006/main" prst="line">
            <a:avLst/>
          </a:prstGeom>
          <a:noFill xmlns:a="http://schemas.openxmlformats.org/drawingml/2006/main"/>
          <a:ln xmlns:a="http://schemas.openxmlformats.org/drawingml/2006/main" w="9525">
            <a:solidFill>
              <a:srgbClr val="C9D3DC"/>
            </a:solidFill>
            <a:prstDash val="solid"/>
          </a:ln>
        </p:spPr>
      </p:sp>
      <p:sp>
        <p:nvSpPr>
          <p:cNvPr id="4" name="text">
            <a:extLst xmlns:a="http://schemas.openxmlformats.org/drawingml/2006/main">
              <a:ext uri="{FF2B5EF4-FFF2-40B4-BE49-F238E27FC236}">
                <a16:creationId xmlns:a16="http://schemas.microsoft.com/office/drawing/2014/main" id="{8AAFE53E-426E-40AB-BD79-495F6F81C728}"/>
              </a:ext>
            </a:extLst>
          </p:cNvPr>
          <p:cNvSpPr>
            <a:spLocks xmlns:a="http://schemas.openxmlformats.org/drawingml/2006/main" noGrp="1"/>
          </p:cNvSpPr>
          <p:nvPr/>
        </p:nvSpPr>
        <p:spPr>
          <a:xfrm xmlns:a="http://schemas.openxmlformats.org/drawingml/2006/main">
            <a:off x="1118235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536270"/>
                </a:solidFill>
              </a:defRPr>
            </a:pPr>
            <a:r>
              <a:rPr sz="975" b="1">
                <a:solidFill>
                  <a:srgbClr val="536270"/>
                </a:solidFill>
              </a:rPr>
              <a:t>16</a:t>
            </a:r>
          </a:p>
        </p:txBody>
      </p:sp>
      <p:sp>
        <p:nvSpPr>
          <p:cNvPr id="5" name="text">
            <a:extLst xmlns:a="http://schemas.openxmlformats.org/drawingml/2006/main">
              <a:ext uri="{FF2B5EF4-FFF2-40B4-BE49-F238E27FC236}">
                <a16:creationId xmlns:a16="http://schemas.microsoft.com/office/drawing/2014/main" id="{43501D0F-6CB7-4A7D-8749-182E84F6D712}"/>
              </a:ext>
            </a:extLst>
          </p:cNvPr>
          <p:cNvSpPr>
            <a:spLocks xmlns:a="http://schemas.openxmlformats.org/drawingml/2006/main" noGrp="1"/>
          </p:cNvSpPr>
          <p:nvPr/>
        </p:nvSpPr>
        <p:spPr>
          <a:xfrm xmlns:a="http://schemas.openxmlformats.org/drawingml/2006/main">
            <a:off x="552450" y="160020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26BFF"/>
                </a:solidFill>
              </a:defRPr>
            </a:pPr>
            <a:r>
              <a:rPr sz="1275" b="1">
                <a:solidFill>
                  <a:srgbClr val="126BFF"/>
                </a:solidFill>
              </a:rPr>
              <a:t>01</a:t>
            </a:r>
          </a:p>
        </p:txBody>
      </p:sp>
      <p:sp>
        <p:nvSpPr>
          <p:cNvPr id="6" name="text">
            <a:extLst xmlns:a="http://schemas.openxmlformats.org/drawingml/2006/main">
              <a:ext uri="{FF2B5EF4-FFF2-40B4-BE49-F238E27FC236}">
                <a16:creationId xmlns:a16="http://schemas.microsoft.com/office/drawing/2014/main" id="{7C786F23-1732-44D7-8D08-E3AC83D52A79}"/>
              </a:ext>
            </a:extLst>
          </p:cNvPr>
          <p:cNvSpPr>
            <a:spLocks xmlns:a="http://schemas.openxmlformats.org/drawingml/2006/main" noGrp="1"/>
          </p:cNvSpPr>
          <p:nvPr/>
        </p:nvSpPr>
        <p:spPr>
          <a:xfrm xmlns:a="http://schemas.openxmlformats.org/drawingml/2006/main">
            <a:off x="552450" y="2143125"/>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4202B"/>
                </a:solidFill>
              </a:defRPr>
            </a:pPr>
            <a:r>
              <a:rPr sz="1800" b="1">
                <a:solidFill>
                  <a:srgbClr val="14202B"/>
                </a:solidFill>
              </a:rPr>
              <a:t>Inspecionar</a:t>
            </a:r>
          </a:p>
        </p:txBody>
      </p:sp>
      <p:sp>
        <p:nvSpPr>
          <p:cNvPr id="7" name="text">
            <a:extLst xmlns:a="http://schemas.openxmlformats.org/drawingml/2006/main">
              <a:ext uri="{FF2B5EF4-FFF2-40B4-BE49-F238E27FC236}">
                <a16:creationId xmlns:a16="http://schemas.microsoft.com/office/drawing/2014/main" id="{D93E0E3F-FAA5-4657-997D-C11439163ACA}"/>
              </a:ext>
            </a:extLst>
          </p:cNvPr>
          <p:cNvSpPr>
            <a:spLocks xmlns:a="http://schemas.openxmlformats.org/drawingml/2006/main" noGrp="1"/>
          </p:cNvSpPr>
          <p:nvPr/>
        </p:nvSpPr>
        <p:spPr>
          <a:xfrm xmlns:a="http://schemas.openxmlformats.org/drawingml/2006/main">
            <a:off x="552450" y="2638425"/>
            <a:ext cx="19240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36270"/>
                </a:solidFill>
              </a:defRPr>
            </a:pPr>
            <a:r>
              <a:rPr sz="1500" b="0">
                <a:solidFill>
                  <a:srgbClr val="536270"/>
                </a:solidFill>
              </a:rPr>
              <a:t>estrutura e tipos</a:t>
            </a:r>
          </a:p>
        </p:txBody>
      </p:sp>
      <p:sp>
        <p:nvSpPr>
          <p:cNvPr id="8" name="text">
            <a:extLst xmlns:a="http://schemas.openxmlformats.org/drawingml/2006/main">
              <a:ext uri="{FF2B5EF4-FFF2-40B4-BE49-F238E27FC236}">
                <a16:creationId xmlns:a16="http://schemas.microsoft.com/office/drawing/2014/main" id="{27ED01A6-3087-44FF-9C07-D5AA39D137D9}"/>
              </a:ext>
            </a:extLst>
          </p:cNvPr>
          <p:cNvSpPr>
            <a:spLocks xmlns:a="http://schemas.openxmlformats.org/drawingml/2006/main" noGrp="1"/>
          </p:cNvSpPr>
          <p:nvPr/>
        </p:nvSpPr>
        <p:spPr>
          <a:xfrm xmlns:a="http://schemas.openxmlformats.org/drawingml/2006/main">
            <a:off x="2724150" y="160020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26BFF"/>
                </a:solidFill>
              </a:defRPr>
            </a:pPr>
            <a:r>
              <a:rPr sz="1275" b="1">
                <a:solidFill>
                  <a:srgbClr val="126BFF"/>
                </a:solidFill>
              </a:rPr>
              <a:t>02</a:t>
            </a:r>
          </a:p>
        </p:txBody>
      </p:sp>
      <p:sp>
        <p:nvSpPr>
          <p:cNvPr id="9" name="text">
            <a:extLst xmlns:a="http://schemas.openxmlformats.org/drawingml/2006/main">
              <a:ext uri="{FF2B5EF4-FFF2-40B4-BE49-F238E27FC236}">
                <a16:creationId xmlns:a16="http://schemas.microsoft.com/office/drawing/2014/main" id="{8DBA593D-84DD-43E5-82EA-3C45BF21B23A}"/>
              </a:ext>
            </a:extLst>
          </p:cNvPr>
          <p:cNvSpPr>
            <a:spLocks xmlns:a="http://schemas.openxmlformats.org/drawingml/2006/main" noGrp="1"/>
          </p:cNvSpPr>
          <p:nvPr/>
        </p:nvSpPr>
        <p:spPr>
          <a:xfrm xmlns:a="http://schemas.openxmlformats.org/drawingml/2006/main">
            <a:off x="2724150" y="2143125"/>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4202B"/>
                </a:solidFill>
              </a:defRPr>
            </a:pPr>
            <a:r>
              <a:rPr sz="1800" b="1">
                <a:solidFill>
                  <a:srgbClr val="14202B"/>
                </a:solidFill>
              </a:rPr>
              <a:t>Descrever</a:t>
            </a:r>
          </a:p>
        </p:txBody>
      </p:sp>
      <p:sp>
        <p:nvSpPr>
          <p:cNvPr id="10" name="text">
            <a:extLst xmlns:a="http://schemas.openxmlformats.org/drawingml/2006/main">
              <a:ext uri="{FF2B5EF4-FFF2-40B4-BE49-F238E27FC236}">
                <a16:creationId xmlns:a16="http://schemas.microsoft.com/office/drawing/2014/main" id="{71B86F4B-014F-4CBC-A66F-92EB9D70B01A}"/>
              </a:ext>
            </a:extLst>
          </p:cNvPr>
          <p:cNvSpPr>
            <a:spLocks xmlns:a="http://schemas.openxmlformats.org/drawingml/2006/main" noGrp="1"/>
          </p:cNvSpPr>
          <p:nvPr/>
        </p:nvSpPr>
        <p:spPr>
          <a:xfrm xmlns:a="http://schemas.openxmlformats.org/drawingml/2006/main">
            <a:off x="2724150" y="2638425"/>
            <a:ext cx="19240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36270"/>
                </a:solidFill>
              </a:defRPr>
            </a:pPr>
            <a:r>
              <a:rPr sz="1500" b="0">
                <a:solidFill>
                  <a:srgbClr val="536270"/>
                </a:solidFill>
              </a:rPr>
              <a:t>centro e dispersão</a:t>
            </a:r>
          </a:p>
        </p:txBody>
      </p:sp>
      <p:sp>
        <p:nvSpPr>
          <p:cNvPr id="11" name="text">
            <a:extLst xmlns:a="http://schemas.openxmlformats.org/drawingml/2006/main">
              <a:ext uri="{FF2B5EF4-FFF2-40B4-BE49-F238E27FC236}">
                <a16:creationId xmlns:a16="http://schemas.microsoft.com/office/drawing/2014/main" id="{DD61A927-EBC7-4FEF-BD20-05A758A96BDA}"/>
              </a:ext>
            </a:extLst>
          </p:cNvPr>
          <p:cNvSpPr>
            <a:spLocks xmlns:a="http://schemas.openxmlformats.org/drawingml/2006/main" noGrp="1"/>
          </p:cNvSpPr>
          <p:nvPr/>
        </p:nvSpPr>
        <p:spPr>
          <a:xfrm xmlns:a="http://schemas.openxmlformats.org/drawingml/2006/main">
            <a:off x="4895850" y="160020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26BFF"/>
                </a:solidFill>
              </a:defRPr>
            </a:pPr>
            <a:r>
              <a:rPr sz="1275" b="1">
                <a:solidFill>
                  <a:srgbClr val="126BFF"/>
                </a:solidFill>
              </a:rPr>
              <a:t>03</a:t>
            </a:r>
          </a:p>
        </p:txBody>
      </p:sp>
      <p:sp>
        <p:nvSpPr>
          <p:cNvPr id="12" name="text">
            <a:extLst xmlns:a="http://schemas.openxmlformats.org/drawingml/2006/main">
              <a:ext uri="{FF2B5EF4-FFF2-40B4-BE49-F238E27FC236}">
                <a16:creationId xmlns:a16="http://schemas.microsoft.com/office/drawing/2014/main" id="{3295EBEA-EC17-4404-AC7C-7D2746A9B633}"/>
              </a:ext>
            </a:extLst>
          </p:cNvPr>
          <p:cNvSpPr>
            <a:spLocks xmlns:a="http://schemas.openxmlformats.org/drawingml/2006/main" noGrp="1"/>
          </p:cNvSpPr>
          <p:nvPr/>
        </p:nvSpPr>
        <p:spPr>
          <a:xfrm xmlns:a="http://schemas.openxmlformats.org/drawingml/2006/main">
            <a:off x="4895850" y="2143125"/>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4202B"/>
                </a:solidFill>
              </a:defRPr>
            </a:pPr>
            <a:r>
              <a:rPr sz="1800" b="1">
                <a:solidFill>
                  <a:srgbClr val="14202B"/>
                </a:solidFill>
              </a:rPr>
              <a:t>Visualizar</a:t>
            </a:r>
          </a:p>
        </p:txBody>
      </p:sp>
      <p:sp>
        <p:nvSpPr>
          <p:cNvPr id="13" name="text">
            <a:extLst xmlns:a="http://schemas.openxmlformats.org/drawingml/2006/main">
              <a:ext uri="{FF2B5EF4-FFF2-40B4-BE49-F238E27FC236}">
                <a16:creationId xmlns:a16="http://schemas.microsoft.com/office/drawing/2014/main" id="{3694D4A4-A112-47CE-AAB6-6872FFA22C02}"/>
              </a:ext>
            </a:extLst>
          </p:cNvPr>
          <p:cNvSpPr>
            <a:spLocks xmlns:a="http://schemas.openxmlformats.org/drawingml/2006/main" noGrp="1"/>
          </p:cNvSpPr>
          <p:nvPr/>
        </p:nvSpPr>
        <p:spPr>
          <a:xfrm xmlns:a="http://schemas.openxmlformats.org/drawingml/2006/main">
            <a:off x="4895850" y="2638425"/>
            <a:ext cx="19240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36270"/>
                </a:solidFill>
              </a:defRPr>
            </a:pPr>
            <a:r>
              <a:rPr sz="1500" b="0">
                <a:solidFill>
                  <a:srgbClr val="536270"/>
                </a:solidFill>
              </a:rPr>
              <a:t>distribuições e grupos</a:t>
            </a:r>
          </a:p>
        </p:txBody>
      </p:sp>
      <p:sp>
        <p:nvSpPr>
          <p:cNvPr id="14" name="text">
            <a:extLst xmlns:a="http://schemas.openxmlformats.org/drawingml/2006/main">
              <a:ext uri="{FF2B5EF4-FFF2-40B4-BE49-F238E27FC236}">
                <a16:creationId xmlns:a16="http://schemas.microsoft.com/office/drawing/2014/main" id="{172301DE-650B-4836-8930-31707D016718}"/>
              </a:ext>
            </a:extLst>
          </p:cNvPr>
          <p:cNvSpPr>
            <a:spLocks xmlns:a="http://schemas.openxmlformats.org/drawingml/2006/main" noGrp="1"/>
          </p:cNvSpPr>
          <p:nvPr/>
        </p:nvSpPr>
        <p:spPr>
          <a:xfrm xmlns:a="http://schemas.openxmlformats.org/drawingml/2006/main">
            <a:off x="7067550" y="160020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26BFF"/>
                </a:solidFill>
              </a:defRPr>
            </a:pPr>
            <a:r>
              <a:rPr sz="1275" b="1">
                <a:solidFill>
                  <a:srgbClr val="126BFF"/>
                </a:solidFill>
              </a:rPr>
              <a:t>04</a:t>
            </a:r>
          </a:p>
        </p:txBody>
      </p:sp>
      <p:sp>
        <p:nvSpPr>
          <p:cNvPr id="15" name="text">
            <a:extLst xmlns:a="http://schemas.openxmlformats.org/drawingml/2006/main">
              <a:ext uri="{FF2B5EF4-FFF2-40B4-BE49-F238E27FC236}">
                <a16:creationId xmlns:a16="http://schemas.microsoft.com/office/drawing/2014/main" id="{F36611FA-FCC2-4EA8-AEB9-497D9052A6A0}"/>
              </a:ext>
            </a:extLst>
          </p:cNvPr>
          <p:cNvSpPr>
            <a:spLocks xmlns:a="http://schemas.openxmlformats.org/drawingml/2006/main" noGrp="1"/>
          </p:cNvSpPr>
          <p:nvPr/>
        </p:nvSpPr>
        <p:spPr>
          <a:xfrm xmlns:a="http://schemas.openxmlformats.org/drawingml/2006/main">
            <a:off x="7067550" y="2143125"/>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4202B"/>
                </a:solidFill>
              </a:defRPr>
            </a:pPr>
            <a:r>
              <a:rPr sz="1800" b="1">
                <a:solidFill>
                  <a:srgbClr val="14202B"/>
                </a:solidFill>
              </a:rPr>
              <a:t>Investigar</a:t>
            </a:r>
          </a:p>
        </p:txBody>
      </p:sp>
      <p:sp>
        <p:nvSpPr>
          <p:cNvPr id="16" name="text">
            <a:extLst xmlns:a="http://schemas.openxmlformats.org/drawingml/2006/main">
              <a:ext uri="{FF2B5EF4-FFF2-40B4-BE49-F238E27FC236}">
                <a16:creationId xmlns:a16="http://schemas.microsoft.com/office/drawing/2014/main" id="{5AD72E52-3C95-4122-9A45-A8D8B183C24D}"/>
              </a:ext>
            </a:extLst>
          </p:cNvPr>
          <p:cNvSpPr>
            <a:spLocks xmlns:a="http://schemas.openxmlformats.org/drawingml/2006/main" noGrp="1"/>
          </p:cNvSpPr>
          <p:nvPr/>
        </p:nvSpPr>
        <p:spPr>
          <a:xfrm xmlns:a="http://schemas.openxmlformats.org/drawingml/2006/main">
            <a:off x="7067550" y="2638425"/>
            <a:ext cx="19240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36270"/>
                </a:solidFill>
              </a:defRPr>
            </a:pPr>
            <a:r>
              <a:rPr sz="1500" b="0">
                <a:solidFill>
                  <a:srgbClr val="536270"/>
                </a:solidFill>
              </a:rPr>
              <a:t>outliers e correlações</a:t>
            </a:r>
          </a:p>
        </p:txBody>
      </p:sp>
      <p:sp>
        <p:nvSpPr>
          <p:cNvPr id="17" name="text">
            <a:extLst xmlns:a="http://schemas.openxmlformats.org/drawingml/2006/main">
              <a:ext uri="{FF2B5EF4-FFF2-40B4-BE49-F238E27FC236}">
                <a16:creationId xmlns:a16="http://schemas.microsoft.com/office/drawing/2014/main" id="{CB6FBA3E-5A16-49E3-8F94-BD757C265DED}"/>
              </a:ext>
            </a:extLst>
          </p:cNvPr>
          <p:cNvSpPr>
            <a:spLocks xmlns:a="http://schemas.openxmlformats.org/drawingml/2006/main" noGrp="1"/>
          </p:cNvSpPr>
          <p:nvPr/>
        </p:nvSpPr>
        <p:spPr>
          <a:xfrm xmlns:a="http://schemas.openxmlformats.org/drawingml/2006/main">
            <a:off x="9239250" y="160020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26BFF"/>
                </a:solidFill>
              </a:defRPr>
            </a:pPr>
            <a:r>
              <a:rPr sz="1275" b="1">
                <a:solidFill>
                  <a:srgbClr val="126BFF"/>
                </a:solidFill>
              </a:rPr>
              <a:t>05</a:t>
            </a:r>
          </a:p>
        </p:txBody>
      </p:sp>
      <p:sp>
        <p:nvSpPr>
          <p:cNvPr id="18" name="text">
            <a:extLst xmlns:a="http://schemas.openxmlformats.org/drawingml/2006/main">
              <a:ext uri="{FF2B5EF4-FFF2-40B4-BE49-F238E27FC236}">
                <a16:creationId xmlns:a16="http://schemas.microsoft.com/office/drawing/2014/main" id="{280151FB-8A02-4CE1-80FF-BA6F8F708530}"/>
              </a:ext>
            </a:extLst>
          </p:cNvPr>
          <p:cNvSpPr>
            <a:spLocks xmlns:a="http://schemas.openxmlformats.org/drawingml/2006/main" noGrp="1"/>
          </p:cNvSpPr>
          <p:nvPr/>
        </p:nvSpPr>
        <p:spPr>
          <a:xfrm xmlns:a="http://schemas.openxmlformats.org/drawingml/2006/main">
            <a:off x="9239250" y="2143125"/>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4202B"/>
                </a:solidFill>
              </a:defRPr>
            </a:pPr>
            <a:r>
              <a:rPr sz="1800" b="1">
                <a:solidFill>
                  <a:srgbClr val="14202B"/>
                </a:solidFill>
              </a:rPr>
              <a:t>Comunicar</a:t>
            </a:r>
          </a:p>
        </p:txBody>
      </p:sp>
      <p:sp>
        <p:nvSpPr>
          <p:cNvPr id="19" name="text">
            <a:extLst xmlns:a="http://schemas.openxmlformats.org/drawingml/2006/main">
              <a:ext uri="{FF2B5EF4-FFF2-40B4-BE49-F238E27FC236}">
                <a16:creationId xmlns:a16="http://schemas.microsoft.com/office/drawing/2014/main" id="{D4176E4F-5860-4F03-885E-D5EE1D710FCB}"/>
              </a:ext>
            </a:extLst>
          </p:cNvPr>
          <p:cNvSpPr>
            <a:spLocks xmlns:a="http://schemas.openxmlformats.org/drawingml/2006/main" noGrp="1"/>
          </p:cNvSpPr>
          <p:nvPr/>
        </p:nvSpPr>
        <p:spPr>
          <a:xfrm xmlns:a="http://schemas.openxmlformats.org/drawingml/2006/main">
            <a:off x="9239250" y="2638425"/>
            <a:ext cx="19240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36270"/>
                </a:solidFill>
              </a:defRPr>
            </a:pPr>
            <a:r>
              <a:rPr sz="1500" b="0">
                <a:solidFill>
                  <a:srgbClr val="536270"/>
                </a:solidFill>
              </a:rPr>
              <a:t>achados e limites</a:t>
            </a:r>
          </a:p>
        </p:txBody>
      </p:sp>
      <p:sp>
        <p:nvSpPr>
          <p:cNvPr id="20" name="shape">
            <a:extLst xmlns:a="http://schemas.openxmlformats.org/drawingml/2006/main">
              <a:ext uri="{FF2B5EF4-FFF2-40B4-BE49-F238E27FC236}">
                <a16:creationId xmlns:a16="http://schemas.microsoft.com/office/drawing/2014/main" id="{9299C062-C2CF-4636-BC7C-78408A8B5E17}"/>
              </a:ext>
            </a:extLst>
          </p:cNvPr>
          <p:cNvSpPr>
            <a:spLocks xmlns:a="http://schemas.openxmlformats.org/drawingml/2006/main" noGrp="1"/>
          </p:cNvSpPr>
          <p:nvPr/>
        </p:nvSpPr>
        <p:spPr>
          <a:xfrm xmlns:a="http://schemas.openxmlformats.org/drawingml/2006/main">
            <a:off x="552450" y="4000500"/>
            <a:ext cx="10572750" cy="1257300"/>
          </a:xfrm>
          <a:prstGeom xmlns:a="http://schemas.openxmlformats.org/drawingml/2006/main" prst="roundRect">
            <a:avLst>
              <a:gd name="adj" fmla="val 6061"/>
            </a:avLst>
          </a:prstGeom>
          <a:solidFill xmlns:a="http://schemas.openxmlformats.org/drawingml/2006/main">
            <a:srgbClr val="071A2B"/>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F64F36F2-9D8B-4206-B70D-1BD62588A5AE}"/>
              </a:ext>
            </a:extLst>
          </p:cNvPr>
          <p:cNvSpPr>
            <a:spLocks xmlns:a="http://schemas.openxmlformats.org/drawingml/2006/main" noGrp="1"/>
          </p:cNvSpPr>
          <p:nvPr/>
        </p:nvSpPr>
        <p:spPr>
          <a:xfrm xmlns:a="http://schemas.openxmlformats.org/drawingml/2006/main">
            <a:off x="838200" y="41910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B8D8"/>
                </a:solidFill>
              </a:defRPr>
            </a:pPr>
            <a:r>
              <a:rPr sz="1200" b="1">
                <a:solidFill>
                  <a:srgbClr val="20B8D8"/>
                </a:solidFill>
              </a:rPr>
              <a:t>REGRA DO LABORATÓRIO</a:t>
            </a:r>
          </a:p>
        </p:txBody>
      </p:sp>
      <p:sp>
        <p:nvSpPr>
          <p:cNvPr id="22" name="text">
            <a:extLst xmlns:a="http://schemas.openxmlformats.org/drawingml/2006/main">
              <a:ext uri="{FF2B5EF4-FFF2-40B4-BE49-F238E27FC236}">
                <a16:creationId xmlns:a16="http://schemas.microsoft.com/office/drawing/2014/main" id="{C1F9B986-2C22-4C0D-BD4E-4D83E46A136F}"/>
              </a:ext>
            </a:extLst>
          </p:cNvPr>
          <p:cNvSpPr>
            <a:spLocks xmlns:a="http://schemas.openxmlformats.org/drawingml/2006/main" noGrp="1"/>
          </p:cNvSpPr>
          <p:nvPr/>
        </p:nvSpPr>
        <p:spPr>
          <a:xfrm xmlns:a="http://schemas.openxmlformats.org/drawingml/2006/main">
            <a:off x="838200" y="4581525"/>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FFFFFF"/>
                </a:solidFill>
              </a:defRPr>
            </a:pPr>
            <a:r>
              <a:rPr sz="2250" b="1">
                <a:solidFill>
                  <a:srgbClr val="FFFFFF"/>
                </a:solidFill>
              </a:rPr>
              <a:t>Pergunta → operação → gráfico → interpretação</a:t>
            </a:r>
          </a:p>
        </p:txBody>
      </p:sp>
      <p:sp>
        <p:nvSpPr>
          <p:cNvPr id="23" name="text">
            <a:extLst xmlns:a="http://schemas.openxmlformats.org/drawingml/2006/main">
              <a:ext uri="{FF2B5EF4-FFF2-40B4-BE49-F238E27FC236}">
                <a16:creationId xmlns:a16="http://schemas.microsoft.com/office/drawing/2014/main" id="{65E8FB2F-02F6-4066-AB1E-5B49081B4A33}"/>
              </a:ext>
            </a:extLst>
          </p:cNvPr>
          <p:cNvSpPr>
            <a:spLocks xmlns:a="http://schemas.openxmlformats.org/drawingml/2006/main" noGrp="1"/>
          </p:cNvSpPr>
          <p:nvPr/>
        </p:nvSpPr>
        <p:spPr>
          <a:xfrm xmlns:a="http://schemas.openxmlformats.org/drawingml/2006/main">
            <a:off x="552450" y="561975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071A2B"/>
                </a:solidFill>
              </a:defRPr>
            </a:pPr>
            <a:r>
              <a:rPr sz="1800" b="1">
                <a:solidFill>
                  <a:srgbClr val="071A2B"/>
                </a:solidFill>
              </a:rPr>
              <a:t>O código é o meio; a evidência é o resultado.</a:t>
            </a:r>
          </a:p>
        </p:txBody>
      </p:sp>
    </p:spTree>
    <p:extLst>
      <p:ext uri="{BB962C8B-B14F-4D97-AF65-F5344CB8AC3E}">
        <p14:creationId xmlns:p14="http://schemas.microsoft.com/office/powerpoint/2010/main" val="21139602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78A2D2C2733B7342A34F941B973AA6E6" ma:contentTypeVersion="3" ma:contentTypeDescription="Crie um novo documento." ma:contentTypeScope="" ma:versionID="ad3391145420ca5fafe9c8a2823db49d">
  <xsd:schema xmlns:xsd="http://www.w3.org/2001/XMLSchema" xmlns:xs="http://www.w3.org/2001/XMLSchema" xmlns:p="http://schemas.microsoft.com/office/2006/metadata/properties" xmlns:ns2="f534e9f2-b7ec-4ccc-a69c-51d3e3635b48" targetNamespace="http://schemas.microsoft.com/office/2006/metadata/properties" ma:root="true" ma:fieldsID="0ef49ee9ce6ab49135be5d7bbc3cf8fd" ns2:_="">
    <xsd:import namespace="f534e9f2-b7ec-4ccc-a69c-51d3e3635b4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534e9f2-b7ec-4ccc-a69c-51d3e3635b4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5BB6642-6F61-4FC1-8A90-6B07B7E89373}"/>
</file>

<file path=customXml/itemProps2.xml><?xml version="1.0" encoding="utf-8"?>
<ds:datastoreItem xmlns:ds="http://schemas.openxmlformats.org/officeDocument/2006/customXml" ds:itemID="{3B906205-58B7-49CE-AFC7-0154E52F9A36}"/>
</file>

<file path=customXml/itemProps3.xml><?xml version="1.0" encoding="utf-8"?>
<ds:datastoreItem xmlns:ds="http://schemas.openxmlformats.org/officeDocument/2006/customXml" ds:itemID="{EE6FCE0F-43BD-4B52-89EA-DD37F2C0DBF4}"/>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Walnut Exporter</cp:lastModifiedBy>
  <dcterms:created xsi:type="dcterms:W3CDTF">2026-08-27T20:40:24Z</dcterms:created>
  <dcterms:modified xsi:type="dcterms:W3CDTF">2026-08-27T20:40:24Z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0x01010078A2D2C2733B7342A34F941B973AA6E6</vt:lpwstr>
  </property>
</Properties>
</file>